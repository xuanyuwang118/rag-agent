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31"/>
  </p:notesMasterIdLst>
  <p:handoutMasterIdLst>
    <p:handoutMasterId r:id="rId32"/>
  </p:handoutMasterIdLst>
  <p:sldIdLst>
    <p:sldId id="1565" r:id="rId2"/>
    <p:sldId id="1384" r:id="rId3"/>
    <p:sldId id="1583" r:id="rId4"/>
    <p:sldId id="1579" r:id="rId5"/>
    <p:sldId id="1580" r:id="rId6"/>
    <p:sldId id="1581" r:id="rId7"/>
    <p:sldId id="1584" r:id="rId8"/>
    <p:sldId id="1585" r:id="rId9"/>
    <p:sldId id="1586" r:id="rId10"/>
    <p:sldId id="1587" r:id="rId11"/>
    <p:sldId id="1588" r:id="rId12"/>
    <p:sldId id="1470" r:id="rId13"/>
    <p:sldId id="1589" r:id="rId14"/>
    <p:sldId id="1570" r:id="rId15"/>
    <p:sldId id="1571" r:id="rId16"/>
    <p:sldId id="1572" r:id="rId17"/>
    <p:sldId id="1573" r:id="rId18"/>
    <p:sldId id="1574" r:id="rId19"/>
    <p:sldId id="1577" r:id="rId20"/>
    <p:sldId id="1575" r:id="rId21"/>
    <p:sldId id="1576" r:id="rId22"/>
    <p:sldId id="1578" r:id="rId23"/>
    <p:sldId id="1597" r:id="rId24"/>
    <p:sldId id="1590" r:id="rId25"/>
    <p:sldId id="1596" r:id="rId26"/>
    <p:sldId id="1591" r:id="rId27"/>
    <p:sldId id="1592" r:id="rId28"/>
    <p:sldId id="1593" r:id="rId29"/>
    <p:sldId id="1595" r:id="rId30"/>
  </p:sldIdLst>
  <p:sldSz cx="9144000" cy="6858000" type="letter"/>
  <p:notesSz cx="7019925" cy="9305925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002879"/>
    <a:srgbClr val="10B55B"/>
    <a:srgbClr val="004EEC"/>
    <a:srgbClr val="FF0000"/>
    <a:srgbClr val="FFFFFF"/>
    <a:srgbClr val="00CC99"/>
    <a:srgbClr val="ECAA18"/>
    <a:srgbClr val="FF7F7F"/>
    <a:srgbClr val="87DAA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60" autoAdjust="0"/>
    <p:restoredTop sz="95102" autoAdjust="0"/>
  </p:normalViewPr>
  <p:slideViewPr>
    <p:cSldViewPr>
      <p:cViewPr varScale="1">
        <p:scale>
          <a:sx n="117" d="100"/>
          <a:sy n="117" d="100"/>
        </p:scale>
        <p:origin x="144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157" y="-86"/>
      </p:cViewPr>
      <p:guideLst>
        <p:guide orient="horz" pos="2932"/>
        <p:guide pos="221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B77388FA-E1C5-AD48-A0CD-691517D3346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8" tIns="45767" rIns="91538" bIns="45767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5549BA55-2C1B-DB45-85C7-D2B83E59CA8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5100" y="0"/>
            <a:ext cx="30432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8" tIns="45767" rIns="91538" bIns="45767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November 16, 2004</a:t>
            </a:r>
          </a:p>
        </p:txBody>
      </p:sp>
      <p:sp>
        <p:nvSpPr>
          <p:cNvPr id="86020" name="Rectangle 4">
            <a:extLst>
              <a:ext uri="{FF2B5EF4-FFF2-40B4-BE49-F238E27FC236}">
                <a16:creationId xmlns:a16="http://schemas.microsoft.com/office/drawing/2014/main" id="{7D72732D-85DB-414C-8A7A-B7A64FB3150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0788"/>
            <a:ext cx="30432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8" tIns="45767" rIns="91538" bIns="45767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021" name="Rectangle 5">
            <a:extLst>
              <a:ext uri="{FF2B5EF4-FFF2-40B4-BE49-F238E27FC236}">
                <a16:creationId xmlns:a16="http://schemas.microsoft.com/office/drawing/2014/main" id="{05BA2C8C-CE25-2D4A-ABB6-6B99D9141F2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5100" y="8840788"/>
            <a:ext cx="30432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8" tIns="45767" rIns="91538" bIns="45767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6C307E48-4926-3549-8831-7AC3983E3496}" type="slidenum">
              <a:rPr lang="en-US" altLang="en-CN"/>
              <a:pPr/>
              <a:t>‹#›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86D5CF8F-71B4-DE41-846D-282437610F9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56" tIns="46530" rIns="93056" bIns="46530" numCol="1" anchor="t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2DCBCFBB-E8D9-1A46-9821-9505C7AC656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5100" y="0"/>
            <a:ext cx="30432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56" tIns="46530" rIns="93056" bIns="46530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Times New Roman" pitchFamily="18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November 16, 2004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80AF8A39-6B9E-734F-8B66-DFACBC0F1F2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698500"/>
            <a:ext cx="4656138" cy="34925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F3AFA5C7-5D8A-BE42-902D-A31028ABD2C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3263" y="4421188"/>
            <a:ext cx="5613400" cy="418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56" tIns="46530" rIns="93056" bIns="465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7110" name="Rectangle 6">
            <a:extLst>
              <a:ext uri="{FF2B5EF4-FFF2-40B4-BE49-F238E27FC236}">
                <a16:creationId xmlns:a16="http://schemas.microsoft.com/office/drawing/2014/main" id="{94EC15EA-9BD5-8F4B-A47E-BAF277F7A71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0788"/>
            <a:ext cx="30432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56" tIns="46530" rIns="93056" bIns="46530" numCol="1" anchor="b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>
            <a:extLst>
              <a:ext uri="{FF2B5EF4-FFF2-40B4-BE49-F238E27FC236}">
                <a16:creationId xmlns:a16="http://schemas.microsoft.com/office/drawing/2014/main" id="{577DC4C7-31F3-4547-8D51-41336783A9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5100" y="8840788"/>
            <a:ext cx="30432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56" tIns="46530" rIns="93056" bIns="46530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Times New Roman" panose="02020603050405020304" pitchFamily="18" charset="0"/>
              </a:defRPr>
            </a:lvl1pPr>
          </a:lstStyle>
          <a:p>
            <a:fld id="{854A0DB7-0BA2-224D-A58E-8779BA8677F7}" type="slidenum">
              <a:rPr lang="en-US" altLang="en-CN"/>
              <a:pPr/>
              <a:t>‹#›</a:t>
            </a:fld>
            <a:endParaRPr lang="en-US" altLang="en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MS PMincho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MS PMincho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MS PMincho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MS PMincho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MS PMincho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A0DB7-0BA2-224D-A58E-8779BA8677F7}" type="slidenum">
              <a:rPr lang="en-US" altLang="en-CN" smtClean="0"/>
              <a:pPr/>
              <a:t>1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1829676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A0DB7-0BA2-224D-A58E-8779BA8677F7}" type="slidenum">
              <a:rPr lang="en-US" altLang="en-CN" smtClean="0"/>
              <a:pPr/>
              <a:t>12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1062882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A0DB7-0BA2-224D-A58E-8779BA8677F7}" type="slidenum">
              <a:rPr lang="en-US" altLang="en-CN" smtClean="0"/>
              <a:pPr/>
              <a:t>13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3766705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A0DB7-0BA2-224D-A58E-8779BA8677F7}" type="slidenum">
              <a:rPr lang="en-US" altLang="en-CN" smtClean="0"/>
              <a:pPr/>
              <a:t>14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470555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A0DB7-0BA2-224D-A58E-8779BA8677F7}" type="slidenum">
              <a:rPr lang="en-US" altLang="en-CN" smtClean="0"/>
              <a:pPr/>
              <a:t>15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1850270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A0DB7-0BA2-224D-A58E-8779BA8677F7}" type="slidenum">
              <a:rPr lang="en-US" altLang="en-CN" smtClean="0"/>
              <a:pPr/>
              <a:t>16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2733698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A0DB7-0BA2-224D-A58E-8779BA8677F7}" type="slidenum">
              <a:rPr lang="en-US" altLang="en-CN" smtClean="0"/>
              <a:pPr/>
              <a:t>17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42578013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A0DB7-0BA2-224D-A58E-8779BA8677F7}" type="slidenum">
              <a:rPr lang="en-US" altLang="en-CN" smtClean="0"/>
              <a:pPr/>
              <a:t>18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3802224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A0DB7-0BA2-224D-A58E-8779BA8677F7}" type="slidenum">
              <a:rPr lang="en-US" altLang="en-CN" smtClean="0"/>
              <a:pPr/>
              <a:t>19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2665083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A0DB7-0BA2-224D-A58E-8779BA8677F7}" type="slidenum">
              <a:rPr lang="en-US" altLang="en-CN" smtClean="0"/>
              <a:pPr/>
              <a:t>20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3388422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A0DB7-0BA2-224D-A58E-8779BA8677F7}" type="slidenum">
              <a:rPr lang="en-US" altLang="en-CN" smtClean="0"/>
              <a:pPr/>
              <a:t>21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24009280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A0DB7-0BA2-224D-A58E-8779BA8677F7}" type="slidenum">
              <a:rPr lang="en-US" altLang="en-CN" smtClean="0"/>
              <a:pPr/>
              <a:t>22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19465063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A0DB7-0BA2-224D-A58E-8779BA8677F7}" type="slidenum">
              <a:rPr lang="en-US" altLang="en-CN" smtClean="0"/>
              <a:pPr/>
              <a:t>24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14680408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A0DB7-0BA2-224D-A58E-8779BA8677F7}" type="slidenum">
              <a:rPr lang="en-US" altLang="en-CN" smtClean="0"/>
              <a:pPr/>
              <a:t>25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3734222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1752600"/>
          </a:xfrm>
        </p:spPr>
        <p:txBody>
          <a:bodyPr/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C229661-5514-1145-8DC2-CD286D048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407549"/>
            <a:ext cx="7886700" cy="1325563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rgbClr val="003D72"/>
                </a:solidFill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340823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5C94C57-5268-FC46-9619-D51A948A8730}"/>
              </a:ext>
            </a:extLst>
          </p:cNvPr>
          <p:cNvSpPr/>
          <p:nvPr userDrawn="1"/>
        </p:nvSpPr>
        <p:spPr bwMode="auto">
          <a:xfrm>
            <a:off x="0" y="6629400"/>
            <a:ext cx="9144000" cy="227013"/>
          </a:xfrm>
          <a:prstGeom prst="rect">
            <a:avLst/>
          </a:prstGeom>
          <a:solidFill>
            <a:srgbClr val="0073C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0" i="0" u="none" strike="noStrike" cap="none" normalizeH="0" baseline="0" dirty="0">
              <a:ln>
                <a:solidFill>
                  <a:srgbClr val="0073CF"/>
                </a:solidFill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34B67F-8A92-EE44-AFBB-456FC6FC7A6E}"/>
              </a:ext>
            </a:extLst>
          </p:cNvPr>
          <p:cNvSpPr/>
          <p:nvPr userDrawn="1"/>
        </p:nvSpPr>
        <p:spPr bwMode="auto">
          <a:xfrm>
            <a:off x="3048000" y="6630987"/>
            <a:ext cx="3048000" cy="227013"/>
          </a:xfrm>
          <a:prstGeom prst="rect">
            <a:avLst/>
          </a:prstGeom>
          <a:solidFill>
            <a:srgbClr val="E372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0" i="0" u="none" strike="noStrike" cap="none" normalizeH="0" baseline="0" dirty="0">
              <a:ln>
                <a:solidFill>
                  <a:srgbClr val="0073CF"/>
                </a:solidFill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001000" cy="4876800"/>
          </a:xfrm>
        </p:spPr>
        <p:txBody>
          <a:bodyPr/>
          <a:lstStyle>
            <a:lvl1pPr>
              <a:defRPr b="1">
                <a:latin typeface="STKaiti" panose="02010600040101010101" pitchFamily="2" charset="-122"/>
                <a:ea typeface="STKaiti" panose="02010600040101010101" pitchFamily="2" charset="-122"/>
              </a:defRPr>
            </a:lvl1pPr>
            <a:lvl2pPr>
              <a:defRPr>
                <a:latin typeface="STKaiti" panose="02010600040101010101" pitchFamily="2" charset="-122"/>
                <a:ea typeface="STKaiti" panose="02010600040101010101" pitchFamily="2" charset="-122"/>
              </a:defRPr>
            </a:lvl2pPr>
            <a:lvl3pPr>
              <a:defRPr>
                <a:latin typeface="STKaiti" panose="02010600040101010101" pitchFamily="2" charset="-122"/>
                <a:ea typeface="STKaiti" panose="02010600040101010101" pitchFamily="2" charset="-122"/>
              </a:defRPr>
            </a:lvl3pPr>
            <a:lvl4pPr>
              <a:defRPr>
                <a:latin typeface="STKaiti" panose="02010600040101010101" pitchFamily="2" charset="-122"/>
                <a:ea typeface="STKaiti" panose="02010600040101010101" pitchFamily="2" charset="-122"/>
              </a:defRPr>
            </a:lvl4pPr>
            <a:lvl5pPr>
              <a:defRPr>
                <a:latin typeface="STKaiti" panose="02010600040101010101" pitchFamily="2" charset="-122"/>
                <a:ea typeface="STKaiti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1D9FF9-63D6-D441-AEA5-2BF7D5039BD1}"/>
              </a:ext>
            </a:extLst>
          </p:cNvPr>
          <p:cNvSpPr/>
          <p:nvPr userDrawn="1"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003D7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A9AAC5FB-BCC2-C248-8568-99436F82706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096000" y="6629400"/>
            <a:ext cx="3048000" cy="227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300" b="0" i="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Narrow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/>
            <a:r>
              <a:rPr lang="zh-CN" altLang="en-CN" sz="1200" b="1" dirty="0">
                <a:latin typeface="STKaiti" panose="02010600040101010101" pitchFamily="2" charset="-122"/>
                <a:ea typeface="STKaiti" panose="02010600040101010101" pitchFamily="2" charset="-122"/>
              </a:rPr>
              <a:t>自然</a:t>
            </a:r>
            <a:r>
              <a:rPr lang="zh-CN" altLang="en-US" sz="1200" b="1" dirty="0">
                <a:latin typeface="STKaiti" panose="02010600040101010101" pitchFamily="2" charset="-122"/>
                <a:ea typeface="STKaiti" panose="02010600040101010101" pitchFamily="2" charset="-122"/>
              </a:rPr>
              <a:t>语言处理            </a:t>
            </a:r>
            <a:fld id="{0C228D96-9922-F843-B28C-67D3289F70E3}" type="slidenum">
              <a:rPr lang="zh-CN" altLang="en-US" sz="1200" b="1" smtClean="0">
                <a:latin typeface="STKaiti" panose="02010600040101010101" pitchFamily="2" charset="-122"/>
                <a:ea typeface="STKaiti" panose="02010600040101010101" pitchFamily="2" charset="-122"/>
              </a:rPr>
              <a:pPr algn="r"/>
              <a:t>‹#›</a:t>
            </a:fld>
            <a:r>
              <a:rPr lang="zh-CN" altLang="en-US" sz="1200" b="1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200" b="1" dirty="0">
                <a:latin typeface="STKaiti" panose="02010600040101010101" pitchFamily="2" charset="-122"/>
                <a:ea typeface="STKaiti" panose="02010600040101010101" pitchFamily="2" charset="-122"/>
              </a:rPr>
              <a:t>/</a:t>
            </a:r>
            <a:r>
              <a:rPr lang="zh-CN" altLang="en-US" sz="1200" b="1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200" b="1" dirty="0">
                <a:latin typeface="STKaiti" panose="02010600040101010101" pitchFamily="2" charset="-122"/>
                <a:ea typeface="STKaiti" panose="02010600040101010101" pitchFamily="2" charset="-122"/>
              </a:rPr>
              <a:t>42</a:t>
            </a:r>
            <a:endParaRPr lang="en-US" altLang="en-CN" sz="1200" b="1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76A2D85E-34FA-7447-9363-B48D24160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73784"/>
            <a:ext cx="7886700" cy="546904"/>
          </a:xfrm>
          <a:prstGeom prst="rect">
            <a:avLst/>
          </a:prstGeom>
        </p:spPr>
        <p:txBody>
          <a:bodyPr anchor="ctr"/>
          <a:lstStyle>
            <a:lvl1pPr>
              <a:defRPr kumimoji="1" lang="en-CN" sz="2600" b="1" i="0" kern="0" dirty="0">
                <a:solidFill>
                  <a:srgbClr val="F0BD47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CN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051FC238-E2E1-4C4B-BCA8-472CB568144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630987"/>
            <a:ext cx="3048000" cy="227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200" b="0" i="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Narrow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en-CN" b="1" dirty="0">
                <a:latin typeface="STKaiti" panose="02010600040101010101" pitchFamily="2" charset="-122"/>
                <a:ea typeface="STKaiti" panose="02010600040101010101" pitchFamily="2" charset="-122"/>
              </a:rPr>
              <a:t>SJTU</a:t>
            </a:r>
            <a:r>
              <a:rPr lang="zh-CN" altLang="en-US" b="1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b="1" dirty="0">
                <a:latin typeface="STKaiti" panose="02010600040101010101" pitchFamily="2" charset="-122"/>
                <a:ea typeface="STKaiti" panose="02010600040101010101" pitchFamily="2" charset="-122"/>
              </a:rPr>
              <a:t>NLP</a:t>
            </a:r>
            <a:r>
              <a:rPr lang="zh-CN" altLang="en-US" b="1" dirty="0">
                <a:latin typeface="STKaiti" panose="02010600040101010101" pitchFamily="2" charset="-122"/>
                <a:ea typeface="STKaiti" panose="02010600040101010101" pitchFamily="2" charset="-122"/>
              </a:rPr>
              <a:t> 课程组</a:t>
            </a:r>
            <a:endParaRPr lang="en-US" altLang="en-CN" b="1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B9D2D15C-8661-4F0C-B675-C84EFDFEBAF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048000" y="6629400"/>
            <a:ext cx="3048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300" b="0" i="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Narrow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STKaiti" panose="02010600040101010101" pitchFamily="2" charset="-122"/>
                <a:ea typeface="STKaiti" panose="02010600040101010101" pitchFamily="2" charset="-122"/>
              </a:rPr>
              <a:t>3.1 </a:t>
            </a:r>
            <a:r>
              <a:rPr lang="zh-CN" altLang="en-US" sz="1200" dirty="0">
                <a:latin typeface="STKaiti" panose="02010600040101010101" pitchFamily="2" charset="-122"/>
                <a:ea typeface="STKaiti" panose="02010600040101010101" pitchFamily="2" charset="-122"/>
              </a:rPr>
              <a:t>词向量</a:t>
            </a:r>
            <a:endParaRPr lang="en-US" altLang="en-CN" sz="12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0691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001000" cy="4876800"/>
          </a:xfrm>
        </p:spPr>
        <p:txBody>
          <a:bodyPr/>
          <a:lstStyle>
            <a:lvl1pPr>
              <a:defRPr b="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1D9FF9-63D6-D441-AEA5-2BF7D5039BD1}"/>
              </a:ext>
            </a:extLst>
          </p:cNvPr>
          <p:cNvSpPr/>
          <p:nvPr userDrawn="1"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003D7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76A2D85E-34FA-7447-9363-B48D24160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62696"/>
            <a:ext cx="7886700" cy="546904"/>
          </a:xfrm>
          <a:prstGeom prst="rect">
            <a:avLst/>
          </a:prstGeom>
        </p:spPr>
        <p:txBody>
          <a:bodyPr anchor="b"/>
          <a:lstStyle>
            <a:lvl1pPr>
              <a:defRPr kumimoji="1" lang="en-CN" sz="2600" b="0" i="0" kern="0" dirty="0">
                <a:solidFill>
                  <a:srgbClr val="F0BD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Gill San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C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D64AD46-1F2C-D448-885E-6707CBD9B1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571500"/>
            <a:ext cx="7886700" cy="381000"/>
          </a:xfrm>
        </p:spPr>
        <p:txBody>
          <a:bodyPr anchor="t"/>
          <a:lstStyle>
            <a:lvl1pPr marL="0" indent="0">
              <a:buFontTx/>
              <a:buNone/>
              <a:defRPr kumimoji="1" lang="en-US" sz="1800" b="0" i="0" kern="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Gill Sans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37204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034706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solidFill>
                  <a:srgbClr val="E372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00200" y="846881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601444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86EF6D-7406-C441-8FB4-0888F8A92ECB}"/>
              </a:ext>
            </a:extLst>
          </p:cNvPr>
          <p:cNvSpPr/>
          <p:nvPr userDrawn="1"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003D7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9868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>
            <a:extLst>
              <a:ext uri="{FF2B5EF4-FFF2-40B4-BE49-F238E27FC236}">
                <a16:creationId xmlns:a16="http://schemas.microsoft.com/office/drawing/2014/main" id="{69538FEB-FA80-3A4A-A30E-74AD91037A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20056"/>
            <a:ext cx="7772400" cy="5228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/>
              <a:t>Text</a:t>
            </a:r>
            <a:r>
              <a:rPr lang="zh-CN" altLang="en-US" dirty="0"/>
              <a:t> 中文文本</a:t>
            </a:r>
            <a:endParaRPr lang="en-US" altLang="ja-JP" dirty="0"/>
          </a:p>
          <a:p>
            <a:pPr lvl="1"/>
            <a:r>
              <a:rPr lang="en-US" altLang="ja-JP" dirty="0"/>
              <a:t>Text</a:t>
            </a:r>
            <a:r>
              <a:rPr lang="zh-CN" altLang="en-US" dirty="0"/>
              <a:t> 中文</a:t>
            </a:r>
            <a:endParaRPr lang="en-US" altLang="ja-JP" dirty="0"/>
          </a:p>
          <a:p>
            <a:pPr lvl="2"/>
            <a:r>
              <a:rPr lang="en-US" altLang="ja-JP" dirty="0"/>
              <a:t>Text</a:t>
            </a:r>
            <a:r>
              <a:rPr lang="zh-CN" altLang="en-US" dirty="0"/>
              <a:t> 中文</a:t>
            </a:r>
            <a:endParaRPr lang="en-US" altLang="ja-JP" dirty="0"/>
          </a:p>
          <a:p>
            <a:pPr lvl="3"/>
            <a:r>
              <a:rPr lang="en-US" altLang="ja-JP" dirty="0"/>
              <a:t>Text</a:t>
            </a:r>
            <a:r>
              <a:rPr lang="zh-CN" altLang="en-US" dirty="0"/>
              <a:t> 中文</a:t>
            </a:r>
            <a:endParaRPr lang="en-US" altLang="ja-JP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C697F2-D28D-B041-8664-DEA23581F65C}"/>
              </a:ext>
            </a:extLst>
          </p:cNvPr>
          <p:cNvSpPr/>
          <p:nvPr userDrawn="1"/>
        </p:nvSpPr>
        <p:spPr bwMode="auto">
          <a:xfrm>
            <a:off x="0" y="6629400"/>
            <a:ext cx="9144000" cy="227013"/>
          </a:xfrm>
          <a:prstGeom prst="rect">
            <a:avLst/>
          </a:prstGeom>
          <a:solidFill>
            <a:srgbClr val="0073C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0" i="0" u="none" strike="noStrike" cap="none" normalizeH="0" baseline="0" dirty="0">
              <a:ln>
                <a:solidFill>
                  <a:srgbClr val="0073CF"/>
                </a:solidFill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4F7427-EF7A-1C40-BE4B-B172B1CB0509}"/>
              </a:ext>
            </a:extLst>
          </p:cNvPr>
          <p:cNvSpPr/>
          <p:nvPr userDrawn="1"/>
        </p:nvSpPr>
        <p:spPr bwMode="auto">
          <a:xfrm>
            <a:off x="3048000" y="6630987"/>
            <a:ext cx="3048000" cy="227013"/>
          </a:xfrm>
          <a:prstGeom prst="rect">
            <a:avLst/>
          </a:prstGeom>
          <a:solidFill>
            <a:srgbClr val="E372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0" i="0" u="none" strike="noStrike" cap="none" normalizeH="0" baseline="0" dirty="0">
              <a:ln>
                <a:solidFill>
                  <a:srgbClr val="0073CF"/>
                </a:solidFill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8E6967-E46D-42BF-AB9C-6E847C4DB6F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096000" y="6629400"/>
            <a:ext cx="3048000" cy="227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300" b="0" i="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Narrow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/>
            <a:r>
              <a:rPr lang="zh-CN" altLang="en-CN" sz="1200" b="1" dirty="0">
                <a:latin typeface="STKaiti" panose="02010600040101010101" pitchFamily="2" charset="-122"/>
                <a:ea typeface="STKaiti" panose="02010600040101010101" pitchFamily="2" charset="-122"/>
              </a:rPr>
              <a:t>自然</a:t>
            </a:r>
            <a:r>
              <a:rPr lang="zh-CN" altLang="en-US" sz="1200" b="1" dirty="0">
                <a:latin typeface="STKaiti" panose="02010600040101010101" pitchFamily="2" charset="-122"/>
                <a:ea typeface="STKaiti" panose="02010600040101010101" pitchFamily="2" charset="-122"/>
              </a:rPr>
              <a:t>语言处理            </a:t>
            </a:r>
            <a:fld id="{0C228D96-9922-F843-B28C-67D3289F70E3}" type="slidenum">
              <a:rPr lang="zh-CN" altLang="en-US" sz="1200" b="1" smtClean="0">
                <a:latin typeface="STKaiti" panose="02010600040101010101" pitchFamily="2" charset="-122"/>
                <a:ea typeface="STKaiti" panose="02010600040101010101" pitchFamily="2" charset="-122"/>
              </a:rPr>
              <a:pPr algn="r"/>
              <a:t>‹#›</a:t>
            </a:fld>
            <a:r>
              <a:rPr lang="zh-CN" altLang="en-US" sz="1200" b="1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200" b="1" dirty="0">
                <a:latin typeface="STKaiti" panose="02010600040101010101" pitchFamily="2" charset="-122"/>
                <a:ea typeface="STKaiti" panose="02010600040101010101" pitchFamily="2" charset="-122"/>
              </a:rPr>
              <a:t>/</a:t>
            </a:r>
            <a:r>
              <a:rPr lang="zh-CN" altLang="en-US" sz="1200" b="1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200" b="1" dirty="0">
                <a:latin typeface="STKaiti" panose="02010600040101010101" pitchFamily="2" charset="-122"/>
                <a:ea typeface="STKaiti" panose="02010600040101010101" pitchFamily="2" charset="-122"/>
              </a:rPr>
              <a:t>42</a:t>
            </a:r>
            <a:endParaRPr lang="en-US" altLang="en-CN" sz="1200" b="1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5D521CF-0F6A-417A-9BA8-DA006673F31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048000" y="6629400"/>
            <a:ext cx="3048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300" b="0" i="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Narrow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zh-CN" sz="1200" b="1" dirty="0">
                <a:latin typeface="STKaiti" panose="02010600040101010101" pitchFamily="2" charset="-122"/>
                <a:ea typeface="STKaiti" panose="02010600040101010101" pitchFamily="2" charset="-122"/>
              </a:rPr>
              <a:t>3.1 </a:t>
            </a:r>
            <a:r>
              <a:rPr lang="zh-CN" altLang="en-US" sz="1200" b="1" dirty="0">
                <a:latin typeface="STKaiti" panose="02010600040101010101" pitchFamily="2" charset="-122"/>
                <a:ea typeface="STKaiti" panose="02010600040101010101" pitchFamily="2" charset="-122"/>
              </a:rPr>
              <a:t>词向量</a:t>
            </a:r>
            <a:endParaRPr lang="en-US" altLang="en-CN" sz="1200" b="1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ED030E2-442F-4996-B32F-6104E298C7A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08983" y="6627813"/>
            <a:ext cx="3491880" cy="227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200" b="0" i="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Narrow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en-CN" b="1" dirty="0">
                <a:latin typeface="STKaiti" panose="02010600040101010101" pitchFamily="2" charset="-122"/>
                <a:ea typeface="STKaiti" panose="02010600040101010101" pitchFamily="2" charset="-122"/>
              </a:rPr>
              <a:t>SJTU</a:t>
            </a:r>
            <a:r>
              <a:rPr lang="zh-CN" altLang="en-US" b="1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b="1" dirty="0">
                <a:latin typeface="STKaiti" panose="02010600040101010101" pitchFamily="2" charset="-122"/>
                <a:ea typeface="STKaiti" panose="02010600040101010101" pitchFamily="2" charset="-122"/>
              </a:rPr>
              <a:t>NLP</a:t>
            </a:r>
            <a:r>
              <a:rPr lang="zh-CN" altLang="en-US" b="1" dirty="0">
                <a:latin typeface="STKaiti" panose="02010600040101010101" pitchFamily="2" charset="-122"/>
                <a:ea typeface="STKaiti" panose="02010600040101010101" pitchFamily="2" charset="-122"/>
              </a:rPr>
              <a:t> 课程组</a:t>
            </a:r>
            <a:endParaRPr lang="en-US" altLang="en-CN" b="1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64" r:id="rId3"/>
    <p:sldLayoutId id="2147483659" r:id="rId4"/>
  </p:sldLayoutIdLst>
  <p:hf hdr="0"/>
  <p:txStyles>
    <p:titleStyle>
      <a:lvl1pPr algn="l" defTabSz="912813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FF6600"/>
          </a:solidFill>
          <a:latin typeface="Gill Sans"/>
          <a:ea typeface="+mj-ea"/>
          <a:cs typeface="Gill Sans"/>
        </a:defRPr>
      </a:lvl1pPr>
      <a:lvl2pPr algn="l" defTabSz="912813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FF6600"/>
          </a:solidFill>
          <a:latin typeface="Gill Sans" charset="0"/>
          <a:ea typeface="ＭＳ Ｐゴシック" pitchFamily="50" charset="-128"/>
          <a:cs typeface="ＭＳ Ｐゴシック" charset="-128"/>
        </a:defRPr>
      </a:lvl2pPr>
      <a:lvl3pPr algn="l" defTabSz="912813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FF6600"/>
          </a:solidFill>
          <a:latin typeface="Gill Sans" charset="0"/>
          <a:ea typeface="ＭＳ Ｐゴシック" pitchFamily="50" charset="-128"/>
          <a:cs typeface="ＭＳ Ｐゴシック" charset="-128"/>
        </a:defRPr>
      </a:lvl3pPr>
      <a:lvl4pPr algn="l" defTabSz="912813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FF6600"/>
          </a:solidFill>
          <a:latin typeface="Gill Sans" charset="0"/>
          <a:ea typeface="ＭＳ Ｐゴシック" pitchFamily="50" charset="-128"/>
          <a:cs typeface="ＭＳ Ｐゴシック" charset="-128"/>
        </a:defRPr>
      </a:lvl4pPr>
      <a:lvl5pPr algn="l" defTabSz="912813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FF6600"/>
          </a:solidFill>
          <a:latin typeface="Gill Sans" charset="0"/>
          <a:ea typeface="ＭＳ Ｐゴシック" pitchFamily="50" charset="-128"/>
          <a:cs typeface="ＭＳ Ｐゴシック" charset="-128"/>
        </a:defRPr>
      </a:lvl5pPr>
      <a:lvl6pPr marL="457200" algn="l" defTabSz="912813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FF0000"/>
          </a:solidFill>
          <a:latin typeface="Tahoma" pitchFamily="34" charset="0"/>
          <a:ea typeface="ＭＳ Ｐゴシック" pitchFamily="50" charset="-128"/>
        </a:defRPr>
      </a:lvl6pPr>
      <a:lvl7pPr marL="914400" algn="l" defTabSz="912813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FF0000"/>
          </a:solidFill>
          <a:latin typeface="Tahoma" pitchFamily="34" charset="0"/>
          <a:ea typeface="ＭＳ Ｐゴシック" pitchFamily="50" charset="-128"/>
        </a:defRPr>
      </a:lvl7pPr>
      <a:lvl8pPr marL="1371600" algn="l" defTabSz="912813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FF0000"/>
          </a:solidFill>
          <a:latin typeface="Tahoma" pitchFamily="34" charset="0"/>
          <a:ea typeface="ＭＳ Ｐゴシック" pitchFamily="50" charset="-128"/>
        </a:defRPr>
      </a:lvl8pPr>
      <a:lvl9pPr marL="1828800" algn="l" defTabSz="912813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FF0000"/>
          </a:solidFill>
          <a:latin typeface="Tahoma" pitchFamily="34" charset="0"/>
          <a:ea typeface="ＭＳ Ｐゴシック" pitchFamily="50" charset="-128"/>
        </a:defRPr>
      </a:lvl9pPr>
    </p:titleStyle>
    <p:bodyStyle>
      <a:lvl1pPr marL="342900" indent="-342900" algn="l" defTabSz="912813" rtl="0" eaLnBrk="1" fontAlgn="base" hangingPunct="1">
        <a:spcBef>
          <a:spcPct val="20000"/>
        </a:spcBef>
        <a:spcAft>
          <a:spcPct val="0"/>
        </a:spcAft>
        <a:buClr>
          <a:srgbClr val="003D72"/>
        </a:buClr>
        <a:buSzPct val="120000"/>
        <a:buFont typeface="System Font Regular"/>
        <a:buChar char="▸"/>
        <a:defRPr kumimoji="1" sz="2600" b="1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Gill Sans"/>
        </a:defRPr>
      </a:lvl1pPr>
      <a:lvl2pPr marL="742950" indent="-285750" algn="l" defTabSz="912813" rtl="0" eaLnBrk="1" fontAlgn="base" hangingPunct="1">
        <a:spcBef>
          <a:spcPct val="20000"/>
        </a:spcBef>
        <a:spcAft>
          <a:spcPct val="0"/>
        </a:spcAft>
        <a:buClr>
          <a:srgbClr val="003D72"/>
        </a:buClr>
        <a:buFont typeface="System Font Regular"/>
        <a:buChar char="▸"/>
        <a:defRPr kumimoji="1" sz="24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Gill Sans"/>
        </a:defRPr>
      </a:lvl2pPr>
      <a:lvl3pPr marL="1143000" indent="-230188" algn="l" defTabSz="912813" rtl="0" eaLnBrk="1" fontAlgn="base" hangingPunct="1">
        <a:spcBef>
          <a:spcPct val="20000"/>
        </a:spcBef>
        <a:spcAft>
          <a:spcPct val="0"/>
        </a:spcAft>
        <a:buClr>
          <a:srgbClr val="003D72"/>
        </a:buClr>
        <a:buFont typeface="System Font Regular"/>
        <a:buChar char="▸"/>
        <a:defRPr kumimoji="1" sz="20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Gill Sans"/>
        </a:defRPr>
      </a:lvl3pPr>
      <a:lvl4pPr marL="1600200" indent="-228600" algn="l" defTabSz="912813" rtl="0" eaLnBrk="1" fontAlgn="base" hangingPunct="1">
        <a:spcBef>
          <a:spcPct val="20000"/>
        </a:spcBef>
        <a:spcAft>
          <a:spcPct val="0"/>
        </a:spcAft>
        <a:buClr>
          <a:srgbClr val="003D72"/>
        </a:buClr>
        <a:buFont typeface="System Font Regular"/>
        <a:buChar char="▸"/>
        <a:defRPr kumimoji="1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Gill Sans"/>
        </a:defRPr>
      </a:lvl4pPr>
      <a:lvl5pPr marL="2057400" indent="-228600" algn="l" defTabSz="912813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rgbClr val="333399"/>
          </a:solidFill>
          <a:latin typeface="+mn-lt"/>
          <a:ea typeface="+mn-ea"/>
        </a:defRPr>
      </a:lvl5pPr>
      <a:lvl6pPr marL="2514600" indent="-228600" algn="l" defTabSz="912813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rgbClr val="333399"/>
          </a:solidFill>
          <a:latin typeface="+mn-lt"/>
          <a:ea typeface="+mn-ea"/>
        </a:defRPr>
      </a:lvl6pPr>
      <a:lvl7pPr marL="2971800" indent="-228600" algn="l" defTabSz="912813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rgbClr val="333399"/>
          </a:solidFill>
          <a:latin typeface="+mn-lt"/>
          <a:ea typeface="+mn-ea"/>
        </a:defRPr>
      </a:lvl7pPr>
      <a:lvl8pPr marL="3429000" indent="-228600" algn="l" defTabSz="912813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rgbClr val="333399"/>
          </a:solidFill>
          <a:latin typeface="+mn-lt"/>
          <a:ea typeface="+mn-ea"/>
        </a:defRPr>
      </a:lvl8pPr>
      <a:lvl9pPr marL="3886200" indent="-228600" algn="l" defTabSz="912813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rgbClr val="333399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25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28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9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32.png"/><Relationship Id="rId3" Type="http://schemas.openxmlformats.org/officeDocument/2006/relationships/image" Target="../media/image4.png"/><Relationship Id="rId21" Type="http://schemas.openxmlformats.org/officeDocument/2006/relationships/image" Target="../media/image3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7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38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37.png"/><Relationship Id="rId10" Type="http://schemas.openxmlformats.org/officeDocument/2006/relationships/image" Target="../media/image11.png"/><Relationship Id="rId19" Type="http://schemas.openxmlformats.org/officeDocument/2006/relationships/image" Target="../media/image3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42.png"/><Relationship Id="rId26" Type="http://schemas.openxmlformats.org/officeDocument/2006/relationships/image" Target="../media/image50.png"/><Relationship Id="rId3" Type="http://schemas.openxmlformats.org/officeDocument/2006/relationships/image" Target="../media/image4.png"/><Relationship Id="rId21" Type="http://schemas.openxmlformats.org/officeDocument/2006/relationships/image" Target="../media/image4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41.png"/><Relationship Id="rId25" Type="http://schemas.openxmlformats.org/officeDocument/2006/relationships/image" Target="../media/image4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48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47.png"/><Relationship Id="rId10" Type="http://schemas.openxmlformats.org/officeDocument/2006/relationships/image" Target="../media/image11.png"/><Relationship Id="rId19" Type="http://schemas.openxmlformats.org/officeDocument/2006/relationships/image" Target="../media/image4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53.png"/><Relationship Id="rId3" Type="http://schemas.openxmlformats.org/officeDocument/2006/relationships/image" Target="../media/image4.png"/><Relationship Id="rId21" Type="http://schemas.openxmlformats.org/officeDocument/2006/relationships/image" Target="../media/image5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1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47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59.png"/><Relationship Id="rId3" Type="http://schemas.openxmlformats.org/officeDocument/2006/relationships/image" Target="../media/image550.png"/><Relationship Id="rId7" Type="http://schemas.openxmlformats.org/officeDocument/2006/relationships/image" Target="../media/image12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57.png"/><Relationship Id="rId5" Type="http://schemas.openxmlformats.org/officeDocument/2006/relationships/image" Target="../media/image56.png"/><Relationship Id="rId15" Type="http://schemas.openxmlformats.org/officeDocument/2006/relationships/image" Target="../media/image61.png"/><Relationship Id="rId10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15.png"/><Relationship Id="rId1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3" Type="http://schemas.openxmlformats.org/officeDocument/2006/relationships/image" Target="../media/image57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18" Type="http://schemas.openxmlformats.org/officeDocument/2006/relationships/image" Target="../media/image79.png"/><Relationship Id="rId3" Type="http://schemas.openxmlformats.org/officeDocument/2006/relationships/image" Target="../media/image57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19" Type="http://schemas.openxmlformats.org/officeDocument/2006/relationships/image" Target="../media/image8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5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92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png"/><Relationship Id="rId4" Type="http://schemas.openxmlformats.org/officeDocument/2006/relationships/image" Target="../media/image95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0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0.png"/><Relationship Id="rId2" Type="http://schemas.openxmlformats.org/officeDocument/2006/relationships/image" Target="../media/image9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DD64EB-8F72-1144-8FE6-B94B07DF6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988840"/>
            <a:ext cx="7886700" cy="1157355"/>
          </a:xfrm>
        </p:spPr>
        <p:txBody>
          <a:bodyPr/>
          <a:lstStyle/>
          <a:p>
            <a:r>
              <a:rPr lang="en-US" altLang="zh-CN" sz="4000" dirty="0">
                <a:solidFill>
                  <a:srgbClr val="002879"/>
                </a:solidFill>
                <a:cs typeface="Arial" panose="020B0604020202020204" pitchFamily="34" charset="0"/>
              </a:rPr>
              <a:t>3</a:t>
            </a:r>
            <a:r>
              <a:rPr lang="en-US" altLang="zh-CN" sz="4000" dirty="0">
                <a:solidFill>
                  <a:srgbClr val="002879"/>
                </a:solidFill>
                <a:latin typeface="STKaiti" panose="02010600040101010101" pitchFamily="2" charset="-122"/>
                <a:ea typeface="STKaiti" panose="02010600040101010101" pitchFamily="2" charset="-122"/>
                <a:cs typeface="Arial" panose="020B0604020202020204" pitchFamily="34" charset="0"/>
              </a:rPr>
              <a:t>.1</a:t>
            </a:r>
            <a:r>
              <a:rPr lang="en-US" altLang="zh-CN" sz="4000" b="1" dirty="0">
                <a:solidFill>
                  <a:srgbClr val="002879"/>
                </a:solidFill>
                <a:latin typeface="STKaiti" panose="02010600040101010101" pitchFamily="2" charset="-122"/>
                <a:ea typeface="STKaiti" panose="0201060004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4000" dirty="0">
                <a:solidFill>
                  <a:srgbClr val="002879"/>
                </a:solidFill>
                <a:cs typeface="Arial" panose="020B0604020202020204" pitchFamily="34" charset="0"/>
              </a:rPr>
              <a:t>词向量</a:t>
            </a:r>
            <a:endParaRPr lang="en-CN" sz="4000" b="1" dirty="0">
              <a:solidFill>
                <a:srgbClr val="002879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FC30859-D537-F246-A84F-A59CA042D6ED}"/>
              </a:ext>
            </a:extLst>
          </p:cNvPr>
          <p:cNvSpPr txBox="1">
            <a:spLocks/>
          </p:cNvSpPr>
          <p:nvPr/>
        </p:nvSpPr>
        <p:spPr bwMode="auto">
          <a:xfrm>
            <a:off x="461392" y="3717032"/>
            <a:ext cx="8215064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marL="0" indent="0" algn="ctr" defTabSz="912813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SzPct val="120000"/>
              <a:buFont typeface="System Font Regular"/>
              <a:buNone/>
              <a:defRPr kumimoji="1" sz="2000" b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Gill Sans"/>
              </a:defRPr>
            </a:lvl1pPr>
            <a:lvl2pPr marL="457200" indent="0" algn="ctr" defTabSz="912813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Font typeface="System Font Regular"/>
              <a:buNone/>
              <a:defRPr kumimoji="1" sz="24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Gill Sans"/>
              </a:defRPr>
            </a:lvl2pPr>
            <a:lvl3pPr marL="914400" indent="0" algn="ctr" defTabSz="912813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Font typeface="System Font Regular"/>
              <a:buNone/>
              <a:defRPr kumimoji="1" sz="20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Gill Sans"/>
              </a:defRPr>
            </a:lvl3pPr>
            <a:lvl4pPr marL="1371600" indent="0" algn="ctr" defTabSz="912813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Font typeface="System Font Regular"/>
              <a:buNone/>
              <a:defRPr kumimoji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Gill Sans"/>
              </a:defRPr>
            </a:lvl4pPr>
            <a:lvl5pPr marL="1828800" indent="0" algn="ctr" defTabSz="912813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>
                <a:solidFill>
                  <a:srgbClr val="333399"/>
                </a:solidFill>
                <a:latin typeface="+mn-lt"/>
                <a:ea typeface="+mn-ea"/>
              </a:defRPr>
            </a:lvl5pPr>
            <a:lvl6pPr marL="2286000" indent="0" algn="ctr" defTabSz="912813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>
                <a:solidFill>
                  <a:srgbClr val="333399"/>
                </a:solidFill>
                <a:latin typeface="+mn-lt"/>
                <a:ea typeface="+mn-ea"/>
              </a:defRPr>
            </a:lvl6pPr>
            <a:lvl7pPr marL="2743200" indent="0" algn="ctr" defTabSz="912813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>
                <a:solidFill>
                  <a:srgbClr val="333399"/>
                </a:solidFill>
                <a:latin typeface="+mn-lt"/>
                <a:ea typeface="+mn-ea"/>
              </a:defRPr>
            </a:lvl7pPr>
            <a:lvl8pPr marL="3200400" indent="0" algn="ctr" defTabSz="912813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>
                <a:solidFill>
                  <a:srgbClr val="333399"/>
                </a:solidFill>
                <a:latin typeface="+mn-lt"/>
                <a:ea typeface="+mn-ea"/>
              </a:defRPr>
            </a:lvl8pPr>
            <a:lvl9pPr marL="3657600" indent="0" algn="ctr" defTabSz="912813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>
                <a:solidFill>
                  <a:srgbClr val="333399"/>
                </a:solidFill>
                <a:latin typeface="+mn-lt"/>
                <a:ea typeface="+mn-ea"/>
              </a:defRPr>
            </a:lvl9pPr>
          </a:lstStyle>
          <a:p>
            <a:r>
              <a:rPr lang="zh-Hans" altLang="en-US" sz="2400" kern="0" dirty="0">
                <a:latin typeface="STKaiti" panose="02010600040101010101" pitchFamily="2" charset="-122"/>
                <a:ea typeface="STKaiti" panose="02010600040101010101" pitchFamily="2" charset="-122"/>
              </a:rPr>
              <a:t>陈  露</a:t>
            </a:r>
            <a:endParaRPr lang="en-US" altLang="zh-Hans" sz="2400" kern="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endParaRPr lang="en-US" altLang="zh-CN" sz="800" kern="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Hans" altLang="en-US" sz="2400" kern="0" dirty="0">
                <a:latin typeface="STKaiti" panose="02010600040101010101" pitchFamily="2" charset="-122"/>
                <a:ea typeface="STKaiti" panose="02010600040101010101" pitchFamily="2" charset="-122"/>
              </a:rPr>
              <a:t>上海交通大学计算机学院</a:t>
            </a:r>
            <a:endParaRPr lang="en-US" altLang="zh-CN" sz="2400" kern="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en-US" altLang="zh-CN" sz="2400" kern="0" dirty="0">
                <a:latin typeface="STKaiti" panose="02010600040101010101" pitchFamily="2" charset="-122"/>
                <a:ea typeface="STKaiti" panose="02010600040101010101" pitchFamily="2" charset="-122"/>
              </a:rPr>
              <a:t>2025</a:t>
            </a:r>
            <a:r>
              <a:rPr lang="zh-CN" altLang="en-US" sz="2400" kern="0" dirty="0">
                <a:latin typeface="STKaiti" panose="02010600040101010101" pitchFamily="2" charset="-122"/>
                <a:ea typeface="STKaiti" panose="02010600040101010101" pitchFamily="2" charset="-122"/>
              </a:rPr>
              <a:t>年秋季学期</a:t>
            </a:r>
            <a:endParaRPr lang="en-US" altLang="zh-CN" sz="2400" kern="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5984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06985721-07FA-C84C-8A9D-CFB3E61FA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219200"/>
            <a:ext cx="8001000" cy="4876800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词的表示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单热点词向量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分布式词向量</a:t>
            </a:r>
          </a:p>
          <a:p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两个经典的词向量模型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CBOW</a:t>
            </a:r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模型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Skip-gram</a:t>
            </a:r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模型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词向量的性质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动态词向量</a:t>
            </a:r>
          </a:p>
        </p:txBody>
      </p:sp>
    </p:spTree>
    <p:extLst>
      <p:ext uri="{BB962C8B-B14F-4D97-AF65-F5344CB8AC3E}">
        <p14:creationId xmlns:p14="http://schemas.microsoft.com/office/powerpoint/2010/main" val="2477443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06985721-07FA-C84C-8A9D-CFB3E61FA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219200"/>
            <a:ext cx="8001000" cy="4876800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词的表示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单热点词向量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分布式词向量</a:t>
            </a:r>
          </a:p>
          <a:p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两个经典的词向量模型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CBOW</a:t>
            </a:r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模型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Skip-gram</a:t>
            </a:r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模型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词向量的性质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动态词向量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7982E6-072F-F842-ADE6-7AC99A06E7BD}"/>
              </a:ext>
            </a:extLst>
          </p:cNvPr>
          <p:cNvSpPr/>
          <p:nvPr/>
        </p:nvSpPr>
        <p:spPr bwMode="auto">
          <a:xfrm>
            <a:off x="323528" y="2564904"/>
            <a:ext cx="4536504" cy="2384085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347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词的不同表示方式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282B37-6BC3-B84F-B02E-01F3EDB68883}"/>
              </a:ext>
            </a:extLst>
          </p:cNvPr>
          <p:cNvSpPr txBox="1"/>
          <p:nvPr/>
        </p:nvSpPr>
        <p:spPr>
          <a:xfrm>
            <a:off x="1923663" y="242088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b="1" dirty="0">
                <a:latin typeface="STKaiti" panose="02010600040101010101" pitchFamily="2" charset="-122"/>
                <a:ea typeface="STKaiti" panose="02010600040101010101" pitchFamily="2" charset="-122"/>
              </a:rPr>
              <a:t>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9B82A5-9C18-6145-A121-1C07E7F41E92}"/>
              </a:ext>
            </a:extLst>
          </p:cNvPr>
          <p:cNvSpPr txBox="1"/>
          <p:nvPr/>
        </p:nvSpPr>
        <p:spPr>
          <a:xfrm>
            <a:off x="3705559" y="2420888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latin typeface="STKaiti" panose="02010600040101010101" pitchFamily="2" charset="-122"/>
                <a:ea typeface="STKaiti" panose="02010600040101010101" pitchFamily="2" charset="-122"/>
              </a:rPr>
              <a:t>dog</a:t>
            </a:r>
            <a:endParaRPr kumimoji="1" lang="zh-CN" altLang="en-US" sz="4000" b="1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1026" name="Picture 2" descr="狗‧知識】狗狗是說謊高手？ 心理測試證實狗狗會為食物講大話">
            <a:extLst>
              <a:ext uri="{FF2B5EF4-FFF2-40B4-BE49-F238E27FC236}">
                <a16:creationId xmlns:a16="http://schemas.microsoft.com/office/drawing/2014/main" id="{068B4987-6FD1-EA42-B422-45FA0DA01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8529" y="2420888"/>
            <a:ext cx="1443791" cy="811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5D98F47-37BB-AF4E-AD00-240EF4135178}"/>
              </a:ext>
            </a:extLst>
          </p:cNvPr>
          <p:cNvSpPr txBox="1"/>
          <p:nvPr/>
        </p:nvSpPr>
        <p:spPr>
          <a:xfrm>
            <a:off x="1331640" y="4006711"/>
            <a:ext cx="8136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0" dirty="0">
                <a:solidFill>
                  <a:srgbClr val="000000"/>
                </a:solidFill>
                <a:effectLst/>
                <a:latin typeface="STKaiti" panose="02010600040101010101" pitchFamily="2" charset="-122"/>
                <a:ea typeface="STKaiti" panose="02010600040101010101" pitchFamily="2" charset="-122"/>
              </a:rPr>
              <a:t>狗：哺乳动物，种类很多，听觉嗅觉都很敏锐，善于看守门户。</a:t>
            </a:r>
            <a:endParaRPr lang="zh-CN" altLang="en-US" sz="2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3262E75-51CA-6940-A54B-6F0709E47DD7}"/>
              </a:ext>
            </a:extLst>
          </p:cNvPr>
          <p:cNvSpPr txBox="1"/>
          <p:nvPr/>
        </p:nvSpPr>
        <p:spPr>
          <a:xfrm>
            <a:off x="1475656" y="5445224"/>
            <a:ext cx="6801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这些表示不适合机器学习模型</a:t>
            </a:r>
            <a:r>
              <a:rPr kumimoji="1" lang="en-US" altLang="zh-CN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/</a:t>
            </a:r>
            <a:r>
              <a:rPr kumimoji="1" lang="zh-CN" altLang="en-US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神经网络直接使用</a:t>
            </a:r>
          </a:p>
        </p:txBody>
      </p:sp>
    </p:spTree>
    <p:extLst>
      <p:ext uri="{BB962C8B-B14F-4D97-AF65-F5344CB8AC3E}">
        <p14:creationId xmlns:p14="http://schemas.microsoft.com/office/powerpoint/2010/main" val="528910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4FD5C98-0FE7-1449-B4C3-1854C567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词的向量表示方式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CEFAB26-F070-9948-B941-37A67BB31FA5}"/>
              </a:ext>
            </a:extLst>
          </p:cNvPr>
          <p:cNvSpPr txBox="1"/>
          <p:nvPr/>
        </p:nvSpPr>
        <p:spPr>
          <a:xfrm>
            <a:off x="2936327" y="1268760"/>
            <a:ext cx="3024336" cy="546904"/>
          </a:xfrm>
          <a:prstGeom prst="rect">
            <a:avLst/>
          </a:prstGeom>
        </p:spPr>
        <p:txBody>
          <a:bodyPr anchor="ctr"/>
          <a:lstStyle>
            <a:lvl1pPr algn="l" defTabSz="913130" rtl="0" eaLnBrk="1" fontAlgn="base" hangingPunct="1">
              <a:spcBef>
                <a:spcPct val="0"/>
              </a:spcBef>
              <a:spcAft>
                <a:spcPct val="0"/>
              </a:spcAft>
              <a:defRPr kumimoji="1" lang="x-none" sz="2600" b="0" i="0" kern="0" dirty="0">
                <a:solidFill>
                  <a:srgbClr val="F0BD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Gill Sans" panose="020B0502020104020203"/>
              </a:defRPr>
            </a:lvl1pPr>
            <a:lvl2pPr algn="l" defTabSz="913130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panose="020B0502020104020203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algn="l" defTabSz="913130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panose="020B0502020104020203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algn="l" defTabSz="913130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panose="020B0502020104020203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algn="l" defTabSz="913130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panose="020B0502020104020203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457200" algn="l" defTabSz="913130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algn="l" defTabSz="913130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algn="l" defTabSz="913130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algn="l" defTabSz="913130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例句：我爱自然语言处理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200F5C-B073-4E40-8FFD-382111D01AB8}"/>
              </a:ext>
            </a:extLst>
          </p:cNvPr>
          <p:cNvSpPr txBox="1"/>
          <p:nvPr/>
        </p:nvSpPr>
        <p:spPr>
          <a:xfrm>
            <a:off x="611560" y="2636912"/>
            <a:ext cx="3960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我   爱   自   然   语   言   处   理</a:t>
            </a:r>
            <a:endParaRPr lang="zh-CN" altLang="en-US" sz="2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FBB292-B736-E14F-B81F-C88D8BB5C65D}"/>
              </a:ext>
            </a:extLst>
          </p:cNvPr>
          <p:cNvSpPr txBox="1"/>
          <p:nvPr/>
        </p:nvSpPr>
        <p:spPr>
          <a:xfrm>
            <a:off x="549052" y="3285442"/>
            <a:ext cx="400110" cy="218281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400" dirty="0"/>
              <a:t>[</a:t>
            </a:r>
            <a:r>
              <a:rPr lang="en-US" altLang="zh-CN" sz="1400" dirty="0">
                <a:solidFill>
                  <a:srgbClr val="FF0000"/>
                </a:solidFill>
              </a:rPr>
              <a:t>1</a:t>
            </a:r>
            <a:r>
              <a:rPr lang="en-US" altLang="zh-CN" sz="1400" dirty="0"/>
              <a:t> 0 0 0 0 0 0 0]</a:t>
            </a:r>
            <a:endParaRPr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3FED2F-DE35-0647-86C5-4B6EA30DCD8B}"/>
              </a:ext>
            </a:extLst>
          </p:cNvPr>
          <p:cNvSpPr txBox="1"/>
          <p:nvPr/>
        </p:nvSpPr>
        <p:spPr>
          <a:xfrm>
            <a:off x="1024355" y="3285442"/>
            <a:ext cx="400110" cy="218281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400" dirty="0"/>
              <a:t>[0</a:t>
            </a:r>
            <a:r>
              <a:rPr lang="en-US" altLang="zh-CN" sz="1400" dirty="0">
                <a:solidFill>
                  <a:srgbClr val="FF0000"/>
                </a:solidFill>
              </a:rPr>
              <a:t> 1 </a:t>
            </a:r>
            <a:r>
              <a:rPr lang="en-US" altLang="zh-CN" sz="1400" dirty="0"/>
              <a:t>0 0 0 0 0 0]</a:t>
            </a:r>
            <a:endParaRPr lang="zh-CN" altLang="en-US" sz="1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0663D0-5E53-844A-93F5-159EC7B6BEBB}"/>
              </a:ext>
            </a:extLst>
          </p:cNvPr>
          <p:cNvSpPr txBox="1"/>
          <p:nvPr/>
        </p:nvSpPr>
        <p:spPr>
          <a:xfrm>
            <a:off x="1498435" y="3285442"/>
            <a:ext cx="400110" cy="218281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400" dirty="0"/>
              <a:t>[0 0 </a:t>
            </a:r>
            <a:r>
              <a:rPr lang="en-US" altLang="zh-CN" sz="1400" dirty="0">
                <a:solidFill>
                  <a:srgbClr val="FF0000"/>
                </a:solidFill>
              </a:rPr>
              <a:t>1</a:t>
            </a:r>
            <a:r>
              <a:rPr lang="en-US" altLang="zh-CN" sz="1400" dirty="0"/>
              <a:t> 0 0 0 0 0]</a:t>
            </a:r>
            <a:endParaRPr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063759C-C1CB-8F49-A7E6-234C1BECF994}"/>
              </a:ext>
            </a:extLst>
          </p:cNvPr>
          <p:cNvSpPr txBox="1"/>
          <p:nvPr/>
        </p:nvSpPr>
        <p:spPr>
          <a:xfrm>
            <a:off x="1974962" y="3297547"/>
            <a:ext cx="400110" cy="218281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400" dirty="0"/>
              <a:t>[0 0 0 </a:t>
            </a:r>
            <a:r>
              <a:rPr lang="en-US" altLang="zh-CN" sz="1400" dirty="0">
                <a:solidFill>
                  <a:srgbClr val="FF0000"/>
                </a:solidFill>
              </a:rPr>
              <a:t>1</a:t>
            </a:r>
            <a:r>
              <a:rPr lang="en-US" altLang="zh-CN" sz="1400" dirty="0"/>
              <a:t> 0 0 0 0]</a:t>
            </a:r>
            <a:endParaRPr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9582B8-1209-824D-9C1F-ABEAB3F984C0}"/>
              </a:ext>
            </a:extLst>
          </p:cNvPr>
          <p:cNvSpPr txBox="1"/>
          <p:nvPr/>
        </p:nvSpPr>
        <p:spPr>
          <a:xfrm>
            <a:off x="2449042" y="3285442"/>
            <a:ext cx="400110" cy="21949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400" dirty="0"/>
              <a:t>[0 0 0 0 </a:t>
            </a:r>
            <a:r>
              <a:rPr lang="en-US" altLang="zh-CN" sz="1400" dirty="0">
                <a:solidFill>
                  <a:srgbClr val="FF0000"/>
                </a:solidFill>
              </a:rPr>
              <a:t>1</a:t>
            </a:r>
            <a:r>
              <a:rPr lang="en-US" altLang="zh-CN" sz="1400" dirty="0"/>
              <a:t> 0 0 0]</a:t>
            </a:r>
            <a:endParaRPr lang="zh-CN" altLang="en-US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620DDE6-2BA5-D342-A5EA-EBDFC99901F4}"/>
              </a:ext>
            </a:extLst>
          </p:cNvPr>
          <p:cNvSpPr txBox="1"/>
          <p:nvPr/>
        </p:nvSpPr>
        <p:spPr>
          <a:xfrm>
            <a:off x="2923122" y="3285442"/>
            <a:ext cx="400110" cy="21949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400" dirty="0"/>
              <a:t>[0 0 0 0 0 </a:t>
            </a:r>
            <a:r>
              <a:rPr lang="en-US" altLang="zh-CN" sz="1400" dirty="0">
                <a:solidFill>
                  <a:srgbClr val="FF0000"/>
                </a:solidFill>
              </a:rPr>
              <a:t>1</a:t>
            </a:r>
            <a:r>
              <a:rPr lang="en-US" altLang="zh-CN" sz="1400" dirty="0"/>
              <a:t> 0 0]</a:t>
            </a:r>
            <a:endParaRPr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3DDB42-E7C3-FC47-AE6D-368FBC12E20D}"/>
              </a:ext>
            </a:extLst>
          </p:cNvPr>
          <p:cNvSpPr txBox="1"/>
          <p:nvPr/>
        </p:nvSpPr>
        <p:spPr>
          <a:xfrm>
            <a:off x="3394755" y="3293653"/>
            <a:ext cx="400110" cy="21949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400" dirty="0"/>
              <a:t>[0 0 0 0 0 0 </a:t>
            </a:r>
            <a:r>
              <a:rPr lang="en-US" altLang="zh-CN" sz="1400" dirty="0">
                <a:solidFill>
                  <a:srgbClr val="FF0000"/>
                </a:solidFill>
              </a:rPr>
              <a:t>1</a:t>
            </a:r>
            <a:r>
              <a:rPr lang="en-US" altLang="zh-CN" sz="1400" dirty="0"/>
              <a:t> 0]</a:t>
            </a:r>
            <a:endParaRPr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F58A83-8C09-1647-B25A-9B28B7F3C6D2}"/>
              </a:ext>
            </a:extLst>
          </p:cNvPr>
          <p:cNvSpPr txBox="1"/>
          <p:nvPr/>
        </p:nvSpPr>
        <p:spPr>
          <a:xfrm>
            <a:off x="3871282" y="3293454"/>
            <a:ext cx="400110" cy="21949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400" dirty="0"/>
              <a:t>[0 0 0 0 0 0 0 </a:t>
            </a:r>
            <a:r>
              <a:rPr lang="en-US" altLang="zh-CN" sz="1400" dirty="0">
                <a:solidFill>
                  <a:srgbClr val="FF0000"/>
                </a:solidFill>
              </a:rPr>
              <a:t>1</a:t>
            </a:r>
            <a:r>
              <a:rPr lang="en-US" altLang="zh-CN" sz="1400" dirty="0"/>
              <a:t>]</a:t>
            </a:r>
            <a:endParaRPr lang="zh-CN" altLang="en-US" sz="14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3EE56A4-2757-2246-A051-4A0367724E70}"/>
              </a:ext>
            </a:extLst>
          </p:cNvPr>
          <p:cNvSpPr txBox="1"/>
          <p:nvPr/>
        </p:nvSpPr>
        <p:spPr>
          <a:xfrm>
            <a:off x="5423263" y="2636912"/>
            <a:ext cx="31811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我      爱      自然语言处理</a:t>
            </a:r>
            <a:endParaRPr lang="zh-CN" altLang="en-US" sz="2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B89D678-ED6B-254C-8F58-72B653CE2AB9}"/>
              </a:ext>
            </a:extLst>
          </p:cNvPr>
          <p:cNvSpPr txBox="1"/>
          <p:nvPr/>
        </p:nvSpPr>
        <p:spPr>
          <a:xfrm>
            <a:off x="5402138" y="3538208"/>
            <a:ext cx="553998" cy="2107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[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7C7B37A-ABCF-FA4B-AF77-263E2DA44DBB}"/>
              </a:ext>
            </a:extLst>
          </p:cNvPr>
          <p:cNvSpPr txBox="1"/>
          <p:nvPr/>
        </p:nvSpPr>
        <p:spPr>
          <a:xfrm>
            <a:off x="5415065" y="5018411"/>
            <a:ext cx="553998" cy="2107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803D52C-6BEB-7842-9301-2CF4B8FB26F4}"/>
              </a:ext>
            </a:extLst>
          </p:cNvPr>
          <p:cNvSpPr txBox="1"/>
          <p:nvPr/>
        </p:nvSpPr>
        <p:spPr>
          <a:xfrm>
            <a:off x="5364088" y="3722034"/>
            <a:ext cx="5920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  </a:t>
            </a:r>
            <a:r>
              <a:rPr lang="en-US" altLang="zh-CN" sz="1600" dirty="0">
                <a:solidFill>
                  <a:srgbClr val="FF0000"/>
                </a:solidFill>
              </a:rPr>
              <a:t>1</a:t>
            </a:r>
          </a:p>
          <a:p>
            <a:r>
              <a:rPr lang="zh-CN" altLang="en-US" sz="1600" dirty="0"/>
              <a:t>  </a:t>
            </a:r>
            <a:r>
              <a:rPr lang="en-US" altLang="zh-CN" sz="1600" dirty="0"/>
              <a:t>0</a:t>
            </a:r>
          </a:p>
          <a:p>
            <a:r>
              <a:rPr lang="zh-CN" altLang="en-US" sz="1600" dirty="0"/>
              <a:t>  </a:t>
            </a:r>
            <a:r>
              <a:rPr lang="en-US" altLang="zh-CN" sz="1600" dirty="0"/>
              <a:t>0</a:t>
            </a:r>
          </a:p>
          <a:p>
            <a:r>
              <a:rPr lang="zh-CN" altLang="en-US" sz="1600" dirty="0"/>
              <a:t>  </a:t>
            </a:r>
            <a:r>
              <a:rPr lang="en-US" altLang="zh-CN" sz="1600" dirty="0"/>
              <a:t>0</a:t>
            </a:r>
          </a:p>
          <a:p>
            <a:r>
              <a:rPr lang="zh-CN" altLang="en-US" sz="1600" dirty="0"/>
              <a:t>  </a:t>
            </a:r>
            <a:r>
              <a:rPr lang="en-US" altLang="zh-CN" sz="1600" dirty="0"/>
              <a:t>0</a:t>
            </a:r>
            <a:endParaRPr lang="zh-CN" altLang="en-US" sz="16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036D52D-AF39-9F41-A1FD-44EB5F53FF93}"/>
              </a:ext>
            </a:extLst>
          </p:cNvPr>
          <p:cNvSpPr txBox="1"/>
          <p:nvPr/>
        </p:nvSpPr>
        <p:spPr>
          <a:xfrm>
            <a:off x="6155255" y="3538208"/>
            <a:ext cx="553998" cy="2107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[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E2F98DA-4533-AE42-A9B5-65793C8BB086}"/>
              </a:ext>
            </a:extLst>
          </p:cNvPr>
          <p:cNvSpPr txBox="1"/>
          <p:nvPr/>
        </p:nvSpPr>
        <p:spPr>
          <a:xfrm>
            <a:off x="6168182" y="5018411"/>
            <a:ext cx="553998" cy="2107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E0DD286-E6EF-644B-A2BA-B7E10C8CF96C}"/>
              </a:ext>
            </a:extLst>
          </p:cNvPr>
          <p:cNvSpPr txBox="1"/>
          <p:nvPr/>
        </p:nvSpPr>
        <p:spPr>
          <a:xfrm>
            <a:off x="7279297" y="3538208"/>
            <a:ext cx="553998" cy="2107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[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8771C36-BD2C-3B4F-86AE-058445C5B016}"/>
              </a:ext>
            </a:extLst>
          </p:cNvPr>
          <p:cNvSpPr txBox="1"/>
          <p:nvPr/>
        </p:nvSpPr>
        <p:spPr>
          <a:xfrm>
            <a:off x="7292224" y="5018411"/>
            <a:ext cx="553998" cy="2107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51E9650-6F65-2745-9022-DEE0FFB463CA}"/>
              </a:ext>
            </a:extLst>
          </p:cNvPr>
          <p:cNvSpPr txBox="1"/>
          <p:nvPr/>
        </p:nvSpPr>
        <p:spPr>
          <a:xfrm>
            <a:off x="6117205" y="3742137"/>
            <a:ext cx="5920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  </a:t>
            </a:r>
            <a:r>
              <a:rPr lang="en-US" altLang="zh-CN" sz="1600" dirty="0"/>
              <a:t>0</a:t>
            </a:r>
          </a:p>
          <a:p>
            <a:r>
              <a:rPr lang="zh-CN" altLang="en-US" sz="1600" dirty="0"/>
              <a:t>  </a:t>
            </a:r>
            <a:r>
              <a:rPr lang="en-US" altLang="zh-CN" sz="1600" dirty="0">
                <a:solidFill>
                  <a:srgbClr val="FF0000"/>
                </a:solidFill>
              </a:rPr>
              <a:t>1</a:t>
            </a:r>
          </a:p>
          <a:p>
            <a:r>
              <a:rPr lang="zh-CN" altLang="en-US" sz="1600" dirty="0"/>
              <a:t>  </a:t>
            </a:r>
            <a:r>
              <a:rPr lang="en-US" altLang="zh-CN" sz="1600" dirty="0"/>
              <a:t>0</a:t>
            </a:r>
          </a:p>
          <a:p>
            <a:r>
              <a:rPr lang="zh-CN" altLang="en-US" sz="1600" dirty="0"/>
              <a:t>  </a:t>
            </a:r>
            <a:r>
              <a:rPr lang="en-US" altLang="zh-CN" sz="1600" dirty="0"/>
              <a:t>0</a:t>
            </a:r>
          </a:p>
          <a:p>
            <a:r>
              <a:rPr lang="zh-CN" altLang="en-US" sz="1600" dirty="0"/>
              <a:t>  </a:t>
            </a:r>
            <a:r>
              <a:rPr lang="en-US" altLang="zh-CN" sz="1600" dirty="0"/>
              <a:t>0</a:t>
            </a:r>
            <a:endParaRPr lang="zh-CN" altLang="en-US" sz="16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40C56FC-540F-3949-B69F-0BCFE38A8D2A}"/>
              </a:ext>
            </a:extLst>
          </p:cNvPr>
          <p:cNvSpPr txBox="1"/>
          <p:nvPr/>
        </p:nvSpPr>
        <p:spPr>
          <a:xfrm>
            <a:off x="7262142" y="3736852"/>
            <a:ext cx="5920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  </a:t>
            </a:r>
            <a:r>
              <a:rPr lang="en-US" altLang="zh-CN" sz="1600" dirty="0"/>
              <a:t>0</a:t>
            </a:r>
          </a:p>
          <a:p>
            <a:r>
              <a:rPr lang="zh-CN" altLang="en-US" sz="1600" dirty="0"/>
              <a:t>  </a:t>
            </a:r>
            <a:r>
              <a:rPr lang="en-US" altLang="zh-CN" sz="1600" dirty="0"/>
              <a:t>0</a:t>
            </a:r>
          </a:p>
          <a:p>
            <a:r>
              <a:rPr lang="zh-CN" altLang="en-US" sz="1600" dirty="0"/>
              <a:t>  </a:t>
            </a:r>
            <a:r>
              <a:rPr lang="en-US" altLang="zh-CN" sz="1600" dirty="0">
                <a:solidFill>
                  <a:srgbClr val="FF0000"/>
                </a:solidFill>
              </a:rPr>
              <a:t>1</a:t>
            </a:r>
          </a:p>
          <a:p>
            <a:r>
              <a:rPr lang="zh-CN" altLang="en-US" sz="1600" dirty="0"/>
              <a:t>  </a:t>
            </a:r>
            <a:r>
              <a:rPr lang="en-US" altLang="zh-CN" sz="1600" dirty="0"/>
              <a:t>0</a:t>
            </a:r>
          </a:p>
          <a:p>
            <a:r>
              <a:rPr lang="zh-CN" altLang="en-US" sz="1600" dirty="0"/>
              <a:t>  </a:t>
            </a:r>
            <a:r>
              <a:rPr lang="en-US" altLang="zh-CN" sz="1600" dirty="0"/>
              <a:t>0</a:t>
            </a:r>
            <a:endParaRPr lang="zh-CN" altLang="en-US" sz="16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E625381-0C3F-5C48-AED2-DB6326AD1A99}"/>
              </a:ext>
            </a:extLst>
          </p:cNvPr>
          <p:cNvSpPr txBox="1"/>
          <p:nvPr/>
        </p:nvSpPr>
        <p:spPr>
          <a:xfrm>
            <a:off x="2520317" y="5904999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没法表达词与词之间的远近亲疏</a:t>
            </a:r>
            <a:endParaRPr kumimoji="1" lang="zh-CN" altLang="en-US" b="1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4201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4FD5C98-0FE7-1449-B4C3-1854C567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词的向量表示方式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CEFAB26-F070-9948-B941-37A67BB31FA5}"/>
              </a:ext>
            </a:extLst>
          </p:cNvPr>
          <p:cNvSpPr txBox="1"/>
          <p:nvPr/>
        </p:nvSpPr>
        <p:spPr>
          <a:xfrm>
            <a:off x="3315800" y="1122385"/>
            <a:ext cx="3024336" cy="546904"/>
          </a:xfrm>
          <a:prstGeom prst="rect">
            <a:avLst/>
          </a:prstGeom>
        </p:spPr>
        <p:txBody>
          <a:bodyPr anchor="ctr"/>
          <a:lstStyle>
            <a:lvl1pPr algn="l" defTabSz="913130" rtl="0" eaLnBrk="1" fontAlgn="base" hangingPunct="1">
              <a:spcBef>
                <a:spcPct val="0"/>
              </a:spcBef>
              <a:spcAft>
                <a:spcPct val="0"/>
              </a:spcAft>
              <a:defRPr kumimoji="1" lang="x-none" sz="2600" b="0" i="0" kern="0" dirty="0">
                <a:solidFill>
                  <a:srgbClr val="F0BD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Gill Sans" panose="020B0502020104020203"/>
              </a:defRPr>
            </a:lvl1pPr>
            <a:lvl2pPr algn="l" defTabSz="913130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panose="020B0502020104020203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algn="l" defTabSz="913130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panose="020B0502020104020203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algn="l" defTabSz="913130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panose="020B0502020104020203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algn="l" defTabSz="913130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panose="020B0502020104020203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457200" algn="l" defTabSz="913130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algn="l" defTabSz="913130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algn="l" defTabSz="913130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algn="l" defTabSz="913130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例句：我爱自然语言处理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2687B93-C90A-054F-9276-DBC48FDEBA4D}"/>
              </a:ext>
            </a:extLst>
          </p:cNvPr>
          <p:cNvSpPr txBox="1"/>
          <p:nvPr/>
        </p:nvSpPr>
        <p:spPr>
          <a:xfrm>
            <a:off x="1043608" y="1988840"/>
            <a:ext cx="31811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我      爱      自然语言处理</a:t>
            </a:r>
            <a:endParaRPr lang="zh-CN" altLang="en-US" sz="2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61B351-56D5-904E-9180-D3465A53B406}"/>
              </a:ext>
            </a:extLst>
          </p:cNvPr>
          <p:cNvSpPr txBox="1"/>
          <p:nvPr/>
        </p:nvSpPr>
        <p:spPr>
          <a:xfrm>
            <a:off x="1081658" y="2649518"/>
            <a:ext cx="553998" cy="2107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[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4C504E6-FA67-354B-A6B9-4A9619AAE5C6}"/>
              </a:ext>
            </a:extLst>
          </p:cNvPr>
          <p:cNvSpPr txBox="1"/>
          <p:nvPr/>
        </p:nvSpPr>
        <p:spPr>
          <a:xfrm>
            <a:off x="1094585" y="4129721"/>
            <a:ext cx="553998" cy="2107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A8721A1-BC80-6346-A2A6-45F2EDD2FE9C}"/>
              </a:ext>
            </a:extLst>
          </p:cNvPr>
          <p:cNvSpPr txBox="1"/>
          <p:nvPr/>
        </p:nvSpPr>
        <p:spPr>
          <a:xfrm>
            <a:off x="1043608" y="2833344"/>
            <a:ext cx="5920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0.94</a:t>
            </a:r>
          </a:p>
          <a:p>
            <a:r>
              <a:rPr lang="en-US" altLang="zh-CN" sz="1600" dirty="0"/>
              <a:t>0.45</a:t>
            </a:r>
          </a:p>
          <a:p>
            <a:r>
              <a:rPr lang="en-US" altLang="zh-CN" sz="1600" dirty="0"/>
              <a:t>0.25</a:t>
            </a:r>
          </a:p>
          <a:p>
            <a:r>
              <a:rPr lang="en-US" altLang="zh-CN" sz="1600" dirty="0"/>
              <a:t>0.02</a:t>
            </a:r>
          </a:p>
          <a:p>
            <a:r>
              <a:rPr lang="en-US" altLang="zh-CN" sz="1600" dirty="0"/>
              <a:t>0.30</a:t>
            </a:r>
            <a:endParaRPr lang="zh-CN" altLang="en-US" sz="16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39E9B9B-8EEB-0C41-A8AE-826DDB76FBA8}"/>
              </a:ext>
            </a:extLst>
          </p:cNvPr>
          <p:cNvSpPr txBox="1"/>
          <p:nvPr/>
        </p:nvSpPr>
        <p:spPr>
          <a:xfrm>
            <a:off x="1834775" y="2649518"/>
            <a:ext cx="553998" cy="2107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[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7875D0C-C6BC-2143-ADD3-512F2D7C944A}"/>
              </a:ext>
            </a:extLst>
          </p:cNvPr>
          <p:cNvSpPr txBox="1"/>
          <p:nvPr/>
        </p:nvSpPr>
        <p:spPr>
          <a:xfrm>
            <a:off x="1847702" y="4129721"/>
            <a:ext cx="553998" cy="2107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8E2AE6C-4C7D-7F4F-A91C-983568593E11}"/>
              </a:ext>
            </a:extLst>
          </p:cNvPr>
          <p:cNvSpPr txBox="1"/>
          <p:nvPr/>
        </p:nvSpPr>
        <p:spPr>
          <a:xfrm>
            <a:off x="1796725" y="2833344"/>
            <a:ext cx="5920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0.25</a:t>
            </a:r>
          </a:p>
          <a:p>
            <a:r>
              <a:rPr lang="en-US" altLang="zh-CN" sz="1600" dirty="0"/>
              <a:t>0.35</a:t>
            </a:r>
          </a:p>
          <a:p>
            <a:r>
              <a:rPr lang="en-US" altLang="zh-CN" sz="1600" dirty="0"/>
              <a:t>0.54</a:t>
            </a:r>
          </a:p>
          <a:p>
            <a:r>
              <a:rPr lang="en-US" altLang="zh-CN" sz="1600" dirty="0"/>
              <a:t>0.19</a:t>
            </a:r>
          </a:p>
          <a:p>
            <a:r>
              <a:rPr lang="en-US" altLang="zh-CN" sz="1600" dirty="0"/>
              <a:t>0.93</a:t>
            </a:r>
            <a:endParaRPr lang="zh-CN" altLang="en-US" sz="16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962998E-77D3-E245-8E67-04F2D34DA3E0}"/>
              </a:ext>
            </a:extLst>
          </p:cNvPr>
          <p:cNvSpPr txBox="1"/>
          <p:nvPr/>
        </p:nvSpPr>
        <p:spPr>
          <a:xfrm>
            <a:off x="3086849" y="2649518"/>
            <a:ext cx="553998" cy="2107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[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F68CDC1-21A9-0947-9E4A-92B71D16EB5F}"/>
              </a:ext>
            </a:extLst>
          </p:cNvPr>
          <p:cNvSpPr txBox="1"/>
          <p:nvPr/>
        </p:nvSpPr>
        <p:spPr>
          <a:xfrm>
            <a:off x="3099776" y="4129721"/>
            <a:ext cx="553998" cy="2107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4D12F5B-54A7-3844-87A4-078C0889B3CD}"/>
              </a:ext>
            </a:extLst>
          </p:cNvPr>
          <p:cNvSpPr txBox="1"/>
          <p:nvPr/>
        </p:nvSpPr>
        <p:spPr>
          <a:xfrm>
            <a:off x="3048799" y="2833344"/>
            <a:ext cx="5920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0.54</a:t>
            </a:r>
          </a:p>
          <a:p>
            <a:r>
              <a:rPr lang="en-US" altLang="zh-CN" sz="1600" dirty="0"/>
              <a:t>0.20</a:t>
            </a:r>
          </a:p>
          <a:p>
            <a:r>
              <a:rPr lang="en-US" altLang="zh-CN" sz="1600" dirty="0"/>
              <a:t>0.93</a:t>
            </a:r>
          </a:p>
          <a:p>
            <a:r>
              <a:rPr lang="en-US" altLang="zh-CN" sz="1600" dirty="0"/>
              <a:t>0.13</a:t>
            </a:r>
          </a:p>
          <a:p>
            <a:r>
              <a:rPr lang="en-US" altLang="zh-CN" sz="1600" dirty="0"/>
              <a:t>0.37</a:t>
            </a:r>
            <a:endParaRPr lang="zh-CN" altLang="en-US" sz="1600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34E94B8B-1C83-5245-8709-2CF935E5A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1988840"/>
            <a:ext cx="2473762" cy="2317052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E03D8D2D-0146-274D-A0CF-235B2BFAE392}"/>
              </a:ext>
            </a:extLst>
          </p:cNvPr>
          <p:cNvSpPr txBox="1"/>
          <p:nvPr/>
        </p:nvSpPr>
        <p:spPr>
          <a:xfrm>
            <a:off x="694690" y="4603856"/>
            <a:ext cx="7754620" cy="17543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i="1" dirty="0">
                <a:latin typeface="STKaiti" panose="02010600040101010101" pitchFamily="2" charset="-122"/>
                <a:ea typeface="STKaiti" panose="02010600040101010101" pitchFamily="2" charset="-122"/>
                <a:cs typeface="微软雅黑" charset="0"/>
              </a:rPr>
              <a:t>词的连续向量表示为什么又称作“分布式表达”？</a:t>
            </a:r>
            <a:endParaRPr lang="en-US" altLang="zh-CN" i="1" dirty="0">
              <a:latin typeface="STKaiti" panose="02010600040101010101" pitchFamily="2" charset="-122"/>
              <a:ea typeface="STKaiti" panose="02010600040101010101" pitchFamily="2" charset="-122"/>
              <a:cs typeface="微软雅黑" charset="0"/>
            </a:endParaRPr>
          </a:p>
          <a:p>
            <a:endParaRPr lang="zh-CN" altLang="en-US" sz="1200" dirty="0">
              <a:latin typeface="STKaiti" panose="02010600040101010101" pitchFamily="2" charset="-122"/>
              <a:ea typeface="STKaiti" panose="02010600040101010101" pitchFamily="2" charset="-122"/>
              <a:cs typeface="微软雅黑" charset="0"/>
            </a:endParaRPr>
          </a:p>
          <a:p>
            <a:r>
              <a:rPr lang="zh-CN" altLang="en-US" sz="1800" dirty="0">
                <a:latin typeface="STKaiti" panose="02010600040101010101" pitchFamily="2" charset="-122"/>
                <a:ea typeface="STKaiti" panose="02010600040101010101" pitchFamily="2" charset="-122"/>
                <a:cs typeface="微软雅黑" charset="0"/>
              </a:rPr>
              <a:t>单热点向量的表示方式中，每个词对应于特定的维度，其由且仅由这一维度表示，因此也被称为“局部语义表达”或“非分布式表达”。与之相对的，采用连续稠密向量的表示方式，词的语义分散在不同的维度中表达，因此被称为“分布式表达”。</a:t>
            </a:r>
          </a:p>
        </p:txBody>
      </p:sp>
    </p:spTree>
    <p:extLst>
      <p:ext uri="{BB962C8B-B14F-4D97-AF65-F5344CB8AC3E}">
        <p14:creationId xmlns:p14="http://schemas.microsoft.com/office/powerpoint/2010/main" val="251224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06985721-07FA-C84C-8A9D-CFB3E61FA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219200"/>
            <a:ext cx="8001000" cy="4876800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词的表示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单热点词向量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分布式词向量</a:t>
            </a:r>
          </a:p>
          <a:p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两个经典的词向量模型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CBOW</a:t>
            </a:r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模型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Skip-gram</a:t>
            </a:r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模型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词向量的性质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动态词向量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7982E6-072F-F842-ADE6-7AC99A06E7BD}"/>
              </a:ext>
            </a:extLst>
          </p:cNvPr>
          <p:cNvSpPr/>
          <p:nvPr/>
        </p:nvSpPr>
        <p:spPr bwMode="auto">
          <a:xfrm>
            <a:off x="395536" y="1044915"/>
            <a:ext cx="4536504" cy="1591997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D4588D-7702-4D45-B40B-F5E0633F2FDE}"/>
              </a:ext>
            </a:extLst>
          </p:cNvPr>
          <p:cNvSpPr/>
          <p:nvPr/>
        </p:nvSpPr>
        <p:spPr bwMode="auto">
          <a:xfrm>
            <a:off x="533400" y="3925235"/>
            <a:ext cx="4536504" cy="1591997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3518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3120" y="-1272664"/>
            <a:ext cx="7886700" cy="546904"/>
          </a:xfrm>
        </p:spPr>
        <p:txBody>
          <a:bodyPr/>
          <a:lstStyle/>
          <a:p>
            <a:r>
              <a:rPr lang="zh-CN" altLang="en-US" dirty="0"/>
              <a:t>词向量的</a:t>
            </a:r>
            <a:endParaRPr kumimoji="1" lang="zh-CN" altLang="en-US" dirty="0"/>
          </a:p>
        </p:txBody>
      </p:sp>
      <p:pic>
        <p:nvPicPr>
          <p:cNvPr id="2050" name="Picture 2" descr="“John Rupert Firth”的图片搜索结果">
            <a:extLst>
              <a:ext uri="{FF2B5EF4-FFF2-40B4-BE49-F238E27FC236}">
                <a16:creationId xmlns:a16="http://schemas.microsoft.com/office/drawing/2014/main" id="{75DB1889-C2C4-9440-86D9-DC6C77C90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970" y="1672208"/>
            <a:ext cx="13970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503AEF0-0280-A14B-8469-C5BDC245D55B}"/>
              </a:ext>
            </a:extLst>
          </p:cNvPr>
          <p:cNvSpPr txBox="1"/>
          <p:nvPr/>
        </p:nvSpPr>
        <p:spPr>
          <a:xfrm>
            <a:off x="6232314" y="3629560"/>
            <a:ext cx="2808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0" i="0" dirty="0">
                <a:solidFill>
                  <a:srgbClr val="4D5156"/>
                </a:solidFill>
                <a:effectLst/>
                <a:latin typeface="STKaiti" panose="02010600040101010101" pitchFamily="2" charset="-122"/>
                <a:ea typeface="STKaiti" panose="02010600040101010101" pitchFamily="2" charset="-122"/>
              </a:rPr>
              <a:t>约翰</a:t>
            </a:r>
            <a:r>
              <a:rPr lang="en-US" altLang="zh-CN" sz="1600" b="0" i="0" dirty="0">
                <a:solidFill>
                  <a:srgbClr val="4D5156"/>
                </a:solidFill>
                <a:effectLst/>
                <a:latin typeface="STKaiti" panose="02010600040101010101" pitchFamily="2" charset="-122"/>
                <a:ea typeface="STKaiti" panose="02010600040101010101" pitchFamily="2" charset="-122"/>
              </a:rPr>
              <a:t>·</a:t>
            </a:r>
            <a:r>
              <a:rPr lang="zh-CN" altLang="en-US" sz="1600" b="0" i="0" dirty="0">
                <a:solidFill>
                  <a:srgbClr val="4D5156"/>
                </a:solidFill>
                <a:effectLst/>
                <a:latin typeface="STKaiti" panose="02010600040101010101" pitchFamily="2" charset="-122"/>
                <a:ea typeface="STKaiti" panose="02010600040101010101" pitchFamily="2" charset="-122"/>
              </a:rPr>
              <a:t>鲁伯特</a:t>
            </a:r>
            <a:r>
              <a:rPr lang="en-US" altLang="zh-CN" sz="1600" b="0" i="0" dirty="0">
                <a:solidFill>
                  <a:srgbClr val="4D5156"/>
                </a:solidFill>
                <a:effectLst/>
                <a:latin typeface="STKaiti" panose="02010600040101010101" pitchFamily="2" charset="-122"/>
                <a:ea typeface="STKaiti" panose="02010600040101010101" pitchFamily="2" charset="-122"/>
              </a:rPr>
              <a:t>·</a:t>
            </a:r>
            <a:r>
              <a:rPr lang="zh-CN" altLang="en-US" sz="1600" b="0" i="0" dirty="0">
                <a:solidFill>
                  <a:srgbClr val="4D5156"/>
                </a:solidFill>
                <a:effectLst/>
                <a:latin typeface="STKaiti" panose="02010600040101010101" pitchFamily="2" charset="-122"/>
                <a:ea typeface="STKaiti" panose="02010600040101010101" pitchFamily="2" charset="-122"/>
              </a:rPr>
              <a:t>弗斯</a:t>
            </a:r>
            <a:endParaRPr lang="en-US" altLang="zh-CN" sz="1600" b="0" i="0" dirty="0">
              <a:solidFill>
                <a:srgbClr val="4D5156"/>
              </a:solidFill>
              <a:effectLst/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sz="1600" b="0" i="0" dirty="0">
                <a:solidFill>
                  <a:srgbClr val="4D5156"/>
                </a:solidFill>
                <a:effectLst/>
                <a:latin typeface="STKaiti" panose="02010600040101010101" pitchFamily="2" charset="-122"/>
                <a:ea typeface="STKaiti" panose="02010600040101010101" pitchFamily="2" charset="-122"/>
              </a:rPr>
              <a:t>英国语言学家</a:t>
            </a:r>
            <a:endParaRPr lang="en-US" altLang="zh-CN" sz="1600" b="0" i="0" dirty="0">
              <a:solidFill>
                <a:srgbClr val="4D5156"/>
              </a:solidFill>
              <a:effectLst/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sz="1600" b="0" i="0" dirty="0">
                <a:solidFill>
                  <a:srgbClr val="4D5156"/>
                </a:solidFill>
                <a:effectLst/>
                <a:latin typeface="STKaiti" panose="02010600040101010101" pitchFamily="2" charset="-122"/>
                <a:ea typeface="STKaiti" panose="02010600040101010101" pitchFamily="2" charset="-122"/>
              </a:rPr>
              <a:t>伦敦学派创始人</a:t>
            </a:r>
            <a:endParaRPr kumimoji="1" lang="zh-CN" altLang="en-US" sz="16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08804C-24A0-CD4D-BE18-F1DD31FC3FC5}"/>
              </a:ext>
            </a:extLst>
          </p:cNvPr>
          <p:cNvSpPr txBox="1"/>
          <p:nvPr/>
        </p:nvSpPr>
        <p:spPr>
          <a:xfrm>
            <a:off x="1367691" y="2171109"/>
            <a:ext cx="4932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rgbClr val="C00000"/>
                </a:solidFill>
              </a:rPr>
              <a:t>You shall know a word by the company it keeps.</a:t>
            </a:r>
            <a:endParaRPr lang="zh-CN" altLang="en-US" i="1" dirty="0">
              <a:solidFill>
                <a:srgbClr val="C00000"/>
              </a:solidFill>
            </a:endParaRPr>
          </a:p>
        </p:txBody>
      </p:sp>
      <p:sp>
        <p:nvSpPr>
          <p:cNvPr id="11" name="标题 2">
            <a:extLst>
              <a:ext uri="{FF2B5EF4-FFF2-40B4-BE49-F238E27FC236}">
                <a16:creationId xmlns:a16="http://schemas.microsoft.com/office/drawing/2014/main" id="{2FAA91E7-BA25-A246-B011-10EB98B96B36}"/>
              </a:ext>
            </a:extLst>
          </p:cNvPr>
          <p:cNvSpPr txBox="1">
            <a:spLocks/>
          </p:cNvSpPr>
          <p:nvPr/>
        </p:nvSpPr>
        <p:spPr>
          <a:xfrm>
            <a:off x="114300" y="73784"/>
            <a:ext cx="7886700" cy="546904"/>
          </a:xfrm>
          <a:prstGeom prst="rect">
            <a:avLst/>
          </a:prstGeom>
        </p:spPr>
        <p:txBody>
          <a:bodyPr anchor="ctr"/>
          <a:lstStyle>
            <a:lvl1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lang="en-CN" sz="2600" b="1" i="0" kern="0" dirty="0">
                <a:solidFill>
                  <a:srgbClr val="F0BD47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defRPr>
            </a:lvl1pPr>
            <a:lvl2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charset="0"/>
                <a:ea typeface="ＭＳ Ｐゴシック" pitchFamily="50" charset="-128"/>
                <a:cs typeface="ＭＳ Ｐゴシック" charset="-128"/>
              </a:defRPr>
            </a:lvl2pPr>
            <a:lvl3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charset="0"/>
                <a:ea typeface="ＭＳ Ｐゴシック" pitchFamily="50" charset="-128"/>
                <a:cs typeface="ＭＳ Ｐゴシック" charset="-128"/>
              </a:defRPr>
            </a:lvl3pPr>
            <a:lvl4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charset="0"/>
                <a:ea typeface="ＭＳ Ｐゴシック" pitchFamily="50" charset="-128"/>
                <a:cs typeface="ＭＳ Ｐゴシック" charset="-128"/>
              </a:defRPr>
            </a:lvl4pPr>
            <a:lvl5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charset="0"/>
                <a:ea typeface="ＭＳ Ｐゴシック" pitchFamily="50" charset="-128"/>
                <a:cs typeface="ＭＳ Ｐゴシック" charset="-128"/>
              </a:defRPr>
            </a:lvl5pPr>
            <a:lvl6pPr marL="457200"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itchFamily="34" charset="0"/>
                <a:ea typeface="ＭＳ Ｐゴシック" pitchFamily="50" charset="-128"/>
              </a:defRPr>
            </a:lvl6pPr>
            <a:lvl7pPr marL="914400"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itchFamily="34" charset="0"/>
                <a:ea typeface="ＭＳ Ｐゴシック" pitchFamily="50" charset="-128"/>
              </a:defRPr>
            </a:lvl7pPr>
            <a:lvl8pPr marL="1371600"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itchFamily="34" charset="0"/>
                <a:ea typeface="ＭＳ Ｐゴシック" pitchFamily="50" charset="-128"/>
              </a:defRPr>
            </a:lvl8pPr>
            <a:lvl9pPr marL="1828800"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itchFamily="34" charset="0"/>
                <a:ea typeface="ＭＳ Ｐゴシック" pitchFamily="50" charset="-128"/>
              </a:defRPr>
            </a:lvl9pPr>
          </a:lstStyle>
          <a:p>
            <a:r>
              <a:rPr lang="zh-CN" altLang="en-US" dirty="0"/>
              <a:t>词向量的基本思想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D243338-0143-564C-A6BE-8112B1D412B9}"/>
              </a:ext>
            </a:extLst>
          </p:cNvPr>
          <p:cNvSpPr txBox="1"/>
          <p:nvPr/>
        </p:nvSpPr>
        <p:spPr>
          <a:xfrm>
            <a:off x="1367691" y="4293096"/>
            <a:ext cx="41216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defTabSz="912813">
              <a:spcBef>
                <a:spcPct val="20000"/>
              </a:spcBef>
              <a:buClr>
                <a:srgbClr val="003D72"/>
              </a:buClr>
              <a:buSzPct val="120000"/>
              <a:buFont typeface="System Font Regular"/>
              <a:buChar char="▸"/>
            </a:pP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我</a:t>
            </a:r>
            <a:r>
              <a:rPr lang="zh-CN" altLang="en-US" sz="200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看见</a:t>
            </a: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一只</a:t>
            </a:r>
            <a:r>
              <a:rPr lang="zh-CN" altLang="en-US" sz="200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小猫</a:t>
            </a: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快速跑进了</a:t>
            </a:r>
            <a:r>
              <a:rPr lang="zh-CN" altLang="en-US" sz="200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教室</a:t>
            </a:r>
            <a:endParaRPr lang="en-US" altLang="zh-CN" sz="2000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  <a:cs typeface="Gill Sans"/>
            </a:endParaRPr>
          </a:p>
          <a:p>
            <a:pPr marL="342900" indent="-342900" defTabSz="912813">
              <a:spcBef>
                <a:spcPct val="20000"/>
              </a:spcBef>
              <a:buClr>
                <a:srgbClr val="003D72"/>
              </a:buClr>
              <a:buSzPct val="120000"/>
              <a:buFont typeface="System Font Regular"/>
              <a:buChar char="▸"/>
            </a:pP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我</a:t>
            </a:r>
            <a:r>
              <a:rPr lang="zh-CN" altLang="en-US" sz="200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发现</a:t>
            </a: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一只</a:t>
            </a:r>
            <a:r>
              <a:rPr lang="zh-CN" altLang="en-US" sz="200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小狗</a:t>
            </a: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快速跑进了</a:t>
            </a:r>
            <a:r>
              <a:rPr lang="zh-CN" altLang="en-US" sz="200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屋里</a:t>
            </a:r>
          </a:p>
        </p:txBody>
      </p:sp>
    </p:spTree>
    <p:extLst>
      <p:ext uri="{BB962C8B-B14F-4D97-AF65-F5344CB8AC3E}">
        <p14:creationId xmlns:p14="http://schemas.microsoft.com/office/powerpoint/2010/main" val="350649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3120" y="-1272664"/>
            <a:ext cx="7886700" cy="546904"/>
          </a:xfrm>
        </p:spPr>
        <p:txBody>
          <a:bodyPr/>
          <a:lstStyle/>
          <a:p>
            <a:r>
              <a:rPr lang="zh-CN" altLang="en-US" dirty="0"/>
              <a:t>词向量的</a:t>
            </a:r>
            <a:endParaRPr kumimoji="1" lang="zh-CN" altLang="en-US" dirty="0"/>
          </a:p>
        </p:txBody>
      </p:sp>
      <p:sp>
        <p:nvSpPr>
          <p:cNvPr id="11" name="标题 2">
            <a:extLst>
              <a:ext uri="{FF2B5EF4-FFF2-40B4-BE49-F238E27FC236}">
                <a16:creationId xmlns:a16="http://schemas.microsoft.com/office/drawing/2014/main" id="{2FAA91E7-BA25-A246-B011-10EB98B96B36}"/>
              </a:ext>
            </a:extLst>
          </p:cNvPr>
          <p:cNvSpPr txBox="1">
            <a:spLocks/>
          </p:cNvSpPr>
          <p:nvPr/>
        </p:nvSpPr>
        <p:spPr>
          <a:xfrm>
            <a:off x="114300" y="73784"/>
            <a:ext cx="7886700" cy="546904"/>
          </a:xfrm>
          <a:prstGeom prst="rect">
            <a:avLst/>
          </a:prstGeom>
        </p:spPr>
        <p:txBody>
          <a:bodyPr anchor="ctr"/>
          <a:lstStyle>
            <a:lvl1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lang="en-CN" sz="2600" b="1" i="0" kern="0" dirty="0">
                <a:solidFill>
                  <a:srgbClr val="F0BD47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defRPr>
            </a:lvl1pPr>
            <a:lvl2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charset="0"/>
                <a:ea typeface="ＭＳ Ｐゴシック" pitchFamily="50" charset="-128"/>
                <a:cs typeface="ＭＳ Ｐゴシック" charset="-128"/>
              </a:defRPr>
            </a:lvl2pPr>
            <a:lvl3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charset="0"/>
                <a:ea typeface="ＭＳ Ｐゴシック" pitchFamily="50" charset="-128"/>
                <a:cs typeface="ＭＳ Ｐゴシック" charset="-128"/>
              </a:defRPr>
            </a:lvl3pPr>
            <a:lvl4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charset="0"/>
                <a:ea typeface="ＭＳ Ｐゴシック" pitchFamily="50" charset="-128"/>
                <a:cs typeface="ＭＳ Ｐゴシック" charset="-128"/>
              </a:defRPr>
            </a:lvl4pPr>
            <a:lvl5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charset="0"/>
                <a:ea typeface="ＭＳ Ｐゴシック" pitchFamily="50" charset="-128"/>
                <a:cs typeface="ＭＳ Ｐゴシック" charset="-128"/>
              </a:defRPr>
            </a:lvl5pPr>
            <a:lvl6pPr marL="457200"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itchFamily="34" charset="0"/>
                <a:ea typeface="ＭＳ Ｐゴシック" pitchFamily="50" charset="-128"/>
              </a:defRPr>
            </a:lvl6pPr>
            <a:lvl7pPr marL="914400"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itchFamily="34" charset="0"/>
                <a:ea typeface="ＭＳ Ｐゴシック" pitchFamily="50" charset="-128"/>
              </a:defRPr>
            </a:lvl7pPr>
            <a:lvl8pPr marL="1371600"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itchFamily="34" charset="0"/>
                <a:ea typeface="ＭＳ Ｐゴシック" pitchFamily="50" charset="-128"/>
              </a:defRPr>
            </a:lvl8pPr>
            <a:lvl9pPr marL="1828800"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itchFamily="34" charset="0"/>
                <a:ea typeface="ＭＳ Ｐゴシック" pitchFamily="50" charset="-128"/>
              </a:defRPr>
            </a:lvl9pPr>
          </a:lstStyle>
          <a:p>
            <a:r>
              <a:rPr lang="zh-CN" altLang="en-US" dirty="0"/>
              <a:t>两种不同的词向量模型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DF7AD0-803E-AD47-9AE6-81F488667F53}"/>
              </a:ext>
            </a:extLst>
          </p:cNvPr>
          <p:cNvSpPr txBox="1"/>
          <p:nvPr/>
        </p:nvSpPr>
        <p:spPr>
          <a:xfrm>
            <a:off x="1691680" y="2586851"/>
            <a:ext cx="4352474" cy="400110"/>
          </a:xfrm>
          <a:prstGeom prst="rect">
            <a:avLst/>
          </a:prstGeom>
          <a:noFill/>
          <a:ln w="19050">
            <a:solidFill>
              <a:srgbClr val="002879"/>
            </a:solidFill>
          </a:ln>
        </p:spPr>
        <p:txBody>
          <a:bodyPr wrap="none" rtlCol="0">
            <a:spAutoFit/>
          </a:bodyPr>
          <a:lstStyle/>
          <a:p>
            <a:pPr defTabSz="912813">
              <a:spcBef>
                <a:spcPct val="20000"/>
              </a:spcBef>
              <a:buClr>
                <a:srgbClr val="003D72"/>
              </a:buClr>
              <a:buSzPct val="120000"/>
            </a:pP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我  看见  一只  </a:t>
            </a:r>
            <a:r>
              <a:rPr lang="zh-CN" altLang="en-US" sz="2000" dirty="0">
                <a:highlight>
                  <a:srgbClr val="FF0000"/>
                </a:highlight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    </a:t>
            </a:r>
            <a:r>
              <a:rPr lang="zh-CN" altLang="en-US" sz="200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  </a:t>
            </a: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快速  跑进 了  教室</a:t>
            </a:r>
            <a:endParaRPr lang="en-US" altLang="zh-CN" sz="2000" dirty="0">
              <a:latin typeface="STKaiti" panose="02010600040101010101" pitchFamily="2" charset="-122"/>
              <a:ea typeface="STKaiti" panose="02010600040101010101" pitchFamily="2" charset="-122"/>
              <a:cs typeface="Gill Sans"/>
            </a:endParaRPr>
          </a:p>
        </p:txBody>
      </p:sp>
      <p:sp>
        <p:nvSpPr>
          <p:cNvPr id="7" name="下箭头 6">
            <a:extLst>
              <a:ext uri="{FF2B5EF4-FFF2-40B4-BE49-F238E27FC236}">
                <a16:creationId xmlns:a16="http://schemas.microsoft.com/office/drawing/2014/main" id="{CA9A2A84-3EBA-2F4C-9EF9-76962E444BCD}"/>
              </a:ext>
            </a:extLst>
          </p:cNvPr>
          <p:cNvSpPr/>
          <p:nvPr/>
        </p:nvSpPr>
        <p:spPr bwMode="auto">
          <a:xfrm>
            <a:off x="3763137" y="4293096"/>
            <a:ext cx="232021" cy="576064"/>
          </a:xfrm>
          <a:prstGeom prst="downArrow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4D2072-2CEC-7549-8C30-B4335BFDCAA0}"/>
              </a:ext>
            </a:extLst>
          </p:cNvPr>
          <p:cNvSpPr txBox="1"/>
          <p:nvPr/>
        </p:nvSpPr>
        <p:spPr>
          <a:xfrm>
            <a:off x="3519108" y="119675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小猫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B8E5B7-B489-3F4A-A113-E21DE5D058B7}"/>
              </a:ext>
            </a:extLst>
          </p:cNvPr>
          <p:cNvSpPr txBox="1"/>
          <p:nvPr/>
        </p:nvSpPr>
        <p:spPr>
          <a:xfrm>
            <a:off x="3519104" y="377277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小猫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86C7C2E-95A0-7047-949E-EDFC19D09F16}"/>
              </a:ext>
            </a:extLst>
          </p:cNvPr>
          <p:cNvSpPr txBox="1"/>
          <p:nvPr/>
        </p:nvSpPr>
        <p:spPr>
          <a:xfrm>
            <a:off x="1895271" y="5134189"/>
            <a:ext cx="3967753" cy="400110"/>
          </a:xfrm>
          <a:prstGeom prst="rect">
            <a:avLst/>
          </a:prstGeom>
          <a:noFill/>
          <a:ln w="19050">
            <a:solidFill>
              <a:srgbClr val="002879"/>
            </a:solidFill>
          </a:ln>
        </p:spPr>
        <p:txBody>
          <a:bodyPr wrap="none" rtlCol="0">
            <a:spAutoFit/>
          </a:bodyPr>
          <a:lstStyle/>
          <a:p>
            <a:pPr defTabSz="912813">
              <a:spcBef>
                <a:spcPct val="20000"/>
              </a:spcBef>
              <a:buClr>
                <a:srgbClr val="003D72"/>
              </a:buClr>
              <a:buSzPct val="120000"/>
            </a:pP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我  看见  一只</a:t>
            </a:r>
            <a:r>
              <a:rPr lang="zh-CN" altLang="en-US" sz="200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 </a:t>
            </a: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快速  跑进 了  教室</a:t>
            </a:r>
            <a:endParaRPr lang="en-US" altLang="zh-CN" sz="2000" dirty="0">
              <a:latin typeface="STKaiti" panose="02010600040101010101" pitchFamily="2" charset="-122"/>
              <a:ea typeface="STKaiti" panose="02010600040101010101" pitchFamily="2" charset="-122"/>
              <a:cs typeface="Gill Sans"/>
            </a:endParaRPr>
          </a:p>
        </p:txBody>
      </p:sp>
      <p:sp>
        <p:nvSpPr>
          <p:cNvPr id="15" name="下箭头 14">
            <a:extLst>
              <a:ext uri="{FF2B5EF4-FFF2-40B4-BE49-F238E27FC236}">
                <a16:creationId xmlns:a16="http://schemas.microsoft.com/office/drawing/2014/main" id="{E0F7421A-BDDB-BF4C-AE06-82FB7A420C55}"/>
              </a:ext>
            </a:extLst>
          </p:cNvPr>
          <p:cNvSpPr/>
          <p:nvPr/>
        </p:nvSpPr>
        <p:spPr bwMode="auto">
          <a:xfrm rot="10800000">
            <a:off x="3751908" y="1806611"/>
            <a:ext cx="232021" cy="576064"/>
          </a:xfrm>
          <a:prstGeom prst="downArrow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216055-4277-5E42-AA2E-29F9C38076C1}"/>
              </a:ext>
            </a:extLst>
          </p:cNvPr>
          <p:cNvSpPr txBox="1"/>
          <p:nvPr/>
        </p:nvSpPr>
        <p:spPr>
          <a:xfrm>
            <a:off x="3970959" y="1904388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用上下文预测当前词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1278F2-FA9E-3C44-A501-13AADF7A373B}"/>
              </a:ext>
            </a:extLst>
          </p:cNvPr>
          <p:cNvSpPr txBox="1"/>
          <p:nvPr/>
        </p:nvSpPr>
        <p:spPr>
          <a:xfrm>
            <a:off x="3961718" y="4335655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用当前词预测上下文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C2F992E-DB88-EA46-92B3-A20494156D03}"/>
              </a:ext>
            </a:extLst>
          </p:cNvPr>
          <p:cNvSpPr txBox="1"/>
          <p:nvPr/>
        </p:nvSpPr>
        <p:spPr>
          <a:xfrm>
            <a:off x="6230819" y="1904388"/>
            <a:ext cx="19688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（</a:t>
            </a:r>
            <a:r>
              <a:rPr kumimoji="1" lang="en-US" altLang="zh-CN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CBOW</a:t>
            </a:r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模型）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A5CEFED-B92F-DE4C-9F85-DC00B5648DAB}"/>
              </a:ext>
            </a:extLst>
          </p:cNvPr>
          <p:cNvSpPr txBox="1"/>
          <p:nvPr/>
        </p:nvSpPr>
        <p:spPr>
          <a:xfrm>
            <a:off x="6179949" y="4335655"/>
            <a:ext cx="2310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（</a:t>
            </a:r>
            <a:r>
              <a:rPr kumimoji="1" lang="en-US" altLang="zh-CN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S</a:t>
            </a:r>
            <a:r>
              <a:rPr lang="en-US" altLang="zh-CN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kip-gram</a:t>
            </a:r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模型）</a:t>
            </a:r>
          </a:p>
        </p:txBody>
      </p:sp>
    </p:spTree>
    <p:extLst>
      <p:ext uri="{BB962C8B-B14F-4D97-AF65-F5344CB8AC3E}">
        <p14:creationId xmlns:p14="http://schemas.microsoft.com/office/powerpoint/2010/main" val="3764803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3120" y="-1272664"/>
            <a:ext cx="7886700" cy="546904"/>
          </a:xfrm>
        </p:spPr>
        <p:txBody>
          <a:bodyPr/>
          <a:lstStyle/>
          <a:p>
            <a:r>
              <a:rPr lang="zh-CN" altLang="en-US" dirty="0"/>
              <a:t>词向量的</a:t>
            </a:r>
            <a:endParaRPr kumimoji="1" lang="zh-CN" altLang="en-US" dirty="0"/>
          </a:p>
        </p:txBody>
      </p:sp>
      <p:sp>
        <p:nvSpPr>
          <p:cNvPr id="11" name="标题 2">
            <a:extLst>
              <a:ext uri="{FF2B5EF4-FFF2-40B4-BE49-F238E27FC236}">
                <a16:creationId xmlns:a16="http://schemas.microsoft.com/office/drawing/2014/main" id="{2FAA91E7-BA25-A246-B011-10EB98B96B36}"/>
              </a:ext>
            </a:extLst>
          </p:cNvPr>
          <p:cNvSpPr txBox="1">
            <a:spLocks/>
          </p:cNvSpPr>
          <p:nvPr/>
        </p:nvSpPr>
        <p:spPr>
          <a:xfrm>
            <a:off x="114300" y="73784"/>
            <a:ext cx="7886700" cy="546904"/>
          </a:xfrm>
          <a:prstGeom prst="rect">
            <a:avLst/>
          </a:prstGeom>
        </p:spPr>
        <p:txBody>
          <a:bodyPr anchor="ctr"/>
          <a:lstStyle>
            <a:lvl1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lang="en-CN" sz="2600" b="1" i="0" kern="0" dirty="0">
                <a:solidFill>
                  <a:srgbClr val="F0BD47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defRPr>
            </a:lvl1pPr>
            <a:lvl2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charset="0"/>
                <a:ea typeface="ＭＳ Ｐゴシック" pitchFamily="50" charset="-128"/>
                <a:cs typeface="ＭＳ Ｐゴシック" charset="-128"/>
              </a:defRPr>
            </a:lvl2pPr>
            <a:lvl3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charset="0"/>
                <a:ea typeface="ＭＳ Ｐゴシック" pitchFamily="50" charset="-128"/>
                <a:cs typeface="ＭＳ Ｐゴシック" charset="-128"/>
              </a:defRPr>
            </a:lvl3pPr>
            <a:lvl4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charset="0"/>
                <a:ea typeface="ＭＳ Ｐゴシック" pitchFamily="50" charset="-128"/>
                <a:cs typeface="ＭＳ Ｐゴシック" charset="-128"/>
              </a:defRPr>
            </a:lvl4pPr>
            <a:lvl5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charset="0"/>
                <a:ea typeface="ＭＳ Ｐゴシック" pitchFamily="50" charset="-128"/>
                <a:cs typeface="ＭＳ Ｐゴシック" charset="-128"/>
              </a:defRPr>
            </a:lvl5pPr>
            <a:lvl6pPr marL="457200"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itchFamily="34" charset="0"/>
                <a:ea typeface="ＭＳ Ｐゴシック" pitchFamily="50" charset="-128"/>
              </a:defRPr>
            </a:lvl6pPr>
            <a:lvl7pPr marL="914400"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itchFamily="34" charset="0"/>
                <a:ea typeface="ＭＳ Ｐゴシック" pitchFamily="50" charset="-128"/>
              </a:defRPr>
            </a:lvl7pPr>
            <a:lvl8pPr marL="1371600"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itchFamily="34" charset="0"/>
                <a:ea typeface="ＭＳ Ｐゴシック" pitchFamily="50" charset="-128"/>
              </a:defRPr>
            </a:lvl8pPr>
            <a:lvl9pPr marL="1828800"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itchFamily="34" charset="0"/>
                <a:ea typeface="ＭＳ Ｐゴシック" pitchFamily="50" charset="-128"/>
              </a:defRPr>
            </a:lvl9pPr>
          </a:lstStyle>
          <a:p>
            <a:r>
              <a:rPr lang="en-US" altLang="zh-CN" dirty="0"/>
              <a:t>CBOW</a:t>
            </a:r>
            <a:r>
              <a:rPr lang="zh-CN" altLang="en-US" dirty="0"/>
              <a:t>模型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DF7AD0-803E-AD47-9AE6-81F488667F53}"/>
              </a:ext>
            </a:extLst>
          </p:cNvPr>
          <p:cNvSpPr txBox="1"/>
          <p:nvPr/>
        </p:nvSpPr>
        <p:spPr>
          <a:xfrm>
            <a:off x="1691680" y="2586851"/>
            <a:ext cx="4352474" cy="400110"/>
          </a:xfrm>
          <a:prstGeom prst="rect">
            <a:avLst/>
          </a:prstGeom>
          <a:noFill/>
          <a:ln w="19050">
            <a:solidFill>
              <a:srgbClr val="002879"/>
            </a:solidFill>
          </a:ln>
        </p:spPr>
        <p:txBody>
          <a:bodyPr wrap="none" rtlCol="0">
            <a:spAutoFit/>
          </a:bodyPr>
          <a:lstStyle/>
          <a:p>
            <a:pPr defTabSz="912813">
              <a:spcBef>
                <a:spcPct val="20000"/>
              </a:spcBef>
              <a:buClr>
                <a:srgbClr val="003D72"/>
              </a:buClr>
              <a:buSzPct val="120000"/>
            </a:pP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我  看见  一只  </a:t>
            </a:r>
            <a:r>
              <a:rPr lang="zh-CN" altLang="en-US" sz="2000" dirty="0">
                <a:highlight>
                  <a:srgbClr val="FF0000"/>
                </a:highlight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    </a:t>
            </a:r>
            <a:r>
              <a:rPr lang="zh-CN" altLang="en-US" sz="200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  </a:t>
            </a: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快速  跑进 了  教室</a:t>
            </a:r>
            <a:endParaRPr lang="en-US" altLang="zh-CN" sz="2000" dirty="0">
              <a:latin typeface="STKaiti" panose="02010600040101010101" pitchFamily="2" charset="-122"/>
              <a:ea typeface="STKaiti" panose="02010600040101010101" pitchFamily="2" charset="-122"/>
              <a:cs typeface="Gill Sans"/>
            </a:endParaRPr>
          </a:p>
        </p:txBody>
      </p:sp>
      <p:sp>
        <p:nvSpPr>
          <p:cNvPr id="7" name="下箭头 6">
            <a:extLst>
              <a:ext uri="{FF2B5EF4-FFF2-40B4-BE49-F238E27FC236}">
                <a16:creationId xmlns:a16="http://schemas.microsoft.com/office/drawing/2014/main" id="{CA9A2A84-3EBA-2F4C-9EF9-76962E444BCD}"/>
              </a:ext>
            </a:extLst>
          </p:cNvPr>
          <p:cNvSpPr/>
          <p:nvPr/>
        </p:nvSpPr>
        <p:spPr bwMode="auto">
          <a:xfrm>
            <a:off x="3763137" y="4293096"/>
            <a:ext cx="232021" cy="576064"/>
          </a:xfrm>
          <a:prstGeom prst="downArrow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4D2072-2CEC-7549-8C30-B4335BFDCAA0}"/>
              </a:ext>
            </a:extLst>
          </p:cNvPr>
          <p:cNvSpPr txBox="1"/>
          <p:nvPr/>
        </p:nvSpPr>
        <p:spPr>
          <a:xfrm>
            <a:off x="3519108" y="119675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小猫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B8E5B7-B489-3F4A-A113-E21DE5D058B7}"/>
              </a:ext>
            </a:extLst>
          </p:cNvPr>
          <p:cNvSpPr txBox="1"/>
          <p:nvPr/>
        </p:nvSpPr>
        <p:spPr>
          <a:xfrm>
            <a:off x="3519104" y="377277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小猫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86C7C2E-95A0-7047-949E-EDFC19D09F16}"/>
              </a:ext>
            </a:extLst>
          </p:cNvPr>
          <p:cNvSpPr txBox="1"/>
          <p:nvPr/>
        </p:nvSpPr>
        <p:spPr>
          <a:xfrm>
            <a:off x="1895271" y="5134189"/>
            <a:ext cx="3967753" cy="400110"/>
          </a:xfrm>
          <a:prstGeom prst="rect">
            <a:avLst/>
          </a:prstGeom>
          <a:noFill/>
          <a:ln w="19050">
            <a:solidFill>
              <a:srgbClr val="002879"/>
            </a:solidFill>
          </a:ln>
        </p:spPr>
        <p:txBody>
          <a:bodyPr wrap="none" rtlCol="0">
            <a:spAutoFit/>
          </a:bodyPr>
          <a:lstStyle/>
          <a:p>
            <a:pPr defTabSz="912813">
              <a:spcBef>
                <a:spcPct val="20000"/>
              </a:spcBef>
              <a:buClr>
                <a:srgbClr val="003D72"/>
              </a:buClr>
              <a:buSzPct val="120000"/>
            </a:pP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我  看见  一只</a:t>
            </a:r>
            <a:r>
              <a:rPr lang="zh-CN" altLang="en-US" sz="200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 </a:t>
            </a: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快速  跑进 了  教室</a:t>
            </a:r>
            <a:endParaRPr lang="en-US" altLang="zh-CN" sz="2000" dirty="0">
              <a:latin typeface="STKaiti" panose="02010600040101010101" pitchFamily="2" charset="-122"/>
              <a:ea typeface="STKaiti" panose="02010600040101010101" pitchFamily="2" charset="-122"/>
              <a:cs typeface="Gill Sans"/>
            </a:endParaRPr>
          </a:p>
        </p:txBody>
      </p:sp>
      <p:sp>
        <p:nvSpPr>
          <p:cNvPr id="15" name="下箭头 14">
            <a:extLst>
              <a:ext uri="{FF2B5EF4-FFF2-40B4-BE49-F238E27FC236}">
                <a16:creationId xmlns:a16="http://schemas.microsoft.com/office/drawing/2014/main" id="{E0F7421A-BDDB-BF4C-AE06-82FB7A420C55}"/>
              </a:ext>
            </a:extLst>
          </p:cNvPr>
          <p:cNvSpPr/>
          <p:nvPr/>
        </p:nvSpPr>
        <p:spPr bwMode="auto">
          <a:xfrm rot="10800000">
            <a:off x="3751908" y="1806611"/>
            <a:ext cx="232021" cy="576064"/>
          </a:xfrm>
          <a:prstGeom prst="downArrow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216055-4277-5E42-AA2E-29F9C38076C1}"/>
              </a:ext>
            </a:extLst>
          </p:cNvPr>
          <p:cNvSpPr txBox="1"/>
          <p:nvPr/>
        </p:nvSpPr>
        <p:spPr>
          <a:xfrm>
            <a:off x="3970959" y="1904388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用上下文预测当前词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1278F2-FA9E-3C44-A501-13AADF7A373B}"/>
              </a:ext>
            </a:extLst>
          </p:cNvPr>
          <p:cNvSpPr txBox="1"/>
          <p:nvPr/>
        </p:nvSpPr>
        <p:spPr>
          <a:xfrm>
            <a:off x="3961718" y="4335655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用当前词预测上下文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C2F992E-DB88-EA46-92B3-A20494156D03}"/>
              </a:ext>
            </a:extLst>
          </p:cNvPr>
          <p:cNvSpPr txBox="1"/>
          <p:nvPr/>
        </p:nvSpPr>
        <p:spPr>
          <a:xfrm>
            <a:off x="6230819" y="1904388"/>
            <a:ext cx="19688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（</a:t>
            </a:r>
            <a:r>
              <a:rPr kumimoji="1" lang="en-US" altLang="zh-CN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CBOW</a:t>
            </a:r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模型）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A5CEFED-B92F-DE4C-9F85-DC00B5648DAB}"/>
              </a:ext>
            </a:extLst>
          </p:cNvPr>
          <p:cNvSpPr txBox="1"/>
          <p:nvPr/>
        </p:nvSpPr>
        <p:spPr>
          <a:xfrm>
            <a:off x="6179949" y="4335655"/>
            <a:ext cx="2310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（</a:t>
            </a:r>
            <a:r>
              <a:rPr kumimoji="1" lang="en-US" altLang="zh-CN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S</a:t>
            </a:r>
            <a:r>
              <a:rPr lang="en-US" altLang="zh-CN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kip-gram</a:t>
            </a:r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模型）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921D287-C7DC-9540-B449-B0E28FE0F2CD}"/>
              </a:ext>
            </a:extLst>
          </p:cNvPr>
          <p:cNvSpPr/>
          <p:nvPr/>
        </p:nvSpPr>
        <p:spPr bwMode="auto">
          <a:xfrm>
            <a:off x="533400" y="3861048"/>
            <a:ext cx="8071048" cy="2304256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36433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3120" y="-1272664"/>
            <a:ext cx="7886700" cy="546904"/>
          </a:xfrm>
        </p:spPr>
        <p:txBody>
          <a:bodyPr/>
          <a:lstStyle/>
          <a:p>
            <a:r>
              <a:rPr lang="zh-CN" altLang="en-US" dirty="0"/>
              <a:t>词向量的</a:t>
            </a:r>
            <a:endParaRPr kumimoji="1" lang="zh-CN" altLang="en-US" dirty="0"/>
          </a:p>
        </p:txBody>
      </p:sp>
      <p:sp>
        <p:nvSpPr>
          <p:cNvPr id="11" name="标题 2">
            <a:extLst>
              <a:ext uri="{FF2B5EF4-FFF2-40B4-BE49-F238E27FC236}">
                <a16:creationId xmlns:a16="http://schemas.microsoft.com/office/drawing/2014/main" id="{2FAA91E7-BA25-A246-B011-10EB98B96B36}"/>
              </a:ext>
            </a:extLst>
          </p:cNvPr>
          <p:cNvSpPr txBox="1">
            <a:spLocks/>
          </p:cNvSpPr>
          <p:nvPr/>
        </p:nvSpPr>
        <p:spPr>
          <a:xfrm>
            <a:off x="114300" y="73784"/>
            <a:ext cx="7886700" cy="546904"/>
          </a:xfrm>
          <a:prstGeom prst="rect">
            <a:avLst/>
          </a:prstGeom>
        </p:spPr>
        <p:txBody>
          <a:bodyPr anchor="ctr"/>
          <a:lstStyle>
            <a:lvl1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lang="en-CN" sz="2600" b="1" i="0" kern="0" dirty="0">
                <a:solidFill>
                  <a:srgbClr val="F0BD47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defRPr>
            </a:lvl1pPr>
            <a:lvl2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charset="0"/>
                <a:ea typeface="ＭＳ Ｐゴシック" pitchFamily="50" charset="-128"/>
                <a:cs typeface="ＭＳ Ｐゴシック" charset="-128"/>
              </a:defRPr>
            </a:lvl2pPr>
            <a:lvl3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charset="0"/>
                <a:ea typeface="ＭＳ Ｐゴシック" pitchFamily="50" charset="-128"/>
                <a:cs typeface="ＭＳ Ｐゴシック" charset="-128"/>
              </a:defRPr>
            </a:lvl3pPr>
            <a:lvl4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charset="0"/>
                <a:ea typeface="ＭＳ Ｐゴシック" pitchFamily="50" charset="-128"/>
                <a:cs typeface="ＭＳ Ｐゴシック" charset="-128"/>
              </a:defRPr>
            </a:lvl4pPr>
            <a:lvl5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charset="0"/>
                <a:ea typeface="ＭＳ Ｐゴシック" pitchFamily="50" charset="-128"/>
                <a:cs typeface="ＭＳ Ｐゴシック" charset="-128"/>
              </a:defRPr>
            </a:lvl5pPr>
            <a:lvl6pPr marL="457200"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itchFamily="34" charset="0"/>
                <a:ea typeface="ＭＳ Ｐゴシック" pitchFamily="50" charset="-128"/>
              </a:defRPr>
            </a:lvl6pPr>
            <a:lvl7pPr marL="914400"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itchFamily="34" charset="0"/>
                <a:ea typeface="ＭＳ Ｐゴシック" pitchFamily="50" charset="-128"/>
              </a:defRPr>
            </a:lvl7pPr>
            <a:lvl8pPr marL="1371600"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itchFamily="34" charset="0"/>
                <a:ea typeface="ＭＳ Ｐゴシック" pitchFamily="50" charset="-128"/>
              </a:defRPr>
            </a:lvl8pPr>
            <a:lvl9pPr marL="1828800"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itchFamily="34" charset="0"/>
                <a:ea typeface="ＭＳ Ｐゴシック" pitchFamily="50" charset="-128"/>
              </a:defRPr>
            </a:lvl9pPr>
          </a:lstStyle>
          <a:p>
            <a:r>
              <a:rPr lang="en-US" altLang="zh-CN" dirty="0"/>
              <a:t>CBOW</a:t>
            </a:r>
            <a:r>
              <a:rPr lang="zh-CN" altLang="en-US" dirty="0"/>
              <a:t>模型：考虑只有一个上文词的特殊情况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DF7AD0-803E-AD47-9AE6-81F488667F53}"/>
              </a:ext>
            </a:extLst>
          </p:cNvPr>
          <p:cNvSpPr txBox="1"/>
          <p:nvPr/>
        </p:nvSpPr>
        <p:spPr>
          <a:xfrm>
            <a:off x="1691680" y="2586851"/>
            <a:ext cx="4352474" cy="400110"/>
          </a:xfrm>
          <a:prstGeom prst="rect">
            <a:avLst/>
          </a:prstGeom>
          <a:noFill/>
          <a:ln w="19050">
            <a:solidFill>
              <a:srgbClr val="002879"/>
            </a:solidFill>
          </a:ln>
        </p:spPr>
        <p:txBody>
          <a:bodyPr wrap="none" rtlCol="0">
            <a:spAutoFit/>
          </a:bodyPr>
          <a:lstStyle/>
          <a:p>
            <a:pPr defTabSz="912813">
              <a:spcBef>
                <a:spcPct val="20000"/>
              </a:spcBef>
              <a:buClr>
                <a:srgbClr val="003D72"/>
              </a:buClr>
              <a:buSzPct val="120000"/>
            </a:pPr>
            <a:r>
              <a:rPr lang="zh-CN" altLang="en-US" sz="2000" strike="sngStrike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我  看见  </a:t>
            </a: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一只  </a:t>
            </a:r>
            <a:r>
              <a:rPr lang="zh-CN" altLang="en-US" sz="2000" dirty="0">
                <a:highlight>
                  <a:srgbClr val="FF0000"/>
                </a:highlight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    </a:t>
            </a:r>
            <a:r>
              <a:rPr lang="zh-CN" altLang="en-US" sz="200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  </a:t>
            </a:r>
            <a:r>
              <a:rPr lang="zh-CN" altLang="en-US" sz="2000" strike="sngStrike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快速  跑进 了  教室</a:t>
            </a:r>
            <a:endParaRPr lang="en-US" altLang="zh-CN" sz="2000" strike="sngStrike" dirty="0">
              <a:latin typeface="STKaiti" panose="02010600040101010101" pitchFamily="2" charset="-122"/>
              <a:ea typeface="STKaiti" panose="02010600040101010101" pitchFamily="2" charset="-122"/>
              <a:cs typeface="Gill Sans"/>
            </a:endParaRPr>
          </a:p>
        </p:txBody>
      </p:sp>
      <p:sp>
        <p:nvSpPr>
          <p:cNvPr id="7" name="下箭头 6">
            <a:extLst>
              <a:ext uri="{FF2B5EF4-FFF2-40B4-BE49-F238E27FC236}">
                <a16:creationId xmlns:a16="http://schemas.microsoft.com/office/drawing/2014/main" id="{CA9A2A84-3EBA-2F4C-9EF9-76962E444BCD}"/>
              </a:ext>
            </a:extLst>
          </p:cNvPr>
          <p:cNvSpPr/>
          <p:nvPr/>
        </p:nvSpPr>
        <p:spPr bwMode="auto">
          <a:xfrm>
            <a:off x="3763137" y="4293096"/>
            <a:ext cx="232021" cy="576064"/>
          </a:xfrm>
          <a:prstGeom prst="downArrow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4D2072-2CEC-7549-8C30-B4335BFDCAA0}"/>
              </a:ext>
            </a:extLst>
          </p:cNvPr>
          <p:cNvSpPr txBox="1"/>
          <p:nvPr/>
        </p:nvSpPr>
        <p:spPr>
          <a:xfrm>
            <a:off x="3519108" y="119675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小猫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B8E5B7-B489-3F4A-A113-E21DE5D058B7}"/>
              </a:ext>
            </a:extLst>
          </p:cNvPr>
          <p:cNvSpPr txBox="1"/>
          <p:nvPr/>
        </p:nvSpPr>
        <p:spPr>
          <a:xfrm>
            <a:off x="3519104" y="377277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小猫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86C7C2E-95A0-7047-949E-EDFC19D09F16}"/>
              </a:ext>
            </a:extLst>
          </p:cNvPr>
          <p:cNvSpPr txBox="1"/>
          <p:nvPr/>
        </p:nvSpPr>
        <p:spPr>
          <a:xfrm>
            <a:off x="1895271" y="5134189"/>
            <a:ext cx="3967753" cy="400110"/>
          </a:xfrm>
          <a:prstGeom prst="rect">
            <a:avLst/>
          </a:prstGeom>
          <a:noFill/>
          <a:ln w="19050">
            <a:solidFill>
              <a:srgbClr val="002879"/>
            </a:solidFill>
          </a:ln>
        </p:spPr>
        <p:txBody>
          <a:bodyPr wrap="none" rtlCol="0">
            <a:spAutoFit/>
          </a:bodyPr>
          <a:lstStyle/>
          <a:p>
            <a:pPr defTabSz="912813">
              <a:spcBef>
                <a:spcPct val="20000"/>
              </a:spcBef>
              <a:buClr>
                <a:srgbClr val="003D72"/>
              </a:buClr>
              <a:buSzPct val="120000"/>
            </a:pP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我  看见  一只</a:t>
            </a:r>
            <a:r>
              <a:rPr lang="zh-CN" altLang="en-US" sz="200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 </a:t>
            </a: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快速  跑进 了  教室</a:t>
            </a:r>
            <a:endParaRPr lang="en-US" altLang="zh-CN" sz="2000" dirty="0">
              <a:latin typeface="STKaiti" panose="02010600040101010101" pitchFamily="2" charset="-122"/>
              <a:ea typeface="STKaiti" panose="02010600040101010101" pitchFamily="2" charset="-122"/>
              <a:cs typeface="Gill Sans"/>
            </a:endParaRPr>
          </a:p>
        </p:txBody>
      </p:sp>
      <p:sp>
        <p:nvSpPr>
          <p:cNvPr id="15" name="下箭头 14">
            <a:extLst>
              <a:ext uri="{FF2B5EF4-FFF2-40B4-BE49-F238E27FC236}">
                <a16:creationId xmlns:a16="http://schemas.microsoft.com/office/drawing/2014/main" id="{E0F7421A-BDDB-BF4C-AE06-82FB7A420C55}"/>
              </a:ext>
            </a:extLst>
          </p:cNvPr>
          <p:cNvSpPr/>
          <p:nvPr/>
        </p:nvSpPr>
        <p:spPr bwMode="auto">
          <a:xfrm rot="10800000">
            <a:off x="3751908" y="1806611"/>
            <a:ext cx="232021" cy="576064"/>
          </a:xfrm>
          <a:prstGeom prst="downArrow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216055-4277-5E42-AA2E-29F9C38076C1}"/>
              </a:ext>
            </a:extLst>
          </p:cNvPr>
          <p:cNvSpPr txBox="1"/>
          <p:nvPr/>
        </p:nvSpPr>
        <p:spPr>
          <a:xfrm>
            <a:off x="3970959" y="1904388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用上下文预测当前词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1278F2-FA9E-3C44-A501-13AADF7A373B}"/>
              </a:ext>
            </a:extLst>
          </p:cNvPr>
          <p:cNvSpPr txBox="1"/>
          <p:nvPr/>
        </p:nvSpPr>
        <p:spPr>
          <a:xfrm>
            <a:off x="3961718" y="4335655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用当前词预测上下文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C2F992E-DB88-EA46-92B3-A20494156D03}"/>
              </a:ext>
            </a:extLst>
          </p:cNvPr>
          <p:cNvSpPr txBox="1"/>
          <p:nvPr/>
        </p:nvSpPr>
        <p:spPr>
          <a:xfrm>
            <a:off x="6230819" y="1904388"/>
            <a:ext cx="19688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（</a:t>
            </a:r>
            <a:r>
              <a:rPr kumimoji="1" lang="en-US" altLang="zh-CN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CBOW</a:t>
            </a:r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模型）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A5CEFED-B92F-DE4C-9F85-DC00B5648DAB}"/>
              </a:ext>
            </a:extLst>
          </p:cNvPr>
          <p:cNvSpPr txBox="1"/>
          <p:nvPr/>
        </p:nvSpPr>
        <p:spPr>
          <a:xfrm>
            <a:off x="6179949" y="4335655"/>
            <a:ext cx="2310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（</a:t>
            </a:r>
            <a:r>
              <a:rPr kumimoji="1" lang="en-US" altLang="zh-CN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S</a:t>
            </a:r>
            <a:r>
              <a:rPr lang="en-US" altLang="zh-CN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kip-gram</a:t>
            </a:r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模型）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921D287-C7DC-9540-B449-B0E28FE0F2CD}"/>
              </a:ext>
            </a:extLst>
          </p:cNvPr>
          <p:cNvSpPr/>
          <p:nvPr/>
        </p:nvSpPr>
        <p:spPr bwMode="auto">
          <a:xfrm>
            <a:off x="533400" y="3861048"/>
            <a:ext cx="8071048" cy="2304256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2745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CBOW</a:t>
            </a:r>
            <a:r>
              <a:rPr lang="zh-CN" altLang="en-US" dirty="0"/>
              <a:t>模型：考虑只有一个上文词的特殊情况</a:t>
            </a:r>
            <a:endParaRPr kumimoji="1" lang="zh-CN" altLang="en-US" dirty="0"/>
          </a:p>
        </p:txBody>
      </p:sp>
      <p:sp>
        <p:nvSpPr>
          <p:cNvPr id="4" name="梯形 3">
            <a:extLst>
              <a:ext uri="{FF2B5EF4-FFF2-40B4-BE49-F238E27FC236}">
                <a16:creationId xmlns:a16="http://schemas.microsoft.com/office/drawing/2014/main" id="{F82FC0F3-F1A8-454E-8D8F-ACEE9103B3DE}"/>
              </a:ext>
            </a:extLst>
          </p:cNvPr>
          <p:cNvSpPr/>
          <p:nvPr/>
        </p:nvSpPr>
        <p:spPr bwMode="auto">
          <a:xfrm rot="5400000">
            <a:off x="2577159" y="1818663"/>
            <a:ext cx="2333498" cy="1656184"/>
          </a:xfrm>
          <a:prstGeom prst="trapezoi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5" name="梯形 44">
            <a:extLst>
              <a:ext uri="{FF2B5EF4-FFF2-40B4-BE49-F238E27FC236}">
                <a16:creationId xmlns:a16="http://schemas.microsoft.com/office/drawing/2014/main" id="{B5505625-CA44-2646-BFBD-D656BC52EA8B}"/>
              </a:ext>
            </a:extLst>
          </p:cNvPr>
          <p:cNvSpPr/>
          <p:nvPr/>
        </p:nvSpPr>
        <p:spPr bwMode="auto">
          <a:xfrm rot="16200000">
            <a:off x="4230594" y="1831707"/>
            <a:ext cx="2338998" cy="1656184"/>
          </a:xfrm>
          <a:prstGeom prst="trapezoid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A35E648-D53F-4C4B-A08A-F58B861B7397}"/>
              </a:ext>
            </a:extLst>
          </p:cNvPr>
          <p:cNvGrpSpPr/>
          <p:nvPr/>
        </p:nvGrpSpPr>
        <p:grpSpPr>
          <a:xfrm>
            <a:off x="2675158" y="1453034"/>
            <a:ext cx="312666" cy="2360468"/>
            <a:chOff x="2627784" y="908720"/>
            <a:chExt cx="312666" cy="2360468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594846E-A3E5-4E4C-AB14-0D3649C4B674}"/>
                </a:ext>
              </a:extLst>
            </p:cNvPr>
            <p:cNvSpPr/>
            <p:nvPr/>
          </p:nvSpPr>
          <p:spPr bwMode="auto">
            <a:xfrm>
              <a:off x="2627784" y="908720"/>
              <a:ext cx="288032" cy="23604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3D46F09B-D28D-5C4E-AD71-070E183F4210}"/>
                </a:ext>
              </a:extLst>
            </p:cNvPr>
            <p:cNvSpPr/>
            <p:nvPr/>
          </p:nvSpPr>
          <p:spPr bwMode="auto">
            <a:xfrm>
              <a:off x="2663787" y="9807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0D3EE5F0-230C-F249-8406-1CDE56A83AAC}"/>
                </a:ext>
              </a:extLst>
            </p:cNvPr>
            <p:cNvSpPr/>
            <p:nvPr/>
          </p:nvSpPr>
          <p:spPr bwMode="auto">
            <a:xfrm>
              <a:off x="2673404" y="12855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E2BFD665-33BD-F841-8AB3-DA63FFF5E353}"/>
                </a:ext>
              </a:extLst>
            </p:cNvPr>
            <p:cNvSpPr/>
            <p:nvPr/>
          </p:nvSpPr>
          <p:spPr bwMode="auto">
            <a:xfrm>
              <a:off x="2673403" y="1988840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CF3464F8-FBFD-6641-A302-CC3FAFABA75C}"/>
                </a:ext>
              </a:extLst>
            </p:cNvPr>
            <p:cNvSpPr/>
            <p:nvPr/>
          </p:nvSpPr>
          <p:spPr bwMode="auto">
            <a:xfrm>
              <a:off x="2663787" y="2708920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B72FA0D-3809-7D4B-8E54-C811CF2AF2D7}"/>
                </a:ext>
              </a:extLst>
            </p:cNvPr>
            <p:cNvSpPr/>
            <p:nvPr/>
          </p:nvSpPr>
          <p:spPr bwMode="auto">
            <a:xfrm>
              <a:off x="2663786" y="2982606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621E643-DA5E-2D44-810F-E24230CB52A3}"/>
                </a:ext>
              </a:extLst>
            </p:cNvPr>
            <p:cNvGrpSpPr/>
            <p:nvPr/>
          </p:nvGrpSpPr>
          <p:grpSpPr>
            <a:xfrm>
              <a:off x="2652418" y="1327135"/>
              <a:ext cx="288032" cy="672173"/>
              <a:chOff x="1691680" y="3573016"/>
              <a:chExt cx="288032" cy="672173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09C6A32-62BD-564F-BC33-FF11935BA746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F1CC4CA-823C-4349-B812-2300FE5403C3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09E78BCC-E56B-C247-9D10-2A35F123F576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3D7B52C1-0B03-9141-BFBB-03BBC6F063B0}"/>
                </a:ext>
              </a:extLst>
            </p:cNvPr>
            <p:cNvGrpSpPr/>
            <p:nvPr/>
          </p:nvGrpSpPr>
          <p:grpSpPr>
            <a:xfrm>
              <a:off x="2652234" y="2035861"/>
              <a:ext cx="288032" cy="672173"/>
              <a:chOff x="1691680" y="3573016"/>
              <a:chExt cx="288032" cy="672173"/>
            </a:xfrm>
          </p:grpSpPr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EE66E474-936A-ED45-9CB8-CDE35D734013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C14C3F4-335A-6C41-B7AC-FC2200D1938F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F22CCC57-CB93-574C-9FE0-203B2A484A21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</p:grp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1749A54-37BE-544E-8BEF-87D31D55A536}"/>
              </a:ext>
            </a:extLst>
          </p:cNvPr>
          <p:cNvCxnSpPr/>
          <p:nvPr/>
        </p:nvCxnSpPr>
        <p:spPr bwMode="auto">
          <a:xfrm>
            <a:off x="3935167" y="4014319"/>
            <a:ext cx="122413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2AEC97DD-A83F-C441-BCCF-21CDF72705AA}"/>
              </a:ext>
            </a:extLst>
          </p:cNvPr>
          <p:cNvGrpSpPr/>
          <p:nvPr/>
        </p:nvGrpSpPr>
        <p:grpSpPr>
          <a:xfrm>
            <a:off x="6222137" y="1480006"/>
            <a:ext cx="312666" cy="2360468"/>
            <a:chOff x="2627784" y="908720"/>
            <a:chExt cx="312666" cy="2360468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F61A3483-5912-F047-9EF1-F6220FBF9D7F}"/>
                </a:ext>
              </a:extLst>
            </p:cNvPr>
            <p:cNvSpPr/>
            <p:nvPr/>
          </p:nvSpPr>
          <p:spPr bwMode="auto">
            <a:xfrm>
              <a:off x="2627784" y="908720"/>
              <a:ext cx="288032" cy="23604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3319BE84-DE1C-AD42-B2BB-91CF9395A294}"/>
                </a:ext>
              </a:extLst>
            </p:cNvPr>
            <p:cNvSpPr/>
            <p:nvPr/>
          </p:nvSpPr>
          <p:spPr bwMode="auto">
            <a:xfrm>
              <a:off x="2663787" y="9807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EFBA9F02-9553-D842-8A13-FB2542A857DA}"/>
                </a:ext>
              </a:extLst>
            </p:cNvPr>
            <p:cNvSpPr/>
            <p:nvPr/>
          </p:nvSpPr>
          <p:spPr bwMode="auto">
            <a:xfrm>
              <a:off x="2673404" y="12855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C320ECB6-F9FB-E144-BA1E-CE186B1323F9}"/>
                </a:ext>
              </a:extLst>
            </p:cNvPr>
            <p:cNvSpPr/>
            <p:nvPr/>
          </p:nvSpPr>
          <p:spPr bwMode="auto">
            <a:xfrm>
              <a:off x="2673403" y="1988840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E8F8DF71-CFC9-0046-AE91-C5BFEC740A42}"/>
                </a:ext>
              </a:extLst>
            </p:cNvPr>
            <p:cNvSpPr/>
            <p:nvPr/>
          </p:nvSpPr>
          <p:spPr bwMode="auto">
            <a:xfrm>
              <a:off x="2663787" y="2708920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18EB4C87-BE30-1345-BCE0-220E4939DEE8}"/>
                </a:ext>
              </a:extLst>
            </p:cNvPr>
            <p:cNvSpPr/>
            <p:nvPr/>
          </p:nvSpPr>
          <p:spPr bwMode="auto">
            <a:xfrm>
              <a:off x="2663786" y="2982606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50E1AE9C-BB24-804F-8038-DFD37C704F34}"/>
                </a:ext>
              </a:extLst>
            </p:cNvPr>
            <p:cNvGrpSpPr/>
            <p:nvPr/>
          </p:nvGrpSpPr>
          <p:grpSpPr>
            <a:xfrm>
              <a:off x="2652418" y="1327135"/>
              <a:ext cx="288032" cy="672173"/>
              <a:chOff x="1691680" y="3573016"/>
              <a:chExt cx="288032" cy="672173"/>
            </a:xfrm>
          </p:grpSpPr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68D9A63-457F-074A-AA50-14FD36B16086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FAA7D1C8-36FE-2F42-8E30-18BF29774D5C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B328238A-08BC-6945-9359-1283E3309482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C029C03C-FB89-9D4C-9A93-386977890858}"/>
                </a:ext>
              </a:extLst>
            </p:cNvPr>
            <p:cNvGrpSpPr/>
            <p:nvPr/>
          </p:nvGrpSpPr>
          <p:grpSpPr>
            <a:xfrm>
              <a:off x="2652234" y="2043846"/>
              <a:ext cx="288212" cy="664188"/>
              <a:chOff x="1691680" y="3581001"/>
              <a:chExt cx="288212" cy="664188"/>
            </a:xfrm>
          </p:grpSpPr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A6BAA61F-A004-D847-A838-37296487319D}"/>
                  </a:ext>
                </a:extLst>
              </p:cNvPr>
              <p:cNvSpPr txBox="1"/>
              <p:nvPr/>
            </p:nvSpPr>
            <p:spPr>
              <a:xfrm>
                <a:off x="1691860" y="3581001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839F2A8B-3FEC-EE4D-97C3-73B0E0F461E6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CD6CE221-0D7A-3044-A1AA-86ADD001E589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/>
              <p:nvPr/>
            </p:nvSpPr>
            <p:spPr>
              <a:xfrm>
                <a:off x="3593669" y="2462307"/>
                <a:ext cx="3606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669" y="2462307"/>
                <a:ext cx="360675" cy="430887"/>
              </a:xfrm>
              <a:prstGeom prst="rect">
                <a:avLst/>
              </a:prstGeom>
              <a:blipFill>
                <a:blip r:embed="rId3"/>
                <a:stretch>
                  <a:fillRect l="-20690" r="-17241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/>
              <p:nvPr/>
            </p:nvSpPr>
            <p:spPr>
              <a:xfrm>
                <a:off x="5286762" y="2462307"/>
                <a:ext cx="33182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𝐕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762" y="2462307"/>
                <a:ext cx="331822" cy="430887"/>
              </a:xfrm>
              <a:prstGeom prst="rect">
                <a:avLst/>
              </a:prstGeom>
              <a:blipFill>
                <a:blip r:embed="rId4"/>
                <a:stretch>
                  <a:fillRect l="-22222" r="-22222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7CF655CA-BE53-774B-886D-134D4371A77D}"/>
              </a:ext>
            </a:extLst>
          </p:cNvPr>
          <p:cNvGrpSpPr/>
          <p:nvPr/>
        </p:nvGrpSpPr>
        <p:grpSpPr>
          <a:xfrm>
            <a:off x="2203064" y="1382383"/>
            <a:ext cx="545021" cy="2385012"/>
            <a:chOff x="2203064" y="838069"/>
            <a:chExt cx="545021" cy="2385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50D5790-8C00-F349-A3ED-EF280594DEA6}"/>
                    </a:ext>
                  </a:extLst>
                </p:cNvPr>
                <p:cNvSpPr txBox="1"/>
                <p:nvPr/>
              </p:nvSpPr>
              <p:spPr>
                <a:xfrm>
                  <a:off x="2211615" y="838069"/>
                  <a:ext cx="50263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50D5790-8C00-F349-A3ED-EF280594DE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615" y="838069"/>
                  <a:ext cx="502637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64650C97-F30D-6347-AE33-2E84895A6E37}"/>
                    </a:ext>
                  </a:extLst>
                </p:cNvPr>
                <p:cNvSpPr txBox="1"/>
                <p:nvPr/>
              </p:nvSpPr>
              <p:spPr>
                <a:xfrm>
                  <a:off x="2216141" y="1154052"/>
                  <a:ext cx="50860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64650C97-F30D-6347-AE33-2E84895A6E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141" y="1154052"/>
                  <a:ext cx="508601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CEAD8259-8CAB-1546-8F09-66164EA88795}"/>
                    </a:ext>
                  </a:extLst>
                </p:cNvPr>
                <p:cNvSpPr txBox="1"/>
                <p:nvPr/>
              </p:nvSpPr>
              <p:spPr>
                <a:xfrm>
                  <a:off x="2203987" y="1862057"/>
                  <a:ext cx="5189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CEAD8259-8CAB-1546-8F09-66164EA887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987" y="1862057"/>
                  <a:ext cx="518925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4DEC39D-C1A1-1643-9D91-9EF3EA73BC4F}"/>
                    </a:ext>
                  </a:extLst>
                </p:cNvPr>
                <p:cNvSpPr txBox="1"/>
                <p:nvPr/>
              </p:nvSpPr>
              <p:spPr>
                <a:xfrm>
                  <a:off x="2203064" y="2822971"/>
                  <a:ext cx="54502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4DEC39D-C1A1-1643-9D91-9EF3EA73BC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2822971"/>
                  <a:ext cx="545021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CE76F8E7-A84A-D846-B290-1C715151CBAE}"/>
              </a:ext>
            </a:extLst>
          </p:cNvPr>
          <p:cNvGrpSpPr/>
          <p:nvPr/>
        </p:nvGrpSpPr>
        <p:grpSpPr>
          <a:xfrm>
            <a:off x="6521722" y="1444286"/>
            <a:ext cx="547779" cy="2385012"/>
            <a:chOff x="2203064" y="838069"/>
            <a:chExt cx="547779" cy="2385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/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blipFill>
                  <a:blip r:embed="rId9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/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/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/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C7B8CE36-9EEB-764C-A680-D6F0A068987A}"/>
                  </a:ext>
                </a:extLst>
              </p:cNvPr>
              <p:cNvSpPr txBox="1"/>
              <p:nvPr/>
            </p:nvSpPr>
            <p:spPr>
              <a:xfrm>
                <a:off x="2690282" y="3765446"/>
                <a:ext cx="2468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C7B8CE36-9EEB-764C-A680-D6F0A0689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0282" y="3765446"/>
                <a:ext cx="246862" cy="369332"/>
              </a:xfrm>
              <a:prstGeom prst="rect">
                <a:avLst/>
              </a:prstGeom>
              <a:blipFill>
                <a:blip r:embed="rId13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/>
              <p:nvPr/>
            </p:nvSpPr>
            <p:spPr>
              <a:xfrm>
                <a:off x="6231195" y="3779748"/>
                <a:ext cx="2516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195" y="3779748"/>
                <a:ext cx="251671" cy="369332"/>
              </a:xfrm>
              <a:prstGeom prst="rect">
                <a:avLst/>
              </a:prstGeom>
              <a:blipFill>
                <a:blip r:embed="rId14"/>
                <a:stretch>
                  <a:fillRect l="-23810" r="-2381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矩形 87">
            <a:extLst>
              <a:ext uri="{FF2B5EF4-FFF2-40B4-BE49-F238E27FC236}">
                <a16:creationId xmlns:a16="http://schemas.microsoft.com/office/drawing/2014/main" id="{6C655758-87F2-8F45-AA34-421DB44C0A10}"/>
              </a:ext>
            </a:extLst>
          </p:cNvPr>
          <p:cNvSpPr/>
          <p:nvPr/>
        </p:nvSpPr>
        <p:spPr bwMode="auto">
          <a:xfrm>
            <a:off x="4415851" y="1866997"/>
            <a:ext cx="266984" cy="15723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CE355B3A-F31D-B845-A966-F47DC95CCD87}"/>
              </a:ext>
            </a:extLst>
          </p:cNvPr>
          <p:cNvSpPr/>
          <p:nvPr/>
        </p:nvSpPr>
        <p:spPr bwMode="auto">
          <a:xfrm>
            <a:off x="4441482" y="1898421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9C52EFF6-9A55-8247-9815-B27AE5797145}"/>
              </a:ext>
            </a:extLst>
          </p:cNvPr>
          <p:cNvSpPr/>
          <p:nvPr/>
        </p:nvSpPr>
        <p:spPr bwMode="auto">
          <a:xfrm>
            <a:off x="4451858" y="2190519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73A66444-F698-EF4F-BA2A-58FB21F05B3D}"/>
              </a:ext>
            </a:extLst>
          </p:cNvPr>
          <p:cNvSpPr/>
          <p:nvPr/>
        </p:nvSpPr>
        <p:spPr bwMode="auto">
          <a:xfrm>
            <a:off x="4439223" y="2872273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D9B2F4FE-0772-9E45-A720-2B6295A42E97}"/>
              </a:ext>
            </a:extLst>
          </p:cNvPr>
          <p:cNvSpPr/>
          <p:nvPr/>
        </p:nvSpPr>
        <p:spPr bwMode="auto">
          <a:xfrm>
            <a:off x="4440301" y="3171308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615DAEA-3E7B-1A4E-9B9C-3DA9F20055C1}"/>
              </a:ext>
            </a:extLst>
          </p:cNvPr>
          <p:cNvSpPr txBox="1"/>
          <p:nvPr/>
        </p:nvSpPr>
        <p:spPr>
          <a:xfrm>
            <a:off x="4422396" y="229641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2F91BC9-3237-E046-97AC-90D7F17020B5}"/>
              </a:ext>
            </a:extLst>
          </p:cNvPr>
          <p:cNvSpPr txBox="1"/>
          <p:nvPr/>
        </p:nvSpPr>
        <p:spPr>
          <a:xfrm>
            <a:off x="4422166" y="246778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/>
              <p:nvPr/>
            </p:nvSpPr>
            <p:spPr>
              <a:xfrm>
                <a:off x="4330848" y="3448933"/>
                <a:ext cx="4571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𝐡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848" y="3448933"/>
                <a:ext cx="457176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文本框 98">
            <a:extLst>
              <a:ext uri="{FF2B5EF4-FFF2-40B4-BE49-F238E27FC236}">
                <a16:creationId xmlns:a16="http://schemas.microsoft.com/office/drawing/2014/main" id="{B7689C5C-B47E-E542-A51F-7B4F00B4F0A6}"/>
              </a:ext>
            </a:extLst>
          </p:cNvPr>
          <p:cNvSpPr txBox="1"/>
          <p:nvPr/>
        </p:nvSpPr>
        <p:spPr>
          <a:xfrm>
            <a:off x="2325261" y="91026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输入层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B19AC18-1237-D44B-83EF-E15800AED32D}"/>
              </a:ext>
            </a:extLst>
          </p:cNvPr>
          <p:cNvSpPr txBox="1"/>
          <p:nvPr/>
        </p:nvSpPr>
        <p:spPr>
          <a:xfrm>
            <a:off x="5875484" y="90396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输出层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内容占位符 3">
                <a:extLst>
                  <a:ext uri="{FF2B5EF4-FFF2-40B4-BE49-F238E27FC236}">
                    <a16:creationId xmlns:a16="http://schemas.microsoft.com/office/drawing/2014/main" id="{7F98D622-5E4A-6E4F-9E9B-322CEB36B3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4748" y="4932453"/>
                <a:ext cx="8001000" cy="1110233"/>
              </a:xfrm>
            </p:spPr>
            <p:txBody>
              <a:bodyPr/>
              <a:lstStyle/>
              <a:p>
                <a:r>
                  <a:rPr lang="zh-CN" altLang="en-US" sz="2000" b="0" dirty="0"/>
                  <a:t>输入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zh-CN" altLang="en-US" sz="2000" b="0" dirty="0"/>
                  <a:t>为独热向量 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STKaiti" panose="02010600040101010101" pitchFamily="2" charset="-122"/>
                      </a:rPr>
                      <m:t>𝐱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STKaiti" panose="0201060004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1" i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000" b="1" i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STKaiti" panose="02010600040101010101" pitchFamily="2" charset="-122"/>
                      </a:rPr>
                      <m:t>=[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STKaiti" panose="02010600040101010101" pitchFamily="2" charset="-122"/>
                      </a:rPr>
                      <m:t>0,0,…,1,…,0]</m:t>
                    </m:r>
                  </m:oMath>
                </a14:m>
                <a:endParaRPr lang="en-US" altLang="zh-CN" sz="2000" b="0" dirty="0">
                  <a:ea typeface="STKaiti" panose="02010600040101010101" pitchFamily="2" charset="-122"/>
                </a:endParaRPr>
              </a:p>
              <a:p>
                <a:r>
                  <a:rPr lang="zh-CN" altLang="en-US" sz="2000" b="0" dirty="0"/>
                  <a:t>输出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zh-CN" altLang="en-US" sz="2000" b="0" dirty="0"/>
                  <a:t>为概率分布向量，即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000" b="0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sz="2000" b="0" dirty="0">
                  <a:ea typeface="STKaiti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2" name="内容占位符 3">
                <a:extLst>
                  <a:ext uri="{FF2B5EF4-FFF2-40B4-BE49-F238E27FC236}">
                    <a16:creationId xmlns:a16="http://schemas.microsoft.com/office/drawing/2014/main" id="{7F98D622-5E4A-6E4F-9E9B-322CEB36B3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4748" y="4932453"/>
                <a:ext cx="8001000" cy="1110233"/>
              </a:xfrm>
              <a:blipFill>
                <a:blip r:embed="rId16"/>
                <a:stretch>
                  <a:fillRect l="-1426" t="-12500" b="-3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矩形 104">
            <a:extLst>
              <a:ext uri="{FF2B5EF4-FFF2-40B4-BE49-F238E27FC236}">
                <a16:creationId xmlns:a16="http://schemas.microsoft.com/office/drawing/2014/main" id="{A4061895-CB1D-0A48-AC4A-CCDCA53A91C2}"/>
              </a:ext>
            </a:extLst>
          </p:cNvPr>
          <p:cNvSpPr/>
          <p:nvPr/>
        </p:nvSpPr>
        <p:spPr bwMode="auto">
          <a:xfrm>
            <a:off x="2996698" y="1438981"/>
            <a:ext cx="3255072" cy="2384085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494F83EA-96B6-574F-A8EE-0532F2A1F143}"/>
                  </a:ext>
                </a:extLst>
              </p:cNvPr>
              <p:cNvSpPr txBox="1"/>
              <p:nvPr/>
            </p:nvSpPr>
            <p:spPr>
              <a:xfrm>
                <a:off x="3072562" y="2442547"/>
                <a:ext cx="3014863" cy="42550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kumimoji="1"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494F83EA-96B6-574F-A8EE-0532F2A1F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2562" y="2442547"/>
                <a:ext cx="3014863" cy="425501"/>
              </a:xfrm>
              <a:prstGeom prst="rect">
                <a:avLst/>
              </a:prstGeom>
              <a:blipFill>
                <a:blip r:embed="rId17"/>
                <a:stretch>
                  <a:fillRect l="-1255" r="-2929" b="-26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文本框 107">
            <a:extLst>
              <a:ext uri="{FF2B5EF4-FFF2-40B4-BE49-F238E27FC236}">
                <a16:creationId xmlns:a16="http://schemas.microsoft.com/office/drawing/2014/main" id="{1C70C71B-A4A4-394B-A08F-285BA098AFFC}"/>
              </a:ext>
            </a:extLst>
          </p:cNvPr>
          <p:cNvSpPr txBox="1"/>
          <p:nvPr/>
        </p:nvSpPr>
        <p:spPr>
          <a:xfrm>
            <a:off x="1426101" y="240637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STKaiti" panose="02010600040101010101" pitchFamily="2" charset="-122"/>
                <a:ea typeface="STKaiti" panose="02010600040101010101" pitchFamily="2" charset="-122"/>
              </a:rPr>
              <a:t>一只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1D9CD12A-D48C-634C-9304-E4A9E42A2C3D}"/>
              </a:ext>
            </a:extLst>
          </p:cNvPr>
          <p:cNvSpPr txBox="1"/>
          <p:nvPr/>
        </p:nvSpPr>
        <p:spPr>
          <a:xfrm>
            <a:off x="7065852" y="2452128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STKaiti" panose="02010600040101010101" pitchFamily="2" charset="-122"/>
                <a:ea typeface="STKaiti" panose="02010600040101010101" pitchFamily="2" charset="-122"/>
              </a:rPr>
              <a:t>小猫</a:t>
            </a:r>
            <a:endParaRPr kumimoji="1" lang="zh-CN" altLang="en-US" sz="2000" b="1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0550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CBOW</a:t>
            </a:r>
            <a:r>
              <a:rPr lang="zh-CN" altLang="en-US" dirty="0"/>
              <a:t>模型：考虑只有一个上文词的特殊情况</a:t>
            </a:r>
            <a:endParaRPr kumimoji="1" lang="zh-CN" altLang="en-US" dirty="0"/>
          </a:p>
        </p:txBody>
      </p:sp>
      <p:sp>
        <p:nvSpPr>
          <p:cNvPr id="4" name="梯形 3">
            <a:extLst>
              <a:ext uri="{FF2B5EF4-FFF2-40B4-BE49-F238E27FC236}">
                <a16:creationId xmlns:a16="http://schemas.microsoft.com/office/drawing/2014/main" id="{F82FC0F3-F1A8-454E-8D8F-ACEE9103B3DE}"/>
              </a:ext>
            </a:extLst>
          </p:cNvPr>
          <p:cNvSpPr/>
          <p:nvPr/>
        </p:nvSpPr>
        <p:spPr bwMode="auto">
          <a:xfrm rot="5400000">
            <a:off x="2577159" y="1818663"/>
            <a:ext cx="2333498" cy="1656184"/>
          </a:xfrm>
          <a:prstGeom prst="trapezoi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5" name="梯形 44">
            <a:extLst>
              <a:ext uri="{FF2B5EF4-FFF2-40B4-BE49-F238E27FC236}">
                <a16:creationId xmlns:a16="http://schemas.microsoft.com/office/drawing/2014/main" id="{B5505625-CA44-2646-BFBD-D656BC52EA8B}"/>
              </a:ext>
            </a:extLst>
          </p:cNvPr>
          <p:cNvSpPr/>
          <p:nvPr/>
        </p:nvSpPr>
        <p:spPr bwMode="auto">
          <a:xfrm rot="16200000">
            <a:off x="4230594" y="1831707"/>
            <a:ext cx="2338998" cy="1656184"/>
          </a:xfrm>
          <a:prstGeom prst="trapezoid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A35E648-D53F-4C4B-A08A-F58B861B7397}"/>
              </a:ext>
            </a:extLst>
          </p:cNvPr>
          <p:cNvGrpSpPr/>
          <p:nvPr/>
        </p:nvGrpSpPr>
        <p:grpSpPr>
          <a:xfrm>
            <a:off x="2675158" y="1453034"/>
            <a:ext cx="312666" cy="2360468"/>
            <a:chOff x="2627784" y="908720"/>
            <a:chExt cx="312666" cy="2360468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594846E-A3E5-4E4C-AB14-0D3649C4B674}"/>
                </a:ext>
              </a:extLst>
            </p:cNvPr>
            <p:cNvSpPr/>
            <p:nvPr/>
          </p:nvSpPr>
          <p:spPr bwMode="auto">
            <a:xfrm>
              <a:off x="2627784" y="908720"/>
              <a:ext cx="288032" cy="23604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3D46F09B-D28D-5C4E-AD71-070E183F4210}"/>
                </a:ext>
              </a:extLst>
            </p:cNvPr>
            <p:cNvSpPr/>
            <p:nvPr/>
          </p:nvSpPr>
          <p:spPr bwMode="auto">
            <a:xfrm>
              <a:off x="2663787" y="9807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0D3EE5F0-230C-F249-8406-1CDE56A83AAC}"/>
                </a:ext>
              </a:extLst>
            </p:cNvPr>
            <p:cNvSpPr/>
            <p:nvPr/>
          </p:nvSpPr>
          <p:spPr bwMode="auto">
            <a:xfrm>
              <a:off x="2673404" y="12855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E2BFD665-33BD-F841-8AB3-DA63FFF5E353}"/>
                </a:ext>
              </a:extLst>
            </p:cNvPr>
            <p:cNvSpPr/>
            <p:nvPr/>
          </p:nvSpPr>
          <p:spPr bwMode="auto">
            <a:xfrm>
              <a:off x="2673403" y="1988840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CF3464F8-FBFD-6641-A302-CC3FAFABA75C}"/>
                </a:ext>
              </a:extLst>
            </p:cNvPr>
            <p:cNvSpPr/>
            <p:nvPr/>
          </p:nvSpPr>
          <p:spPr bwMode="auto">
            <a:xfrm>
              <a:off x="2663787" y="2708920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B72FA0D-3809-7D4B-8E54-C811CF2AF2D7}"/>
                </a:ext>
              </a:extLst>
            </p:cNvPr>
            <p:cNvSpPr/>
            <p:nvPr/>
          </p:nvSpPr>
          <p:spPr bwMode="auto">
            <a:xfrm>
              <a:off x="2663786" y="2982606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621E643-DA5E-2D44-810F-E24230CB52A3}"/>
                </a:ext>
              </a:extLst>
            </p:cNvPr>
            <p:cNvGrpSpPr/>
            <p:nvPr/>
          </p:nvGrpSpPr>
          <p:grpSpPr>
            <a:xfrm>
              <a:off x="2652418" y="1327135"/>
              <a:ext cx="288032" cy="672173"/>
              <a:chOff x="1691680" y="3573016"/>
              <a:chExt cx="288032" cy="672173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09C6A32-62BD-564F-BC33-FF11935BA746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F1CC4CA-823C-4349-B812-2300FE5403C3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09E78BCC-E56B-C247-9D10-2A35F123F576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3D7B52C1-0B03-9141-BFBB-03BBC6F063B0}"/>
                </a:ext>
              </a:extLst>
            </p:cNvPr>
            <p:cNvGrpSpPr/>
            <p:nvPr/>
          </p:nvGrpSpPr>
          <p:grpSpPr>
            <a:xfrm>
              <a:off x="2652234" y="2035861"/>
              <a:ext cx="288032" cy="672173"/>
              <a:chOff x="1691680" y="3573016"/>
              <a:chExt cx="288032" cy="672173"/>
            </a:xfrm>
          </p:grpSpPr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EE66E474-936A-ED45-9CB8-CDE35D734013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C14C3F4-335A-6C41-B7AC-FC2200D1938F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F22CCC57-CB93-574C-9FE0-203B2A484A21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</p:grp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1749A54-37BE-544E-8BEF-87D31D55A536}"/>
              </a:ext>
            </a:extLst>
          </p:cNvPr>
          <p:cNvCxnSpPr/>
          <p:nvPr/>
        </p:nvCxnSpPr>
        <p:spPr bwMode="auto">
          <a:xfrm>
            <a:off x="3935167" y="4014319"/>
            <a:ext cx="122413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2AEC97DD-A83F-C441-BCCF-21CDF72705AA}"/>
              </a:ext>
            </a:extLst>
          </p:cNvPr>
          <p:cNvGrpSpPr/>
          <p:nvPr/>
        </p:nvGrpSpPr>
        <p:grpSpPr>
          <a:xfrm>
            <a:off x="6222137" y="1480006"/>
            <a:ext cx="312666" cy="2360468"/>
            <a:chOff x="2627784" y="908720"/>
            <a:chExt cx="312666" cy="2360468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F61A3483-5912-F047-9EF1-F6220FBF9D7F}"/>
                </a:ext>
              </a:extLst>
            </p:cNvPr>
            <p:cNvSpPr/>
            <p:nvPr/>
          </p:nvSpPr>
          <p:spPr bwMode="auto">
            <a:xfrm>
              <a:off x="2627784" y="908720"/>
              <a:ext cx="288032" cy="23604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3319BE84-DE1C-AD42-B2BB-91CF9395A294}"/>
                </a:ext>
              </a:extLst>
            </p:cNvPr>
            <p:cNvSpPr/>
            <p:nvPr/>
          </p:nvSpPr>
          <p:spPr bwMode="auto">
            <a:xfrm>
              <a:off x="2663787" y="9807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EFBA9F02-9553-D842-8A13-FB2542A857DA}"/>
                </a:ext>
              </a:extLst>
            </p:cNvPr>
            <p:cNvSpPr/>
            <p:nvPr/>
          </p:nvSpPr>
          <p:spPr bwMode="auto">
            <a:xfrm>
              <a:off x="2673404" y="12855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C320ECB6-F9FB-E144-BA1E-CE186B1323F9}"/>
                </a:ext>
              </a:extLst>
            </p:cNvPr>
            <p:cNvSpPr/>
            <p:nvPr/>
          </p:nvSpPr>
          <p:spPr bwMode="auto">
            <a:xfrm>
              <a:off x="2673403" y="1988840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E8F8DF71-CFC9-0046-AE91-C5BFEC740A42}"/>
                </a:ext>
              </a:extLst>
            </p:cNvPr>
            <p:cNvSpPr/>
            <p:nvPr/>
          </p:nvSpPr>
          <p:spPr bwMode="auto">
            <a:xfrm>
              <a:off x="2663787" y="2708920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18EB4C87-BE30-1345-BCE0-220E4939DEE8}"/>
                </a:ext>
              </a:extLst>
            </p:cNvPr>
            <p:cNvSpPr/>
            <p:nvPr/>
          </p:nvSpPr>
          <p:spPr bwMode="auto">
            <a:xfrm>
              <a:off x="2663786" y="2982606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50E1AE9C-BB24-804F-8038-DFD37C704F34}"/>
                </a:ext>
              </a:extLst>
            </p:cNvPr>
            <p:cNvGrpSpPr/>
            <p:nvPr/>
          </p:nvGrpSpPr>
          <p:grpSpPr>
            <a:xfrm>
              <a:off x="2652418" y="1327135"/>
              <a:ext cx="288032" cy="672173"/>
              <a:chOff x="1691680" y="3573016"/>
              <a:chExt cx="288032" cy="672173"/>
            </a:xfrm>
          </p:grpSpPr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68D9A63-457F-074A-AA50-14FD36B16086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FAA7D1C8-36FE-2F42-8E30-18BF29774D5C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B328238A-08BC-6945-9359-1283E3309482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C029C03C-FB89-9D4C-9A93-386977890858}"/>
                </a:ext>
              </a:extLst>
            </p:cNvPr>
            <p:cNvGrpSpPr/>
            <p:nvPr/>
          </p:nvGrpSpPr>
          <p:grpSpPr>
            <a:xfrm>
              <a:off x="2652234" y="2043846"/>
              <a:ext cx="288212" cy="664188"/>
              <a:chOff x="1691680" y="3581001"/>
              <a:chExt cx="288212" cy="664188"/>
            </a:xfrm>
          </p:grpSpPr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A6BAA61F-A004-D847-A838-37296487319D}"/>
                  </a:ext>
                </a:extLst>
              </p:cNvPr>
              <p:cNvSpPr txBox="1"/>
              <p:nvPr/>
            </p:nvSpPr>
            <p:spPr>
              <a:xfrm>
                <a:off x="1691860" y="3581001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839F2A8B-3FEC-EE4D-97C3-73B0E0F461E6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CD6CE221-0D7A-3044-A1AA-86ADD001E589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/>
              <p:nvPr/>
            </p:nvSpPr>
            <p:spPr>
              <a:xfrm>
                <a:off x="3593669" y="2462307"/>
                <a:ext cx="3606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669" y="2462307"/>
                <a:ext cx="360675" cy="430887"/>
              </a:xfrm>
              <a:prstGeom prst="rect">
                <a:avLst/>
              </a:prstGeom>
              <a:blipFill>
                <a:blip r:embed="rId3"/>
                <a:stretch>
                  <a:fillRect l="-20690" r="-17241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/>
              <p:nvPr/>
            </p:nvSpPr>
            <p:spPr>
              <a:xfrm>
                <a:off x="5286762" y="2462307"/>
                <a:ext cx="33182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𝐕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762" y="2462307"/>
                <a:ext cx="331822" cy="430887"/>
              </a:xfrm>
              <a:prstGeom prst="rect">
                <a:avLst/>
              </a:prstGeom>
              <a:blipFill>
                <a:blip r:embed="rId4"/>
                <a:stretch>
                  <a:fillRect l="-22222" r="-22222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7CF655CA-BE53-774B-886D-134D4371A77D}"/>
              </a:ext>
            </a:extLst>
          </p:cNvPr>
          <p:cNvGrpSpPr/>
          <p:nvPr/>
        </p:nvGrpSpPr>
        <p:grpSpPr>
          <a:xfrm>
            <a:off x="2203064" y="1382383"/>
            <a:ext cx="545021" cy="2385012"/>
            <a:chOff x="2203064" y="838069"/>
            <a:chExt cx="545021" cy="2385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50D5790-8C00-F349-A3ED-EF280594DEA6}"/>
                    </a:ext>
                  </a:extLst>
                </p:cNvPr>
                <p:cNvSpPr txBox="1"/>
                <p:nvPr/>
              </p:nvSpPr>
              <p:spPr>
                <a:xfrm>
                  <a:off x="2211615" y="838069"/>
                  <a:ext cx="50263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50D5790-8C00-F349-A3ED-EF280594DE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615" y="838069"/>
                  <a:ext cx="502637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64650C97-F30D-6347-AE33-2E84895A6E37}"/>
                    </a:ext>
                  </a:extLst>
                </p:cNvPr>
                <p:cNvSpPr txBox="1"/>
                <p:nvPr/>
              </p:nvSpPr>
              <p:spPr>
                <a:xfrm>
                  <a:off x="2216141" y="1154052"/>
                  <a:ext cx="50860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64650C97-F30D-6347-AE33-2E84895A6E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141" y="1154052"/>
                  <a:ext cx="508601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CEAD8259-8CAB-1546-8F09-66164EA88795}"/>
                    </a:ext>
                  </a:extLst>
                </p:cNvPr>
                <p:cNvSpPr txBox="1"/>
                <p:nvPr/>
              </p:nvSpPr>
              <p:spPr>
                <a:xfrm>
                  <a:off x="2203987" y="1862057"/>
                  <a:ext cx="5189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CEAD8259-8CAB-1546-8F09-66164EA887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987" y="1862057"/>
                  <a:ext cx="518925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4DEC39D-C1A1-1643-9D91-9EF3EA73BC4F}"/>
                    </a:ext>
                  </a:extLst>
                </p:cNvPr>
                <p:cNvSpPr txBox="1"/>
                <p:nvPr/>
              </p:nvSpPr>
              <p:spPr>
                <a:xfrm>
                  <a:off x="2203064" y="2822971"/>
                  <a:ext cx="54502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4DEC39D-C1A1-1643-9D91-9EF3EA73BC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2822971"/>
                  <a:ext cx="545021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CE76F8E7-A84A-D846-B290-1C715151CBAE}"/>
              </a:ext>
            </a:extLst>
          </p:cNvPr>
          <p:cNvGrpSpPr/>
          <p:nvPr/>
        </p:nvGrpSpPr>
        <p:grpSpPr>
          <a:xfrm>
            <a:off x="6521722" y="1444286"/>
            <a:ext cx="547779" cy="2385012"/>
            <a:chOff x="2203064" y="838069"/>
            <a:chExt cx="547779" cy="2385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/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blipFill>
                  <a:blip r:embed="rId9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/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/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/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C7B8CE36-9EEB-764C-A680-D6F0A068987A}"/>
                  </a:ext>
                </a:extLst>
              </p:cNvPr>
              <p:cNvSpPr txBox="1"/>
              <p:nvPr/>
            </p:nvSpPr>
            <p:spPr>
              <a:xfrm>
                <a:off x="2690282" y="3765446"/>
                <a:ext cx="2468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C7B8CE36-9EEB-764C-A680-D6F0A0689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0282" y="3765446"/>
                <a:ext cx="246862" cy="369332"/>
              </a:xfrm>
              <a:prstGeom prst="rect">
                <a:avLst/>
              </a:prstGeom>
              <a:blipFill>
                <a:blip r:embed="rId13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/>
              <p:nvPr/>
            </p:nvSpPr>
            <p:spPr>
              <a:xfrm>
                <a:off x="6231195" y="3779748"/>
                <a:ext cx="2516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195" y="3779748"/>
                <a:ext cx="251671" cy="369332"/>
              </a:xfrm>
              <a:prstGeom prst="rect">
                <a:avLst/>
              </a:prstGeom>
              <a:blipFill>
                <a:blip r:embed="rId14"/>
                <a:stretch>
                  <a:fillRect l="-23810" r="-2381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矩形 87">
            <a:extLst>
              <a:ext uri="{FF2B5EF4-FFF2-40B4-BE49-F238E27FC236}">
                <a16:creationId xmlns:a16="http://schemas.microsoft.com/office/drawing/2014/main" id="{6C655758-87F2-8F45-AA34-421DB44C0A10}"/>
              </a:ext>
            </a:extLst>
          </p:cNvPr>
          <p:cNvSpPr/>
          <p:nvPr/>
        </p:nvSpPr>
        <p:spPr bwMode="auto">
          <a:xfrm>
            <a:off x="4415851" y="1866997"/>
            <a:ext cx="266984" cy="15723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CE355B3A-F31D-B845-A966-F47DC95CCD87}"/>
              </a:ext>
            </a:extLst>
          </p:cNvPr>
          <p:cNvSpPr/>
          <p:nvPr/>
        </p:nvSpPr>
        <p:spPr bwMode="auto">
          <a:xfrm>
            <a:off x="4441482" y="1898421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9C52EFF6-9A55-8247-9815-B27AE5797145}"/>
              </a:ext>
            </a:extLst>
          </p:cNvPr>
          <p:cNvSpPr/>
          <p:nvPr/>
        </p:nvSpPr>
        <p:spPr bwMode="auto">
          <a:xfrm>
            <a:off x="4451858" y="2190519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73A66444-F698-EF4F-BA2A-58FB21F05B3D}"/>
              </a:ext>
            </a:extLst>
          </p:cNvPr>
          <p:cNvSpPr/>
          <p:nvPr/>
        </p:nvSpPr>
        <p:spPr bwMode="auto">
          <a:xfrm>
            <a:off x="4439223" y="2872273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D9B2F4FE-0772-9E45-A720-2B6295A42E97}"/>
              </a:ext>
            </a:extLst>
          </p:cNvPr>
          <p:cNvSpPr/>
          <p:nvPr/>
        </p:nvSpPr>
        <p:spPr bwMode="auto">
          <a:xfrm>
            <a:off x="4440301" y="3171308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615DAEA-3E7B-1A4E-9B9C-3DA9F20055C1}"/>
              </a:ext>
            </a:extLst>
          </p:cNvPr>
          <p:cNvSpPr txBox="1"/>
          <p:nvPr/>
        </p:nvSpPr>
        <p:spPr>
          <a:xfrm>
            <a:off x="4422396" y="229641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2F91BC9-3237-E046-97AC-90D7F17020B5}"/>
              </a:ext>
            </a:extLst>
          </p:cNvPr>
          <p:cNvSpPr txBox="1"/>
          <p:nvPr/>
        </p:nvSpPr>
        <p:spPr>
          <a:xfrm>
            <a:off x="4422166" y="246778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/>
              <p:nvPr/>
            </p:nvSpPr>
            <p:spPr>
              <a:xfrm>
                <a:off x="4330848" y="3448933"/>
                <a:ext cx="4571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𝐡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848" y="3448933"/>
                <a:ext cx="457176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文本框 98">
            <a:extLst>
              <a:ext uri="{FF2B5EF4-FFF2-40B4-BE49-F238E27FC236}">
                <a16:creationId xmlns:a16="http://schemas.microsoft.com/office/drawing/2014/main" id="{B7689C5C-B47E-E542-A51F-7B4F00B4F0A6}"/>
              </a:ext>
            </a:extLst>
          </p:cNvPr>
          <p:cNvSpPr txBox="1"/>
          <p:nvPr/>
        </p:nvSpPr>
        <p:spPr>
          <a:xfrm>
            <a:off x="2325261" y="91026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输入层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B19AC18-1237-D44B-83EF-E15800AED32D}"/>
              </a:ext>
            </a:extLst>
          </p:cNvPr>
          <p:cNvSpPr txBox="1"/>
          <p:nvPr/>
        </p:nvSpPr>
        <p:spPr>
          <a:xfrm>
            <a:off x="5875484" y="90396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输出层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C7C7B9A3-C7D4-6641-BD4F-7F317EE46D78}"/>
              </a:ext>
            </a:extLst>
          </p:cNvPr>
          <p:cNvSpPr txBox="1"/>
          <p:nvPr/>
        </p:nvSpPr>
        <p:spPr>
          <a:xfrm>
            <a:off x="4211960" y="90822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隐</a:t>
            </a:r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内容占位符 3">
                <a:extLst>
                  <a:ext uri="{FF2B5EF4-FFF2-40B4-BE49-F238E27FC236}">
                    <a16:creationId xmlns:a16="http://schemas.microsoft.com/office/drawing/2014/main" id="{7F98D622-5E4A-6E4F-9E9B-322CEB36B3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7524" y="4435826"/>
                <a:ext cx="8001000" cy="111023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STKaiti" panose="02010600040101010101" pitchFamily="2" charset="-122"/>
                      </a:rPr>
                      <m:t>𝐔</m:t>
                    </m:r>
                  </m:oMath>
                </a14:m>
                <a:r>
                  <a:rPr lang="zh-CN" altLang="en-US" sz="2000" b="0" dirty="0">
                    <a:ea typeface="STKaiti" panose="02010600040101010101" pitchFamily="2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r>
                  <a:rPr lang="zh-CN" altLang="en-US" sz="2000" b="0" dirty="0">
                    <a:ea typeface="STKaiti" panose="02010600040101010101" pitchFamily="2" charset="-122"/>
                  </a:rPr>
                  <a:t>为两个参数矩阵</a:t>
                </a:r>
                <a:endParaRPr lang="en-US" altLang="zh-CN" sz="2000" b="0" dirty="0">
                  <a:ea typeface="STKaiti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2" name="内容占位符 3">
                <a:extLst>
                  <a:ext uri="{FF2B5EF4-FFF2-40B4-BE49-F238E27FC236}">
                    <a16:creationId xmlns:a16="http://schemas.microsoft.com/office/drawing/2014/main" id="{7F98D622-5E4A-6E4F-9E9B-322CEB36B3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7524" y="4435826"/>
                <a:ext cx="8001000" cy="1110233"/>
              </a:xfrm>
              <a:blipFill>
                <a:blip r:embed="rId16"/>
                <a:stretch>
                  <a:fillRect l="-1424" t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B72F54E-C161-3348-9A57-5FBC0F9C4D95}"/>
                  </a:ext>
                </a:extLst>
              </p:cNvPr>
              <p:cNvSpPr txBox="1"/>
              <p:nvPr/>
            </p:nvSpPr>
            <p:spPr>
              <a:xfrm>
                <a:off x="2353182" y="4841825"/>
                <a:ext cx="1642754" cy="17174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1" i="0" smtClean="0">
                          <a:latin typeface="Cambria Math" panose="02040503050406030204" pitchFamily="18" charset="0"/>
                        </a:rPr>
                        <m:t>𝐔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kumimoji="1"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000" b="1" i="0" smtClean="0">
                                      <a:latin typeface="Cambria Math" panose="02040503050406030204" pitchFamily="18" charset="0"/>
                                    </a:rPr>
                                    <m:t>       </m:t>
                                  </m:r>
                                  <m:r>
                                    <a:rPr kumimoji="1" lang="en-US" altLang="zh-CN" sz="2000" b="1" i="0" smtClean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zh-CN" altLang="en-US" sz="2000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0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0" i="1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0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B72F54E-C161-3348-9A57-5FBC0F9C4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182" y="4841825"/>
                <a:ext cx="1642754" cy="1717458"/>
              </a:xfrm>
              <a:prstGeom prst="rect">
                <a:avLst/>
              </a:prstGeom>
              <a:blipFill>
                <a:blip r:embed="rId17"/>
                <a:stretch>
                  <a:fillRect l="-4615" t="-6618" r="-1538" b="-66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F58C2962-7656-BA4B-BFF7-69865F661CD8}"/>
                  </a:ext>
                </a:extLst>
              </p:cNvPr>
              <p:cNvSpPr txBox="1"/>
              <p:nvPr/>
            </p:nvSpPr>
            <p:spPr>
              <a:xfrm>
                <a:off x="4797207" y="4812481"/>
                <a:ext cx="1642754" cy="17174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1" i="0" smtClean="0"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kumimoji="1"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000" b="1" i="0" smtClean="0">
                                      <a:latin typeface="Cambria Math" panose="02040503050406030204" pitchFamily="18" charset="0"/>
                                    </a:rPr>
                                    <m:t>       </m:t>
                                  </m:r>
                                  <m:r>
                                    <a:rPr kumimoji="1" lang="en-US" altLang="zh-CN" sz="2000" b="1" i="0" smtClean="0">
                                      <a:latin typeface="Cambria Math" panose="02040503050406030204" pitchFamily="18" charset="0"/>
                                    </a:rPr>
                                    <m:t>𝐯</m:t>
                                  </m:r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zh-CN" altLang="en-US" sz="2000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0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US" altLang="zh-CN" sz="2000" b="1" i="0" smtClean="0">
                                      <a:latin typeface="Cambria Math" panose="02040503050406030204" pitchFamily="18" charset="0"/>
                                    </a:rPr>
                                    <m:t>𝐯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0" i="1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US" altLang="zh-CN" sz="2000" b="1" i="0" smtClean="0">
                                      <a:latin typeface="Cambria Math" panose="02040503050406030204" pitchFamily="18" charset="0"/>
                                    </a:rPr>
                                    <m:t>𝐯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0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zh-CN" sz="2000" b="1" i="0" smtClean="0">
                                      <a:latin typeface="Cambria Math" panose="02040503050406030204" pitchFamily="18" charset="0"/>
                                    </a:rPr>
                                    <m:t>𝐯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F58C2962-7656-BA4B-BFF7-69865F661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207" y="4812481"/>
                <a:ext cx="1642754" cy="1717458"/>
              </a:xfrm>
              <a:prstGeom prst="rect">
                <a:avLst/>
              </a:prstGeom>
              <a:blipFill>
                <a:blip r:embed="rId18"/>
                <a:stretch>
                  <a:fillRect l="-3077" t="-5839" r="-769" b="-6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278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CBOW</a:t>
            </a:r>
            <a:r>
              <a:rPr lang="zh-CN" altLang="en-US" dirty="0"/>
              <a:t>模型：考虑只有一个上文词的特殊情况</a:t>
            </a:r>
            <a:endParaRPr kumimoji="1" lang="zh-CN" altLang="en-US" dirty="0"/>
          </a:p>
        </p:txBody>
      </p:sp>
      <p:sp>
        <p:nvSpPr>
          <p:cNvPr id="4" name="梯形 3">
            <a:extLst>
              <a:ext uri="{FF2B5EF4-FFF2-40B4-BE49-F238E27FC236}">
                <a16:creationId xmlns:a16="http://schemas.microsoft.com/office/drawing/2014/main" id="{F82FC0F3-F1A8-454E-8D8F-ACEE9103B3DE}"/>
              </a:ext>
            </a:extLst>
          </p:cNvPr>
          <p:cNvSpPr/>
          <p:nvPr/>
        </p:nvSpPr>
        <p:spPr bwMode="auto">
          <a:xfrm rot="5400000">
            <a:off x="2577159" y="1818663"/>
            <a:ext cx="2333498" cy="1656184"/>
          </a:xfrm>
          <a:prstGeom prst="trapezoi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5" name="梯形 44">
            <a:extLst>
              <a:ext uri="{FF2B5EF4-FFF2-40B4-BE49-F238E27FC236}">
                <a16:creationId xmlns:a16="http://schemas.microsoft.com/office/drawing/2014/main" id="{B5505625-CA44-2646-BFBD-D656BC52EA8B}"/>
              </a:ext>
            </a:extLst>
          </p:cNvPr>
          <p:cNvSpPr/>
          <p:nvPr/>
        </p:nvSpPr>
        <p:spPr bwMode="auto">
          <a:xfrm rot="16200000">
            <a:off x="4230594" y="1831707"/>
            <a:ext cx="2338998" cy="1656184"/>
          </a:xfrm>
          <a:prstGeom prst="trapezoid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A35E648-D53F-4C4B-A08A-F58B861B7397}"/>
              </a:ext>
            </a:extLst>
          </p:cNvPr>
          <p:cNvGrpSpPr/>
          <p:nvPr/>
        </p:nvGrpSpPr>
        <p:grpSpPr>
          <a:xfrm>
            <a:off x="2675158" y="1453034"/>
            <a:ext cx="312666" cy="2360468"/>
            <a:chOff x="2627784" y="908720"/>
            <a:chExt cx="312666" cy="2360468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594846E-A3E5-4E4C-AB14-0D3649C4B674}"/>
                </a:ext>
              </a:extLst>
            </p:cNvPr>
            <p:cNvSpPr/>
            <p:nvPr/>
          </p:nvSpPr>
          <p:spPr bwMode="auto">
            <a:xfrm>
              <a:off x="2627784" y="908720"/>
              <a:ext cx="288032" cy="23604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3D46F09B-D28D-5C4E-AD71-070E183F4210}"/>
                </a:ext>
              </a:extLst>
            </p:cNvPr>
            <p:cNvSpPr/>
            <p:nvPr/>
          </p:nvSpPr>
          <p:spPr bwMode="auto">
            <a:xfrm>
              <a:off x="2663787" y="9807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0D3EE5F0-230C-F249-8406-1CDE56A83AAC}"/>
                </a:ext>
              </a:extLst>
            </p:cNvPr>
            <p:cNvSpPr/>
            <p:nvPr/>
          </p:nvSpPr>
          <p:spPr bwMode="auto">
            <a:xfrm>
              <a:off x="2673404" y="12855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E2BFD665-33BD-F841-8AB3-DA63FFF5E353}"/>
                </a:ext>
              </a:extLst>
            </p:cNvPr>
            <p:cNvSpPr/>
            <p:nvPr/>
          </p:nvSpPr>
          <p:spPr bwMode="auto">
            <a:xfrm>
              <a:off x="2673403" y="1988840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CF3464F8-FBFD-6641-A302-CC3FAFABA75C}"/>
                </a:ext>
              </a:extLst>
            </p:cNvPr>
            <p:cNvSpPr/>
            <p:nvPr/>
          </p:nvSpPr>
          <p:spPr bwMode="auto">
            <a:xfrm>
              <a:off x="2663787" y="2708920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B72FA0D-3809-7D4B-8E54-C811CF2AF2D7}"/>
                </a:ext>
              </a:extLst>
            </p:cNvPr>
            <p:cNvSpPr/>
            <p:nvPr/>
          </p:nvSpPr>
          <p:spPr bwMode="auto">
            <a:xfrm>
              <a:off x="2663786" y="2982606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621E643-DA5E-2D44-810F-E24230CB52A3}"/>
                </a:ext>
              </a:extLst>
            </p:cNvPr>
            <p:cNvGrpSpPr/>
            <p:nvPr/>
          </p:nvGrpSpPr>
          <p:grpSpPr>
            <a:xfrm>
              <a:off x="2652418" y="1327135"/>
              <a:ext cx="288032" cy="672173"/>
              <a:chOff x="1691680" y="3573016"/>
              <a:chExt cx="288032" cy="672173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09C6A32-62BD-564F-BC33-FF11935BA746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F1CC4CA-823C-4349-B812-2300FE5403C3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09E78BCC-E56B-C247-9D10-2A35F123F576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3D7B52C1-0B03-9141-BFBB-03BBC6F063B0}"/>
                </a:ext>
              </a:extLst>
            </p:cNvPr>
            <p:cNvGrpSpPr/>
            <p:nvPr/>
          </p:nvGrpSpPr>
          <p:grpSpPr>
            <a:xfrm>
              <a:off x="2652234" y="2035861"/>
              <a:ext cx="288032" cy="672173"/>
              <a:chOff x="1691680" y="3573016"/>
              <a:chExt cx="288032" cy="672173"/>
            </a:xfrm>
          </p:grpSpPr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EE66E474-936A-ED45-9CB8-CDE35D734013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C14C3F4-335A-6C41-B7AC-FC2200D1938F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F22CCC57-CB93-574C-9FE0-203B2A484A21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</p:grp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1749A54-37BE-544E-8BEF-87D31D55A536}"/>
              </a:ext>
            </a:extLst>
          </p:cNvPr>
          <p:cNvCxnSpPr/>
          <p:nvPr/>
        </p:nvCxnSpPr>
        <p:spPr bwMode="auto">
          <a:xfrm>
            <a:off x="3935167" y="4014319"/>
            <a:ext cx="122413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2AEC97DD-A83F-C441-BCCF-21CDF72705AA}"/>
              </a:ext>
            </a:extLst>
          </p:cNvPr>
          <p:cNvGrpSpPr/>
          <p:nvPr/>
        </p:nvGrpSpPr>
        <p:grpSpPr>
          <a:xfrm>
            <a:off x="6222137" y="1480006"/>
            <a:ext cx="312666" cy="2360468"/>
            <a:chOff x="2627784" y="908720"/>
            <a:chExt cx="312666" cy="2360468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F61A3483-5912-F047-9EF1-F6220FBF9D7F}"/>
                </a:ext>
              </a:extLst>
            </p:cNvPr>
            <p:cNvSpPr/>
            <p:nvPr/>
          </p:nvSpPr>
          <p:spPr bwMode="auto">
            <a:xfrm>
              <a:off x="2627784" y="908720"/>
              <a:ext cx="288032" cy="23604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3319BE84-DE1C-AD42-B2BB-91CF9395A294}"/>
                </a:ext>
              </a:extLst>
            </p:cNvPr>
            <p:cNvSpPr/>
            <p:nvPr/>
          </p:nvSpPr>
          <p:spPr bwMode="auto">
            <a:xfrm>
              <a:off x="2663787" y="9807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EFBA9F02-9553-D842-8A13-FB2542A857DA}"/>
                </a:ext>
              </a:extLst>
            </p:cNvPr>
            <p:cNvSpPr/>
            <p:nvPr/>
          </p:nvSpPr>
          <p:spPr bwMode="auto">
            <a:xfrm>
              <a:off x="2673404" y="12855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C320ECB6-F9FB-E144-BA1E-CE186B1323F9}"/>
                </a:ext>
              </a:extLst>
            </p:cNvPr>
            <p:cNvSpPr/>
            <p:nvPr/>
          </p:nvSpPr>
          <p:spPr bwMode="auto">
            <a:xfrm>
              <a:off x="2673403" y="1988840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E8F8DF71-CFC9-0046-AE91-C5BFEC740A42}"/>
                </a:ext>
              </a:extLst>
            </p:cNvPr>
            <p:cNvSpPr/>
            <p:nvPr/>
          </p:nvSpPr>
          <p:spPr bwMode="auto">
            <a:xfrm>
              <a:off x="2663787" y="2708920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18EB4C87-BE30-1345-BCE0-220E4939DEE8}"/>
                </a:ext>
              </a:extLst>
            </p:cNvPr>
            <p:cNvSpPr/>
            <p:nvPr/>
          </p:nvSpPr>
          <p:spPr bwMode="auto">
            <a:xfrm>
              <a:off x="2663786" y="2982606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50E1AE9C-BB24-804F-8038-DFD37C704F34}"/>
                </a:ext>
              </a:extLst>
            </p:cNvPr>
            <p:cNvGrpSpPr/>
            <p:nvPr/>
          </p:nvGrpSpPr>
          <p:grpSpPr>
            <a:xfrm>
              <a:off x="2652418" y="1327135"/>
              <a:ext cx="288032" cy="672173"/>
              <a:chOff x="1691680" y="3573016"/>
              <a:chExt cx="288032" cy="672173"/>
            </a:xfrm>
          </p:grpSpPr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68D9A63-457F-074A-AA50-14FD36B16086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FAA7D1C8-36FE-2F42-8E30-18BF29774D5C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B328238A-08BC-6945-9359-1283E3309482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C029C03C-FB89-9D4C-9A93-386977890858}"/>
                </a:ext>
              </a:extLst>
            </p:cNvPr>
            <p:cNvGrpSpPr/>
            <p:nvPr/>
          </p:nvGrpSpPr>
          <p:grpSpPr>
            <a:xfrm>
              <a:off x="2652234" y="2043846"/>
              <a:ext cx="288212" cy="664188"/>
              <a:chOff x="1691680" y="3581001"/>
              <a:chExt cx="288212" cy="664188"/>
            </a:xfrm>
          </p:grpSpPr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A6BAA61F-A004-D847-A838-37296487319D}"/>
                  </a:ext>
                </a:extLst>
              </p:cNvPr>
              <p:cNvSpPr txBox="1"/>
              <p:nvPr/>
            </p:nvSpPr>
            <p:spPr>
              <a:xfrm>
                <a:off x="1691860" y="3581001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839F2A8B-3FEC-EE4D-97C3-73B0E0F461E6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CD6CE221-0D7A-3044-A1AA-86ADD001E589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/>
              <p:nvPr/>
            </p:nvSpPr>
            <p:spPr>
              <a:xfrm>
                <a:off x="3593669" y="2462307"/>
                <a:ext cx="3606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669" y="2462307"/>
                <a:ext cx="360675" cy="430887"/>
              </a:xfrm>
              <a:prstGeom prst="rect">
                <a:avLst/>
              </a:prstGeom>
              <a:blipFill>
                <a:blip r:embed="rId3"/>
                <a:stretch>
                  <a:fillRect l="-20690" r="-17241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/>
              <p:nvPr/>
            </p:nvSpPr>
            <p:spPr>
              <a:xfrm>
                <a:off x="5286762" y="2462307"/>
                <a:ext cx="33182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𝐕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762" y="2462307"/>
                <a:ext cx="331822" cy="430887"/>
              </a:xfrm>
              <a:prstGeom prst="rect">
                <a:avLst/>
              </a:prstGeom>
              <a:blipFill>
                <a:blip r:embed="rId4"/>
                <a:stretch>
                  <a:fillRect l="-22222" r="-22222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7CF655CA-BE53-774B-886D-134D4371A77D}"/>
              </a:ext>
            </a:extLst>
          </p:cNvPr>
          <p:cNvGrpSpPr/>
          <p:nvPr/>
        </p:nvGrpSpPr>
        <p:grpSpPr>
          <a:xfrm>
            <a:off x="2203064" y="1382383"/>
            <a:ext cx="545021" cy="2385012"/>
            <a:chOff x="2203064" y="838069"/>
            <a:chExt cx="545021" cy="2385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50D5790-8C00-F349-A3ED-EF280594DEA6}"/>
                    </a:ext>
                  </a:extLst>
                </p:cNvPr>
                <p:cNvSpPr txBox="1"/>
                <p:nvPr/>
              </p:nvSpPr>
              <p:spPr>
                <a:xfrm>
                  <a:off x="2211615" y="838069"/>
                  <a:ext cx="50263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50D5790-8C00-F349-A3ED-EF280594DE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615" y="838069"/>
                  <a:ext cx="502637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64650C97-F30D-6347-AE33-2E84895A6E37}"/>
                    </a:ext>
                  </a:extLst>
                </p:cNvPr>
                <p:cNvSpPr txBox="1"/>
                <p:nvPr/>
              </p:nvSpPr>
              <p:spPr>
                <a:xfrm>
                  <a:off x="2216141" y="1154052"/>
                  <a:ext cx="50860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64650C97-F30D-6347-AE33-2E84895A6E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141" y="1154052"/>
                  <a:ext cx="508601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CEAD8259-8CAB-1546-8F09-66164EA88795}"/>
                    </a:ext>
                  </a:extLst>
                </p:cNvPr>
                <p:cNvSpPr txBox="1"/>
                <p:nvPr/>
              </p:nvSpPr>
              <p:spPr>
                <a:xfrm>
                  <a:off x="2203987" y="1862057"/>
                  <a:ext cx="5189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CEAD8259-8CAB-1546-8F09-66164EA887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987" y="1862057"/>
                  <a:ext cx="518925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4DEC39D-C1A1-1643-9D91-9EF3EA73BC4F}"/>
                    </a:ext>
                  </a:extLst>
                </p:cNvPr>
                <p:cNvSpPr txBox="1"/>
                <p:nvPr/>
              </p:nvSpPr>
              <p:spPr>
                <a:xfrm>
                  <a:off x="2203064" y="2822971"/>
                  <a:ext cx="54502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4DEC39D-C1A1-1643-9D91-9EF3EA73BC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2822971"/>
                  <a:ext cx="545021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CE76F8E7-A84A-D846-B290-1C715151CBAE}"/>
              </a:ext>
            </a:extLst>
          </p:cNvPr>
          <p:cNvGrpSpPr/>
          <p:nvPr/>
        </p:nvGrpSpPr>
        <p:grpSpPr>
          <a:xfrm>
            <a:off x="6521722" y="1444286"/>
            <a:ext cx="547779" cy="2385012"/>
            <a:chOff x="2203064" y="838069"/>
            <a:chExt cx="547779" cy="2385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/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blipFill>
                  <a:blip r:embed="rId9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/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/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/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C7B8CE36-9EEB-764C-A680-D6F0A068987A}"/>
                  </a:ext>
                </a:extLst>
              </p:cNvPr>
              <p:cNvSpPr txBox="1"/>
              <p:nvPr/>
            </p:nvSpPr>
            <p:spPr>
              <a:xfrm>
                <a:off x="2690282" y="3765446"/>
                <a:ext cx="2468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C7B8CE36-9EEB-764C-A680-D6F0A0689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0282" y="3765446"/>
                <a:ext cx="246862" cy="369332"/>
              </a:xfrm>
              <a:prstGeom prst="rect">
                <a:avLst/>
              </a:prstGeom>
              <a:blipFill>
                <a:blip r:embed="rId13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/>
              <p:nvPr/>
            </p:nvSpPr>
            <p:spPr>
              <a:xfrm>
                <a:off x="6231195" y="3779748"/>
                <a:ext cx="2516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195" y="3779748"/>
                <a:ext cx="251671" cy="369332"/>
              </a:xfrm>
              <a:prstGeom prst="rect">
                <a:avLst/>
              </a:prstGeom>
              <a:blipFill>
                <a:blip r:embed="rId14"/>
                <a:stretch>
                  <a:fillRect l="-23810" r="-2381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矩形 87">
            <a:extLst>
              <a:ext uri="{FF2B5EF4-FFF2-40B4-BE49-F238E27FC236}">
                <a16:creationId xmlns:a16="http://schemas.microsoft.com/office/drawing/2014/main" id="{6C655758-87F2-8F45-AA34-421DB44C0A10}"/>
              </a:ext>
            </a:extLst>
          </p:cNvPr>
          <p:cNvSpPr/>
          <p:nvPr/>
        </p:nvSpPr>
        <p:spPr bwMode="auto">
          <a:xfrm>
            <a:off x="4415851" y="1866997"/>
            <a:ext cx="266984" cy="15723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CE355B3A-F31D-B845-A966-F47DC95CCD87}"/>
              </a:ext>
            </a:extLst>
          </p:cNvPr>
          <p:cNvSpPr/>
          <p:nvPr/>
        </p:nvSpPr>
        <p:spPr bwMode="auto">
          <a:xfrm>
            <a:off x="4441482" y="1898421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9C52EFF6-9A55-8247-9815-B27AE5797145}"/>
              </a:ext>
            </a:extLst>
          </p:cNvPr>
          <p:cNvSpPr/>
          <p:nvPr/>
        </p:nvSpPr>
        <p:spPr bwMode="auto">
          <a:xfrm>
            <a:off x="4451858" y="2190519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73A66444-F698-EF4F-BA2A-58FB21F05B3D}"/>
              </a:ext>
            </a:extLst>
          </p:cNvPr>
          <p:cNvSpPr/>
          <p:nvPr/>
        </p:nvSpPr>
        <p:spPr bwMode="auto">
          <a:xfrm>
            <a:off x="4439223" y="2872273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D9B2F4FE-0772-9E45-A720-2B6295A42E97}"/>
              </a:ext>
            </a:extLst>
          </p:cNvPr>
          <p:cNvSpPr/>
          <p:nvPr/>
        </p:nvSpPr>
        <p:spPr bwMode="auto">
          <a:xfrm>
            <a:off x="4440301" y="3171308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615DAEA-3E7B-1A4E-9B9C-3DA9F20055C1}"/>
              </a:ext>
            </a:extLst>
          </p:cNvPr>
          <p:cNvSpPr txBox="1"/>
          <p:nvPr/>
        </p:nvSpPr>
        <p:spPr>
          <a:xfrm>
            <a:off x="4422396" y="229641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2F91BC9-3237-E046-97AC-90D7F17020B5}"/>
              </a:ext>
            </a:extLst>
          </p:cNvPr>
          <p:cNvSpPr txBox="1"/>
          <p:nvPr/>
        </p:nvSpPr>
        <p:spPr>
          <a:xfrm>
            <a:off x="4422166" y="246778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/>
              <p:nvPr/>
            </p:nvSpPr>
            <p:spPr>
              <a:xfrm>
                <a:off x="4330848" y="3448933"/>
                <a:ext cx="4571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𝐡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848" y="3448933"/>
                <a:ext cx="457176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文本框 98">
            <a:extLst>
              <a:ext uri="{FF2B5EF4-FFF2-40B4-BE49-F238E27FC236}">
                <a16:creationId xmlns:a16="http://schemas.microsoft.com/office/drawing/2014/main" id="{B7689C5C-B47E-E542-A51F-7B4F00B4F0A6}"/>
              </a:ext>
            </a:extLst>
          </p:cNvPr>
          <p:cNvSpPr txBox="1"/>
          <p:nvPr/>
        </p:nvSpPr>
        <p:spPr>
          <a:xfrm>
            <a:off x="2325261" y="91026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输入层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B19AC18-1237-D44B-83EF-E15800AED32D}"/>
              </a:ext>
            </a:extLst>
          </p:cNvPr>
          <p:cNvSpPr txBox="1"/>
          <p:nvPr/>
        </p:nvSpPr>
        <p:spPr>
          <a:xfrm>
            <a:off x="5875484" y="90396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输出层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C7C7B9A3-C7D4-6641-BD4F-7F317EE46D78}"/>
              </a:ext>
            </a:extLst>
          </p:cNvPr>
          <p:cNvSpPr txBox="1"/>
          <p:nvPr/>
        </p:nvSpPr>
        <p:spPr>
          <a:xfrm>
            <a:off x="4211960" y="90822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隐</a:t>
            </a:r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内容占位符 3">
                <a:extLst>
                  <a:ext uri="{FF2B5EF4-FFF2-40B4-BE49-F238E27FC236}">
                    <a16:creationId xmlns:a16="http://schemas.microsoft.com/office/drawing/2014/main" id="{7F98D622-5E4A-6E4F-9E9B-322CEB36B3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9698" y="4634027"/>
                <a:ext cx="8001000" cy="1110233"/>
              </a:xfrm>
            </p:spPr>
            <p:txBody>
              <a:bodyPr/>
              <a:lstStyle/>
              <a:p>
                <a:r>
                  <a:rPr lang="zh-CN" altLang="en-US" sz="2000" b="0" dirty="0">
                    <a:ea typeface="STKaiti" panose="02010600040101010101" pitchFamily="2" charset="-122"/>
                  </a:rPr>
                  <a:t>隐层向量 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STKaiti" panose="02010600040101010101" pitchFamily="2" charset="-122"/>
                      </a:rPr>
                      <m:t>𝐡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STKaiti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b="1" i="0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T</m:t>
                        </m:r>
                      </m:sup>
                    </m:sSup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STKaiti" panose="02010600040101010101" pitchFamily="2" charset="-122"/>
                      </a:rPr>
                      <m:t>𝐱</m:t>
                    </m:r>
                  </m:oMath>
                </a14:m>
                <a:endParaRPr lang="en-US" altLang="zh-CN" sz="2000" b="1" dirty="0">
                  <a:ea typeface="STKaiti" panose="02010600040101010101" pitchFamily="2" charset="-122"/>
                </a:endParaRPr>
              </a:p>
              <a:p>
                <a:r>
                  <a:rPr lang="zh-CN" altLang="en-US" sz="2000" b="0" dirty="0"/>
                  <a:t>概率归一化之前的输出向量 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STKaiti" panose="02010600040101010101" pitchFamily="2" charset="-122"/>
                      </a:rPr>
                      <m:t>𝐨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STKaiti" panose="02010600040101010101" pitchFamily="2" charset="-122"/>
                      </a:rPr>
                      <m:t>=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STKaiti" panose="02010600040101010101" pitchFamily="2" charset="-122"/>
                      </a:rPr>
                      <m:t>𝐕𝐡</m:t>
                    </m:r>
                  </m:oMath>
                </a14:m>
                <a:endParaRPr lang="en-US" altLang="zh-CN" sz="2000" b="1" dirty="0">
                  <a:ea typeface="STKaiti" panose="02010600040101010101" pitchFamily="2" charset="-122"/>
                </a:endParaRPr>
              </a:p>
              <a:p>
                <a:r>
                  <a:rPr lang="zh-CN" altLang="en-US" sz="2000" b="0" dirty="0"/>
                  <a:t>概率归一化的概率分布向量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STKaiti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exp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STKaiti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STKaiti" panose="02010600040101010101" pitchFamily="2" charset="-122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STKaiti" panose="02010600040101010101" pitchFamily="2" charset="-122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  <a:ea typeface="STKaiti" panose="02010600040101010101" pitchFamily="2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STKaiti" panose="02010600040101010101" pitchFamily="2" charset="-122"/>
                              </a:rPr>
                              <m:t>𝑡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STKaiti" panose="02010600040101010101" pitchFamily="2" charset="-122"/>
                              </a:rPr>
                              <m:t>=1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endParaRPr lang="en-US" altLang="zh-CN" sz="2000" b="0" dirty="0">
                  <a:ea typeface="STKaiti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2" name="内容占位符 3">
                <a:extLst>
                  <a:ext uri="{FF2B5EF4-FFF2-40B4-BE49-F238E27FC236}">
                    <a16:creationId xmlns:a16="http://schemas.microsoft.com/office/drawing/2014/main" id="{7F98D622-5E4A-6E4F-9E9B-322CEB36B3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9698" y="4634027"/>
                <a:ext cx="8001000" cy="1110233"/>
              </a:xfrm>
              <a:blipFill>
                <a:blip r:embed="rId16"/>
                <a:stretch>
                  <a:fillRect l="-1268" t="-11236" b="-75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08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CBOW</a:t>
            </a:r>
            <a:r>
              <a:rPr lang="zh-CN" altLang="en-US" dirty="0"/>
              <a:t>模型：考虑只有一个上文词的特殊情况</a:t>
            </a:r>
            <a:endParaRPr kumimoji="1" lang="zh-CN" altLang="en-US" dirty="0"/>
          </a:p>
        </p:txBody>
      </p:sp>
      <p:sp>
        <p:nvSpPr>
          <p:cNvPr id="4" name="梯形 3">
            <a:extLst>
              <a:ext uri="{FF2B5EF4-FFF2-40B4-BE49-F238E27FC236}">
                <a16:creationId xmlns:a16="http://schemas.microsoft.com/office/drawing/2014/main" id="{F82FC0F3-F1A8-454E-8D8F-ACEE9103B3DE}"/>
              </a:ext>
            </a:extLst>
          </p:cNvPr>
          <p:cNvSpPr/>
          <p:nvPr/>
        </p:nvSpPr>
        <p:spPr bwMode="auto">
          <a:xfrm rot="5400000">
            <a:off x="2577159" y="1818663"/>
            <a:ext cx="2333498" cy="1656184"/>
          </a:xfrm>
          <a:prstGeom prst="trapezoi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5" name="梯形 44">
            <a:extLst>
              <a:ext uri="{FF2B5EF4-FFF2-40B4-BE49-F238E27FC236}">
                <a16:creationId xmlns:a16="http://schemas.microsoft.com/office/drawing/2014/main" id="{B5505625-CA44-2646-BFBD-D656BC52EA8B}"/>
              </a:ext>
            </a:extLst>
          </p:cNvPr>
          <p:cNvSpPr/>
          <p:nvPr/>
        </p:nvSpPr>
        <p:spPr bwMode="auto">
          <a:xfrm rot="16200000">
            <a:off x="4230594" y="1831707"/>
            <a:ext cx="2338998" cy="1656184"/>
          </a:xfrm>
          <a:prstGeom prst="trapezoid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A35E648-D53F-4C4B-A08A-F58B861B7397}"/>
              </a:ext>
            </a:extLst>
          </p:cNvPr>
          <p:cNvGrpSpPr/>
          <p:nvPr/>
        </p:nvGrpSpPr>
        <p:grpSpPr>
          <a:xfrm>
            <a:off x="2675158" y="1453034"/>
            <a:ext cx="312666" cy="2360468"/>
            <a:chOff x="2627784" y="908720"/>
            <a:chExt cx="312666" cy="2360468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594846E-A3E5-4E4C-AB14-0D3649C4B674}"/>
                </a:ext>
              </a:extLst>
            </p:cNvPr>
            <p:cNvSpPr/>
            <p:nvPr/>
          </p:nvSpPr>
          <p:spPr bwMode="auto">
            <a:xfrm>
              <a:off x="2627784" y="908720"/>
              <a:ext cx="288032" cy="23604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3D46F09B-D28D-5C4E-AD71-070E183F4210}"/>
                </a:ext>
              </a:extLst>
            </p:cNvPr>
            <p:cNvSpPr/>
            <p:nvPr/>
          </p:nvSpPr>
          <p:spPr bwMode="auto">
            <a:xfrm>
              <a:off x="2663787" y="9807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0D3EE5F0-230C-F249-8406-1CDE56A83AAC}"/>
                </a:ext>
              </a:extLst>
            </p:cNvPr>
            <p:cNvSpPr/>
            <p:nvPr/>
          </p:nvSpPr>
          <p:spPr bwMode="auto">
            <a:xfrm>
              <a:off x="2673404" y="12855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E2BFD665-33BD-F841-8AB3-DA63FFF5E353}"/>
                </a:ext>
              </a:extLst>
            </p:cNvPr>
            <p:cNvSpPr/>
            <p:nvPr/>
          </p:nvSpPr>
          <p:spPr bwMode="auto">
            <a:xfrm>
              <a:off x="2673403" y="1988840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CF3464F8-FBFD-6641-A302-CC3FAFABA75C}"/>
                </a:ext>
              </a:extLst>
            </p:cNvPr>
            <p:cNvSpPr/>
            <p:nvPr/>
          </p:nvSpPr>
          <p:spPr bwMode="auto">
            <a:xfrm>
              <a:off x="2663787" y="2708920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B72FA0D-3809-7D4B-8E54-C811CF2AF2D7}"/>
                </a:ext>
              </a:extLst>
            </p:cNvPr>
            <p:cNvSpPr/>
            <p:nvPr/>
          </p:nvSpPr>
          <p:spPr bwMode="auto">
            <a:xfrm>
              <a:off x="2663786" y="2982606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621E643-DA5E-2D44-810F-E24230CB52A3}"/>
                </a:ext>
              </a:extLst>
            </p:cNvPr>
            <p:cNvGrpSpPr/>
            <p:nvPr/>
          </p:nvGrpSpPr>
          <p:grpSpPr>
            <a:xfrm>
              <a:off x="2652418" y="1327135"/>
              <a:ext cx="288032" cy="672173"/>
              <a:chOff x="1691680" y="3573016"/>
              <a:chExt cx="288032" cy="672173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09C6A32-62BD-564F-BC33-FF11935BA746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F1CC4CA-823C-4349-B812-2300FE5403C3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09E78BCC-E56B-C247-9D10-2A35F123F576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3D7B52C1-0B03-9141-BFBB-03BBC6F063B0}"/>
                </a:ext>
              </a:extLst>
            </p:cNvPr>
            <p:cNvGrpSpPr/>
            <p:nvPr/>
          </p:nvGrpSpPr>
          <p:grpSpPr>
            <a:xfrm>
              <a:off x="2652234" y="2035861"/>
              <a:ext cx="288032" cy="672173"/>
              <a:chOff x="1691680" y="3573016"/>
              <a:chExt cx="288032" cy="672173"/>
            </a:xfrm>
          </p:grpSpPr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EE66E474-936A-ED45-9CB8-CDE35D734013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C14C3F4-335A-6C41-B7AC-FC2200D1938F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F22CCC57-CB93-574C-9FE0-203B2A484A21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</p:grp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1749A54-37BE-544E-8BEF-87D31D55A536}"/>
              </a:ext>
            </a:extLst>
          </p:cNvPr>
          <p:cNvCxnSpPr/>
          <p:nvPr/>
        </p:nvCxnSpPr>
        <p:spPr bwMode="auto">
          <a:xfrm>
            <a:off x="3935167" y="4014319"/>
            <a:ext cx="122413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2AEC97DD-A83F-C441-BCCF-21CDF72705AA}"/>
              </a:ext>
            </a:extLst>
          </p:cNvPr>
          <p:cNvGrpSpPr/>
          <p:nvPr/>
        </p:nvGrpSpPr>
        <p:grpSpPr>
          <a:xfrm>
            <a:off x="6222137" y="1480006"/>
            <a:ext cx="312666" cy="2360468"/>
            <a:chOff x="2627784" y="908720"/>
            <a:chExt cx="312666" cy="2360468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F61A3483-5912-F047-9EF1-F6220FBF9D7F}"/>
                </a:ext>
              </a:extLst>
            </p:cNvPr>
            <p:cNvSpPr/>
            <p:nvPr/>
          </p:nvSpPr>
          <p:spPr bwMode="auto">
            <a:xfrm>
              <a:off x="2627784" y="908720"/>
              <a:ext cx="288032" cy="23604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3319BE84-DE1C-AD42-B2BB-91CF9395A294}"/>
                </a:ext>
              </a:extLst>
            </p:cNvPr>
            <p:cNvSpPr/>
            <p:nvPr/>
          </p:nvSpPr>
          <p:spPr bwMode="auto">
            <a:xfrm>
              <a:off x="2663787" y="9807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EFBA9F02-9553-D842-8A13-FB2542A857DA}"/>
                </a:ext>
              </a:extLst>
            </p:cNvPr>
            <p:cNvSpPr/>
            <p:nvPr/>
          </p:nvSpPr>
          <p:spPr bwMode="auto">
            <a:xfrm>
              <a:off x="2673404" y="12855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C320ECB6-F9FB-E144-BA1E-CE186B1323F9}"/>
                </a:ext>
              </a:extLst>
            </p:cNvPr>
            <p:cNvSpPr/>
            <p:nvPr/>
          </p:nvSpPr>
          <p:spPr bwMode="auto">
            <a:xfrm>
              <a:off x="2673403" y="1988840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E8F8DF71-CFC9-0046-AE91-C5BFEC740A42}"/>
                </a:ext>
              </a:extLst>
            </p:cNvPr>
            <p:cNvSpPr/>
            <p:nvPr/>
          </p:nvSpPr>
          <p:spPr bwMode="auto">
            <a:xfrm>
              <a:off x="2663787" y="2708920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18EB4C87-BE30-1345-BCE0-220E4939DEE8}"/>
                </a:ext>
              </a:extLst>
            </p:cNvPr>
            <p:cNvSpPr/>
            <p:nvPr/>
          </p:nvSpPr>
          <p:spPr bwMode="auto">
            <a:xfrm>
              <a:off x="2663786" y="2982606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50E1AE9C-BB24-804F-8038-DFD37C704F34}"/>
                </a:ext>
              </a:extLst>
            </p:cNvPr>
            <p:cNvGrpSpPr/>
            <p:nvPr/>
          </p:nvGrpSpPr>
          <p:grpSpPr>
            <a:xfrm>
              <a:off x="2652418" y="1327135"/>
              <a:ext cx="288032" cy="672173"/>
              <a:chOff x="1691680" y="3573016"/>
              <a:chExt cx="288032" cy="672173"/>
            </a:xfrm>
          </p:grpSpPr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68D9A63-457F-074A-AA50-14FD36B16086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FAA7D1C8-36FE-2F42-8E30-18BF29774D5C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B328238A-08BC-6945-9359-1283E3309482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C029C03C-FB89-9D4C-9A93-386977890858}"/>
                </a:ext>
              </a:extLst>
            </p:cNvPr>
            <p:cNvGrpSpPr/>
            <p:nvPr/>
          </p:nvGrpSpPr>
          <p:grpSpPr>
            <a:xfrm>
              <a:off x="2652234" y="2043846"/>
              <a:ext cx="288212" cy="664188"/>
              <a:chOff x="1691680" y="3581001"/>
              <a:chExt cx="288212" cy="664188"/>
            </a:xfrm>
          </p:grpSpPr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A6BAA61F-A004-D847-A838-37296487319D}"/>
                  </a:ext>
                </a:extLst>
              </p:cNvPr>
              <p:cNvSpPr txBox="1"/>
              <p:nvPr/>
            </p:nvSpPr>
            <p:spPr>
              <a:xfrm>
                <a:off x="1691860" y="3581001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839F2A8B-3FEC-EE4D-97C3-73B0E0F461E6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CD6CE221-0D7A-3044-A1AA-86ADD001E589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/>
              <p:nvPr/>
            </p:nvSpPr>
            <p:spPr>
              <a:xfrm>
                <a:off x="3593669" y="2462307"/>
                <a:ext cx="3606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669" y="2462307"/>
                <a:ext cx="360675" cy="430887"/>
              </a:xfrm>
              <a:prstGeom prst="rect">
                <a:avLst/>
              </a:prstGeom>
              <a:blipFill>
                <a:blip r:embed="rId3"/>
                <a:stretch>
                  <a:fillRect l="-20690" r="-17241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/>
              <p:nvPr/>
            </p:nvSpPr>
            <p:spPr>
              <a:xfrm>
                <a:off x="5286762" y="2462307"/>
                <a:ext cx="33182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𝐕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762" y="2462307"/>
                <a:ext cx="331822" cy="430887"/>
              </a:xfrm>
              <a:prstGeom prst="rect">
                <a:avLst/>
              </a:prstGeom>
              <a:blipFill>
                <a:blip r:embed="rId4"/>
                <a:stretch>
                  <a:fillRect l="-22222" r="-22222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7CF655CA-BE53-774B-886D-134D4371A77D}"/>
              </a:ext>
            </a:extLst>
          </p:cNvPr>
          <p:cNvGrpSpPr/>
          <p:nvPr/>
        </p:nvGrpSpPr>
        <p:grpSpPr>
          <a:xfrm>
            <a:off x="2203064" y="1382383"/>
            <a:ext cx="545021" cy="2385012"/>
            <a:chOff x="2203064" y="838069"/>
            <a:chExt cx="545021" cy="2385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50D5790-8C00-F349-A3ED-EF280594DEA6}"/>
                    </a:ext>
                  </a:extLst>
                </p:cNvPr>
                <p:cNvSpPr txBox="1"/>
                <p:nvPr/>
              </p:nvSpPr>
              <p:spPr>
                <a:xfrm>
                  <a:off x="2211615" y="838069"/>
                  <a:ext cx="50263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50D5790-8C00-F349-A3ED-EF280594DE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615" y="838069"/>
                  <a:ext cx="502637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64650C97-F30D-6347-AE33-2E84895A6E37}"/>
                    </a:ext>
                  </a:extLst>
                </p:cNvPr>
                <p:cNvSpPr txBox="1"/>
                <p:nvPr/>
              </p:nvSpPr>
              <p:spPr>
                <a:xfrm>
                  <a:off x="2216141" y="1154052"/>
                  <a:ext cx="50860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64650C97-F30D-6347-AE33-2E84895A6E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141" y="1154052"/>
                  <a:ext cx="508601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CEAD8259-8CAB-1546-8F09-66164EA88795}"/>
                    </a:ext>
                  </a:extLst>
                </p:cNvPr>
                <p:cNvSpPr txBox="1"/>
                <p:nvPr/>
              </p:nvSpPr>
              <p:spPr>
                <a:xfrm>
                  <a:off x="2203987" y="1862057"/>
                  <a:ext cx="5189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CEAD8259-8CAB-1546-8F09-66164EA887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987" y="1862057"/>
                  <a:ext cx="518925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4DEC39D-C1A1-1643-9D91-9EF3EA73BC4F}"/>
                    </a:ext>
                  </a:extLst>
                </p:cNvPr>
                <p:cNvSpPr txBox="1"/>
                <p:nvPr/>
              </p:nvSpPr>
              <p:spPr>
                <a:xfrm>
                  <a:off x="2203064" y="2822971"/>
                  <a:ext cx="54502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4DEC39D-C1A1-1643-9D91-9EF3EA73BC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2822971"/>
                  <a:ext cx="545021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CE76F8E7-A84A-D846-B290-1C715151CBAE}"/>
              </a:ext>
            </a:extLst>
          </p:cNvPr>
          <p:cNvGrpSpPr/>
          <p:nvPr/>
        </p:nvGrpSpPr>
        <p:grpSpPr>
          <a:xfrm>
            <a:off x="6521722" y="1444286"/>
            <a:ext cx="547779" cy="2385012"/>
            <a:chOff x="2203064" y="838069"/>
            <a:chExt cx="547779" cy="2385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/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blipFill>
                  <a:blip r:embed="rId9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/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/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/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C7B8CE36-9EEB-764C-A680-D6F0A068987A}"/>
                  </a:ext>
                </a:extLst>
              </p:cNvPr>
              <p:cNvSpPr txBox="1"/>
              <p:nvPr/>
            </p:nvSpPr>
            <p:spPr>
              <a:xfrm>
                <a:off x="2690282" y="3765446"/>
                <a:ext cx="2468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C7B8CE36-9EEB-764C-A680-D6F0A0689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0282" y="3765446"/>
                <a:ext cx="246862" cy="369332"/>
              </a:xfrm>
              <a:prstGeom prst="rect">
                <a:avLst/>
              </a:prstGeom>
              <a:blipFill>
                <a:blip r:embed="rId13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/>
              <p:nvPr/>
            </p:nvSpPr>
            <p:spPr>
              <a:xfrm>
                <a:off x="6231195" y="3779748"/>
                <a:ext cx="2516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195" y="3779748"/>
                <a:ext cx="251671" cy="369332"/>
              </a:xfrm>
              <a:prstGeom prst="rect">
                <a:avLst/>
              </a:prstGeom>
              <a:blipFill>
                <a:blip r:embed="rId14"/>
                <a:stretch>
                  <a:fillRect l="-23810" r="-2381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矩形 87">
            <a:extLst>
              <a:ext uri="{FF2B5EF4-FFF2-40B4-BE49-F238E27FC236}">
                <a16:creationId xmlns:a16="http://schemas.microsoft.com/office/drawing/2014/main" id="{6C655758-87F2-8F45-AA34-421DB44C0A10}"/>
              </a:ext>
            </a:extLst>
          </p:cNvPr>
          <p:cNvSpPr/>
          <p:nvPr/>
        </p:nvSpPr>
        <p:spPr bwMode="auto">
          <a:xfrm>
            <a:off x="4415851" y="1866997"/>
            <a:ext cx="266984" cy="15723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CE355B3A-F31D-B845-A966-F47DC95CCD87}"/>
              </a:ext>
            </a:extLst>
          </p:cNvPr>
          <p:cNvSpPr/>
          <p:nvPr/>
        </p:nvSpPr>
        <p:spPr bwMode="auto">
          <a:xfrm>
            <a:off x="4441482" y="1898421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9C52EFF6-9A55-8247-9815-B27AE5797145}"/>
              </a:ext>
            </a:extLst>
          </p:cNvPr>
          <p:cNvSpPr/>
          <p:nvPr/>
        </p:nvSpPr>
        <p:spPr bwMode="auto">
          <a:xfrm>
            <a:off x="4451858" y="2190519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73A66444-F698-EF4F-BA2A-58FB21F05B3D}"/>
              </a:ext>
            </a:extLst>
          </p:cNvPr>
          <p:cNvSpPr/>
          <p:nvPr/>
        </p:nvSpPr>
        <p:spPr bwMode="auto">
          <a:xfrm>
            <a:off x="4439223" y="2872273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D9B2F4FE-0772-9E45-A720-2B6295A42E97}"/>
              </a:ext>
            </a:extLst>
          </p:cNvPr>
          <p:cNvSpPr/>
          <p:nvPr/>
        </p:nvSpPr>
        <p:spPr bwMode="auto">
          <a:xfrm>
            <a:off x="4440301" y="3171308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615DAEA-3E7B-1A4E-9B9C-3DA9F20055C1}"/>
              </a:ext>
            </a:extLst>
          </p:cNvPr>
          <p:cNvSpPr txBox="1"/>
          <p:nvPr/>
        </p:nvSpPr>
        <p:spPr>
          <a:xfrm>
            <a:off x="4422396" y="229641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2F91BC9-3237-E046-97AC-90D7F17020B5}"/>
              </a:ext>
            </a:extLst>
          </p:cNvPr>
          <p:cNvSpPr txBox="1"/>
          <p:nvPr/>
        </p:nvSpPr>
        <p:spPr>
          <a:xfrm>
            <a:off x="4422166" y="246778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/>
              <p:nvPr/>
            </p:nvSpPr>
            <p:spPr>
              <a:xfrm>
                <a:off x="4330848" y="3448933"/>
                <a:ext cx="4571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𝐡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848" y="3448933"/>
                <a:ext cx="457176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文本框 98">
            <a:extLst>
              <a:ext uri="{FF2B5EF4-FFF2-40B4-BE49-F238E27FC236}">
                <a16:creationId xmlns:a16="http://schemas.microsoft.com/office/drawing/2014/main" id="{B7689C5C-B47E-E542-A51F-7B4F00B4F0A6}"/>
              </a:ext>
            </a:extLst>
          </p:cNvPr>
          <p:cNvSpPr txBox="1"/>
          <p:nvPr/>
        </p:nvSpPr>
        <p:spPr>
          <a:xfrm>
            <a:off x="2325261" y="91026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输入层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B19AC18-1237-D44B-83EF-E15800AED32D}"/>
              </a:ext>
            </a:extLst>
          </p:cNvPr>
          <p:cNvSpPr txBox="1"/>
          <p:nvPr/>
        </p:nvSpPr>
        <p:spPr>
          <a:xfrm>
            <a:off x="5875484" y="90396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输出层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C7C7B9A3-C7D4-6641-BD4F-7F317EE46D78}"/>
              </a:ext>
            </a:extLst>
          </p:cNvPr>
          <p:cNvSpPr txBox="1"/>
          <p:nvPr/>
        </p:nvSpPr>
        <p:spPr>
          <a:xfrm>
            <a:off x="4211960" y="90822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隐</a:t>
            </a:r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层</a:t>
            </a:r>
          </a:p>
        </p:txBody>
      </p:sp>
      <p:sp>
        <p:nvSpPr>
          <p:cNvPr id="102" name="内容占位符 3">
            <a:extLst>
              <a:ext uri="{FF2B5EF4-FFF2-40B4-BE49-F238E27FC236}">
                <a16:creationId xmlns:a16="http://schemas.microsoft.com/office/drawing/2014/main" id="{7F98D622-5E4A-6E4F-9E9B-322CEB36B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524" y="4452740"/>
            <a:ext cx="8001000" cy="459200"/>
          </a:xfrm>
        </p:spPr>
        <p:txBody>
          <a:bodyPr/>
          <a:lstStyle/>
          <a:p>
            <a:r>
              <a:rPr lang="zh-CN" altLang="en-US" sz="2000" b="0" dirty="0"/>
              <a:t>交叉熵损失函数</a:t>
            </a:r>
            <a:endParaRPr lang="en-US" altLang="zh-CN" sz="2000" b="0" dirty="0"/>
          </a:p>
          <a:p>
            <a:endParaRPr lang="en-US" altLang="zh-CN" sz="2000" b="0" dirty="0">
              <a:ea typeface="STKaiti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7CB7940-1DD0-7248-ACFC-CC98C55D58B3}"/>
                  </a:ext>
                </a:extLst>
              </p:cNvPr>
              <p:cNvSpPr txBox="1"/>
              <p:nvPr/>
            </p:nvSpPr>
            <p:spPr>
              <a:xfrm>
                <a:off x="3660403" y="4450144"/>
                <a:ext cx="1907958" cy="491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b="0" i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1" lang="zh-CN" alt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b="0" i="0" smtClean="0"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7CB7940-1DD0-7248-ACFC-CC98C55D5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403" y="4450144"/>
                <a:ext cx="1907958" cy="491417"/>
              </a:xfrm>
              <a:prstGeom prst="rect">
                <a:avLst/>
              </a:prstGeom>
              <a:blipFill>
                <a:blip r:embed="rId16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内容占位符 3">
            <a:extLst>
              <a:ext uri="{FF2B5EF4-FFF2-40B4-BE49-F238E27FC236}">
                <a16:creationId xmlns:a16="http://schemas.microsoft.com/office/drawing/2014/main" id="{927CD419-9C39-DE40-8C65-9F2FD6278F7D}"/>
              </a:ext>
            </a:extLst>
          </p:cNvPr>
          <p:cNvSpPr txBox="1">
            <a:spLocks/>
          </p:cNvSpPr>
          <p:nvPr/>
        </p:nvSpPr>
        <p:spPr bwMode="auto">
          <a:xfrm>
            <a:off x="809892" y="5060619"/>
            <a:ext cx="3070214" cy="45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marL="342900" indent="-342900" algn="l" defTabSz="912813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SzPct val="120000"/>
              <a:buFont typeface="System Font Regular"/>
              <a:buChar char="▸"/>
              <a:defRPr kumimoji="1" sz="2600" b="1">
                <a:solidFill>
                  <a:schemeClr val="tx1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defRPr>
            </a:lvl1pPr>
            <a:lvl2pPr marL="742950" indent="-285750" algn="l" defTabSz="912813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Font typeface="System Font Regular"/>
              <a:buChar char="▸"/>
              <a:defRPr kumimoji="1" sz="2400">
                <a:solidFill>
                  <a:schemeClr val="tx1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defRPr>
            </a:lvl2pPr>
            <a:lvl3pPr marL="1143000" indent="-230188" algn="l" defTabSz="912813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Font typeface="System Font Regular"/>
              <a:buChar char="▸"/>
              <a:defRPr kumimoji="1" sz="2000">
                <a:solidFill>
                  <a:schemeClr val="tx1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defRPr>
            </a:lvl3pPr>
            <a:lvl4pPr marL="1600200" indent="-228600" algn="l" defTabSz="912813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Font typeface="System Font Regular"/>
              <a:buChar char="▸"/>
              <a:defRPr kumimoji="1">
                <a:solidFill>
                  <a:schemeClr val="tx1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defRPr>
            </a:lvl4pPr>
            <a:lvl5pPr marL="2057400" indent="-228600" algn="l" defTabSz="912813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STKaiti" panose="02010600040101010101" pitchFamily="2" charset="-122"/>
                <a:ea typeface="STKaiti" panose="02010600040101010101" pitchFamily="2" charset="-122"/>
              </a:defRPr>
            </a:lvl5pPr>
            <a:lvl6pPr marL="2514600" indent="-228600" algn="l" defTabSz="912813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6pPr>
            <a:lvl7pPr marL="2971800" indent="-228600" algn="l" defTabSz="912813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7pPr>
            <a:lvl8pPr marL="3429000" indent="-228600" algn="l" defTabSz="912813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8pPr>
            <a:lvl9pPr marL="3886200" indent="-228600" algn="l" defTabSz="912813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000" b="0" kern="0" dirty="0"/>
              <a:t>梯度下降更新参数</a:t>
            </a:r>
            <a:endParaRPr lang="en-US" altLang="zh-CN" sz="2000" b="0" kern="0" dirty="0"/>
          </a:p>
          <a:p>
            <a:endParaRPr lang="en-US" altLang="zh-CN" sz="2000" b="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51CC90E-0243-5B4F-8708-373B9454A690}"/>
                  </a:ext>
                </a:extLst>
              </p:cNvPr>
              <p:cNvSpPr txBox="1"/>
              <p:nvPr/>
            </p:nvSpPr>
            <p:spPr>
              <a:xfrm>
                <a:off x="4909587" y="5579062"/>
                <a:ext cx="2271070" cy="7646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𝐮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51CC90E-0243-5B4F-8708-373B9454A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587" y="5579062"/>
                <a:ext cx="2271070" cy="764697"/>
              </a:xfrm>
              <a:prstGeom prst="rect">
                <a:avLst/>
              </a:prstGeom>
              <a:blipFill>
                <a:blip r:embed="rId17"/>
                <a:stretch>
                  <a:fillRect l="-1111" t="-1639" r="-556"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D6B82AB0-BF2B-4042-94DA-723CD35D02BB}"/>
                  </a:ext>
                </a:extLst>
              </p:cNvPr>
              <p:cNvSpPr txBox="1"/>
              <p:nvPr/>
            </p:nvSpPr>
            <p:spPr>
              <a:xfrm>
                <a:off x="2059669" y="5579062"/>
                <a:ext cx="2004908" cy="7646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𝐯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D6B82AB0-BF2B-4042-94DA-723CD35D0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669" y="5579062"/>
                <a:ext cx="2004908" cy="764697"/>
              </a:xfrm>
              <a:prstGeom prst="rect">
                <a:avLst/>
              </a:prstGeom>
              <a:blipFill>
                <a:blip r:embed="rId18"/>
                <a:stretch>
                  <a:fillRect l="-1887" t="-1639" r="-629"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BDA76393-7318-7D4C-9C94-779F3F86E57A}"/>
              </a:ext>
            </a:extLst>
          </p:cNvPr>
          <p:cNvSpPr txBox="1"/>
          <p:nvPr/>
        </p:nvSpPr>
        <p:spPr>
          <a:xfrm>
            <a:off x="3491880" y="5478471"/>
            <a:ext cx="651021" cy="9028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0B756E5D-35AA-C546-BEB5-740BE4FDD645}"/>
              </a:ext>
            </a:extLst>
          </p:cNvPr>
          <p:cNvSpPr txBox="1"/>
          <p:nvPr/>
        </p:nvSpPr>
        <p:spPr>
          <a:xfrm>
            <a:off x="6555087" y="5509981"/>
            <a:ext cx="651021" cy="9028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1835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9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CBOW</a:t>
            </a:r>
            <a:r>
              <a:rPr lang="zh-CN" altLang="en-US" dirty="0"/>
              <a:t>模型：考虑只有一个上文词的特殊情况</a:t>
            </a:r>
            <a:endParaRPr kumimoji="1" lang="zh-CN" altLang="en-US" dirty="0"/>
          </a:p>
        </p:txBody>
      </p:sp>
      <p:sp>
        <p:nvSpPr>
          <p:cNvPr id="4" name="梯形 3">
            <a:extLst>
              <a:ext uri="{FF2B5EF4-FFF2-40B4-BE49-F238E27FC236}">
                <a16:creationId xmlns:a16="http://schemas.microsoft.com/office/drawing/2014/main" id="{F82FC0F3-F1A8-454E-8D8F-ACEE9103B3DE}"/>
              </a:ext>
            </a:extLst>
          </p:cNvPr>
          <p:cNvSpPr/>
          <p:nvPr/>
        </p:nvSpPr>
        <p:spPr bwMode="auto">
          <a:xfrm rot="5400000">
            <a:off x="2577159" y="1818663"/>
            <a:ext cx="2333498" cy="1656184"/>
          </a:xfrm>
          <a:prstGeom prst="trapezoi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5" name="梯形 44">
            <a:extLst>
              <a:ext uri="{FF2B5EF4-FFF2-40B4-BE49-F238E27FC236}">
                <a16:creationId xmlns:a16="http://schemas.microsoft.com/office/drawing/2014/main" id="{B5505625-CA44-2646-BFBD-D656BC52EA8B}"/>
              </a:ext>
            </a:extLst>
          </p:cNvPr>
          <p:cNvSpPr/>
          <p:nvPr/>
        </p:nvSpPr>
        <p:spPr bwMode="auto">
          <a:xfrm rot="16200000">
            <a:off x="4230594" y="1831707"/>
            <a:ext cx="2338998" cy="1656184"/>
          </a:xfrm>
          <a:prstGeom prst="trapezoid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A35E648-D53F-4C4B-A08A-F58B861B7397}"/>
              </a:ext>
            </a:extLst>
          </p:cNvPr>
          <p:cNvGrpSpPr/>
          <p:nvPr/>
        </p:nvGrpSpPr>
        <p:grpSpPr>
          <a:xfrm>
            <a:off x="2675158" y="1453034"/>
            <a:ext cx="312666" cy="2360468"/>
            <a:chOff x="2627784" y="908720"/>
            <a:chExt cx="312666" cy="2360468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594846E-A3E5-4E4C-AB14-0D3649C4B674}"/>
                </a:ext>
              </a:extLst>
            </p:cNvPr>
            <p:cNvSpPr/>
            <p:nvPr/>
          </p:nvSpPr>
          <p:spPr bwMode="auto">
            <a:xfrm>
              <a:off x="2627784" y="908720"/>
              <a:ext cx="288032" cy="23604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3D46F09B-D28D-5C4E-AD71-070E183F4210}"/>
                </a:ext>
              </a:extLst>
            </p:cNvPr>
            <p:cNvSpPr/>
            <p:nvPr/>
          </p:nvSpPr>
          <p:spPr bwMode="auto">
            <a:xfrm>
              <a:off x="2663787" y="9807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0D3EE5F0-230C-F249-8406-1CDE56A83AAC}"/>
                </a:ext>
              </a:extLst>
            </p:cNvPr>
            <p:cNvSpPr/>
            <p:nvPr/>
          </p:nvSpPr>
          <p:spPr bwMode="auto">
            <a:xfrm>
              <a:off x="2673404" y="12855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E2BFD665-33BD-F841-8AB3-DA63FFF5E353}"/>
                </a:ext>
              </a:extLst>
            </p:cNvPr>
            <p:cNvSpPr/>
            <p:nvPr/>
          </p:nvSpPr>
          <p:spPr bwMode="auto">
            <a:xfrm>
              <a:off x="2673403" y="1988840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CF3464F8-FBFD-6641-A302-CC3FAFABA75C}"/>
                </a:ext>
              </a:extLst>
            </p:cNvPr>
            <p:cNvSpPr/>
            <p:nvPr/>
          </p:nvSpPr>
          <p:spPr bwMode="auto">
            <a:xfrm>
              <a:off x="2663787" y="2708920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B72FA0D-3809-7D4B-8E54-C811CF2AF2D7}"/>
                </a:ext>
              </a:extLst>
            </p:cNvPr>
            <p:cNvSpPr/>
            <p:nvPr/>
          </p:nvSpPr>
          <p:spPr bwMode="auto">
            <a:xfrm>
              <a:off x="2663786" y="2982606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621E643-DA5E-2D44-810F-E24230CB52A3}"/>
                </a:ext>
              </a:extLst>
            </p:cNvPr>
            <p:cNvGrpSpPr/>
            <p:nvPr/>
          </p:nvGrpSpPr>
          <p:grpSpPr>
            <a:xfrm>
              <a:off x="2652418" y="1327135"/>
              <a:ext cx="288032" cy="672173"/>
              <a:chOff x="1691680" y="3573016"/>
              <a:chExt cx="288032" cy="672173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09C6A32-62BD-564F-BC33-FF11935BA746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F1CC4CA-823C-4349-B812-2300FE5403C3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09E78BCC-E56B-C247-9D10-2A35F123F576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3D7B52C1-0B03-9141-BFBB-03BBC6F063B0}"/>
                </a:ext>
              </a:extLst>
            </p:cNvPr>
            <p:cNvGrpSpPr/>
            <p:nvPr/>
          </p:nvGrpSpPr>
          <p:grpSpPr>
            <a:xfrm>
              <a:off x="2652234" y="2035861"/>
              <a:ext cx="288032" cy="672173"/>
              <a:chOff x="1691680" y="3573016"/>
              <a:chExt cx="288032" cy="672173"/>
            </a:xfrm>
          </p:grpSpPr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EE66E474-936A-ED45-9CB8-CDE35D734013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C14C3F4-335A-6C41-B7AC-FC2200D1938F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F22CCC57-CB93-574C-9FE0-203B2A484A21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</p:grp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1749A54-37BE-544E-8BEF-87D31D55A536}"/>
              </a:ext>
            </a:extLst>
          </p:cNvPr>
          <p:cNvCxnSpPr/>
          <p:nvPr/>
        </p:nvCxnSpPr>
        <p:spPr bwMode="auto">
          <a:xfrm>
            <a:off x="3935167" y="4014319"/>
            <a:ext cx="122413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2AEC97DD-A83F-C441-BCCF-21CDF72705AA}"/>
              </a:ext>
            </a:extLst>
          </p:cNvPr>
          <p:cNvGrpSpPr/>
          <p:nvPr/>
        </p:nvGrpSpPr>
        <p:grpSpPr>
          <a:xfrm>
            <a:off x="6222137" y="1480006"/>
            <a:ext cx="312666" cy="2360468"/>
            <a:chOff x="2627784" y="908720"/>
            <a:chExt cx="312666" cy="2360468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F61A3483-5912-F047-9EF1-F6220FBF9D7F}"/>
                </a:ext>
              </a:extLst>
            </p:cNvPr>
            <p:cNvSpPr/>
            <p:nvPr/>
          </p:nvSpPr>
          <p:spPr bwMode="auto">
            <a:xfrm>
              <a:off x="2627784" y="908720"/>
              <a:ext cx="288032" cy="23604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3319BE84-DE1C-AD42-B2BB-91CF9395A294}"/>
                </a:ext>
              </a:extLst>
            </p:cNvPr>
            <p:cNvSpPr/>
            <p:nvPr/>
          </p:nvSpPr>
          <p:spPr bwMode="auto">
            <a:xfrm>
              <a:off x="2663787" y="9807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EFBA9F02-9553-D842-8A13-FB2542A857DA}"/>
                </a:ext>
              </a:extLst>
            </p:cNvPr>
            <p:cNvSpPr/>
            <p:nvPr/>
          </p:nvSpPr>
          <p:spPr bwMode="auto">
            <a:xfrm>
              <a:off x="2673404" y="12855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C320ECB6-F9FB-E144-BA1E-CE186B1323F9}"/>
                </a:ext>
              </a:extLst>
            </p:cNvPr>
            <p:cNvSpPr/>
            <p:nvPr/>
          </p:nvSpPr>
          <p:spPr bwMode="auto">
            <a:xfrm>
              <a:off x="2673403" y="1988840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E8F8DF71-CFC9-0046-AE91-C5BFEC740A42}"/>
                </a:ext>
              </a:extLst>
            </p:cNvPr>
            <p:cNvSpPr/>
            <p:nvPr/>
          </p:nvSpPr>
          <p:spPr bwMode="auto">
            <a:xfrm>
              <a:off x="2663787" y="2708920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18EB4C87-BE30-1345-BCE0-220E4939DEE8}"/>
                </a:ext>
              </a:extLst>
            </p:cNvPr>
            <p:cNvSpPr/>
            <p:nvPr/>
          </p:nvSpPr>
          <p:spPr bwMode="auto">
            <a:xfrm>
              <a:off x="2663786" y="2982606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50E1AE9C-BB24-804F-8038-DFD37C704F34}"/>
                </a:ext>
              </a:extLst>
            </p:cNvPr>
            <p:cNvGrpSpPr/>
            <p:nvPr/>
          </p:nvGrpSpPr>
          <p:grpSpPr>
            <a:xfrm>
              <a:off x="2652418" y="1327135"/>
              <a:ext cx="288032" cy="672173"/>
              <a:chOff x="1691680" y="3573016"/>
              <a:chExt cx="288032" cy="672173"/>
            </a:xfrm>
          </p:grpSpPr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68D9A63-457F-074A-AA50-14FD36B16086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FAA7D1C8-36FE-2F42-8E30-18BF29774D5C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B328238A-08BC-6945-9359-1283E3309482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C029C03C-FB89-9D4C-9A93-386977890858}"/>
                </a:ext>
              </a:extLst>
            </p:cNvPr>
            <p:cNvGrpSpPr/>
            <p:nvPr/>
          </p:nvGrpSpPr>
          <p:grpSpPr>
            <a:xfrm>
              <a:off x="2652234" y="2043846"/>
              <a:ext cx="288212" cy="664188"/>
              <a:chOff x="1691680" y="3581001"/>
              <a:chExt cx="288212" cy="664188"/>
            </a:xfrm>
          </p:grpSpPr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A6BAA61F-A004-D847-A838-37296487319D}"/>
                  </a:ext>
                </a:extLst>
              </p:cNvPr>
              <p:cNvSpPr txBox="1"/>
              <p:nvPr/>
            </p:nvSpPr>
            <p:spPr>
              <a:xfrm>
                <a:off x="1691860" y="3581001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839F2A8B-3FEC-EE4D-97C3-73B0E0F461E6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CD6CE221-0D7A-3044-A1AA-86ADD001E589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/>
              <p:nvPr/>
            </p:nvSpPr>
            <p:spPr>
              <a:xfrm>
                <a:off x="3593669" y="2462307"/>
                <a:ext cx="3606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669" y="2462307"/>
                <a:ext cx="360675" cy="430887"/>
              </a:xfrm>
              <a:prstGeom prst="rect">
                <a:avLst/>
              </a:prstGeom>
              <a:blipFill>
                <a:blip r:embed="rId3"/>
                <a:stretch>
                  <a:fillRect l="-20690" r="-17241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/>
              <p:nvPr/>
            </p:nvSpPr>
            <p:spPr>
              <a:xfrm>
                <a:off x="5286762" y="2462307"/>
                <a:ext cx="33182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𝐕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762" y="2462307"/>
                <a:ext cx="331822" cy="430887"/>
              </a:xfrm>
              <a:prstGeom prst="rect">
                <a:avLst/>
              </a:prstGeom>
              <a:blipFill>
                <a:blip r:embed="rId4"/>
                <a:stretch>
                  <a:fillRect l="-22222" r="-22222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7CF655CA-BE53-774B-886D-134D4371A77D}"/>
              </a:ext>
            </a:extLst>
          </p:cNvPr>
          <p:cNvGrpSpPr/>
          <p:nvPr/>
        </p:nvGrpSpPr>
        <p:grpSpPr>
          <a:xfrm>
            <a:off x="2203064" y="1382383"/>
            <a:ext cx="545021" cy="2385012"/>
            <a:chOff x="2203064" y="838069"/>
            <a:chExt cx="545021" cy="2385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50D5790-8C00-F349-A3ED-EF280594DEA6}"/>
                    </a:ext>
                  </a:extLst>
                </p:cNvPr>
                <p:cNvSpPr txBox="1"/>
                <p:nvPr/>
              </p:nvSpPr>
              <p:spPr>
                <a:xfrm>
                  <a:off x="2211615" y="838069"/>
                  <a:ext cx="50263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50D5790-8C00-F349-A3ED-EF280594DE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615" y="838069"/>
                  <a:ext cx="502637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64650C97-F30D-6347-AE33-2E84895A6E37}"/>
                    </a:ext>
                  </a:extLst>
                </p:cNvPr>
                <p:cNvSpPr txBox="1"/>
                <p:nvPr/>
              </p:nvSpPr>
              <p:spPr>
                <a:xfrm>
                  <a:off x="2216141" y="1154052"/>
                  <a:ext cx="50860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64650C97-F30D-6347-AE33-2E84895A6E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141" y="1154052"/>
                  <a:ext cx="508601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CEAD8259-8CAB-1546-8F09-66164EA88795}"/>
                    </a:ext>
                  </a:extLst>
                </p:cNvPr>
                <p:cNvSpPr txBox="1"/>
                <p:nvPr/>
              </p:nvSpPr>
              <p:spPr>
                <a:xfrm>
                  <a:off x="2203987" y="1862057"/>
                  <a:ext cx="5189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CEAD8259-8CAB-1546-8F09-66164EA887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987" y="1862057"/>
                  <a:ext cx="518925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4DEC39D-C1A1-1643-9D91-9EF3EA73BC4F}"/>
                    </a:ext>
                  </a:extLst>
                </p:cNvPr>
                <p:cNvSpPr txBox="1"/>
                <p:nvPr/>
              </p:nvSpPr>
              <p:spPr>
                <a:xfrm>
                  <a:off x="2203064" y="2822971"/>
                  <a:ext cx="54502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4DEC39D-C1A1-1643-9D91-9EF3EA73BC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2822971"/>
                  <a:ext cx="545021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CE76F8E7-A84A-D846-B290-1C715151CBAE}"/>
              </a:ext>
            </a:extLst>
          </p:cNvPr>
          <p:cNvGrpSpPr/>
          <p:nvPr/>
        </p:nvGrpSpPr>
        <p:grpSpPr>
          <a:xfrm>
            <a:off x="6521722" y="1444286"/>
            <a:ext cx="547779" cy="2385012"/>
            <a:chOff x="2203064" y="838069"/>
            <a:chExt cx="547779" cy="2385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/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blipFill>
                  <a:blip r:embed="rId9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/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/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/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C7B8CE36-9EEB-764C-A680-D6F0A068987A}"/>
                  </a:ext>
                </a:extLst>
              </p:cNvPr>
              <p:cNvSpPr txBox="1"/>
              <p:nvPr/>
            </p:nvSpPr>
            <p:spPr>
              <a:xfrm>
                <a:off x="2690282" y="3765446"/>
                <a:ext cx="2468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C7B8CE36-9EEB-764C-A680-D6F0A0689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0282" y="3765446"/>
                <a:ext cx="246862" cy="369332"/>
              </a:xfrm>
              <a:prstGeom prst="rect">
                <a:avLst/>
              </a:prstGeom>
              <a:blipFill>
                <a:blip r:embed="rId13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/>
              <p:nvPr/>
            </p:nvSpPr>
            <p:spPr>
              <a:xfrm>
                <a:off x="6231195" y="3779748"/>
                <a:ext cx="2516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195" y="3779748"/>
                <a:ext cx="251671" cy="369332"/>
              </a:xfrm>
              <a:prstGeom prst="rect">
                <a:avLst/>
              </a:prstGeom>
              <a:blipFill>
                <a:blip r:embed="rId14"/>
                <a:stretch>
                  <a:fillRect l="-23810" r="-2381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矩形 87">
            <a:extLst>
              <a:ext uri="{FF2B5EF4-FFF2-40B4-BE49-F238E27FC236}">
                <a16:creationId xmlns:a16="http://schemas.microsoft.com/office/drawing/2014/main" id="{6C655758-87F2-8F45-AA34-421DB44C0A10}"/>
              </a:ext>
            </a:extLst>
          </p:cNvPr>
          <p:cNvSpPr/>
          <p:nvPr/>
        </p:nvSpPr>
        <p:spPr bwMode="auto">
          <a:xfrm>
            <a:off x="4415851" y="1866997"/>
            <a:ext cx="266984" cy="15723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CE355B3A-F31D-B845-A966-F47DC95CCD87}"/>
              </a:ext>
            </a:extLst>
          </p:cNvPr>
          <p:cNvSpPr/>
          <p:nvPr/>
        </p:nvSpPr>
        <p:spPr bwMode="auto">
          <a:xfrm>
            <a:off x="4441482" y="1898421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9C52EFF6-9A55-8247-9815-B27AE5797145}"/>
              </a:ext>
            </a:extLst>
          </p:cNvPr>
          <p:cNvSpPr/>
          <p:nvPr/>
        </p:nvSpPr>
        <p:spPr bwMode="auto">
          <a:xfrm>
            <a:off x="4451858" y="2190519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73A66444-F698-EF4F-BA2A-58FB21F05B3D}"/>
              </a:ext>
            </a:extLst>
          </p:cNvPr>
          <p:cNvSpPr/>
          <p:nvPr/>
        </p:nvSpPr>
        <p:spPr bwMode="auto">
          <a:xfrm>
            <a:off x="4439223" y="2872273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D9B2F4FE-0772-9E45-A720-2B6295A42E97}"/>
              </a:ext>
            </a:extLst>
          </p:cNvPr>
          <p:cNvSpPr/>
          <p:nvPr/>
        </p:nvSpPr>
        <p:spPr bwMode="auto">
          <a:xfrm>
            <a:off x="4440301" y="3171308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615DAEA-3E7B-1A4E-9B9C-3DA9F20055C1}"/>
              </a:ext>
            </a:extLst>
          </p:cNvPr>
          <p:cNvSpPr txBox="1"/>
          <p:nvPr/>
        </p:nvSpPr>
        <p:spPr>
          <a:xfrm>
            <a:off x="4422396" y="229641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2F91BC9-3237-E046-97AC-90D7F17020B5}"/>
              </a:ext>
            </a:extLst>
          </p:cNvPr>
          <p:cNvSpPr txBox="1"/>
          <p:nvPr/>
        </p:nvSpPr>
        <p:spPr>
          <a:xfrm>
            <a:off x="4422166" y="246778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/>
              <p:nvPr/>
            </p:nvSpPr>
            <p:spPr>
              <a:xfrm>
                <a:off x="4330848" y="3448933"/>
                <a:ext cx="4571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𝐡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848" y="3448933"/>
                <a:ext cx="457176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文本框 98">
            <a:extLst>
              <a:ext uri="{FF2B5EF4-FFF2-40B4-BE49-F238E27FC236}">
                <a16:creationId xmlns:a16="http://schemas.microsoft.com/office/drawing/2014/main" id="{B7689C5C-B47E-E542-A51F-7B4F00B4F0A6}"/>
              </a:ext>
            </a:extLst>
          </p:cNvPr>
          <p:cNvSpPr txBox="1"/>
          <p:nvPr/>
        </p:nvSpPr>
        <p:spPr>
          <a:xfrm>
            <a:off x="2325261" y="91026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输入层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B19AC18-1237-D44B-83EF-E15800AED32D}"/>
              </a:ext>
            </a:extLst>
          </p:cNvPr>
          <p:cNvSpPr txBox="1"/>
          <p:nvPr/>
        </p:nvSpPr>
        <p:spPr>
          <a:xfrm>
            <a:off x="5875484" y="90396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输出层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C7C7B9A3-C7D4-6641-BD4F-7F317EE46D78}"/>
              </a:ext>
            </a:extLst>
          </p:cNvPr>
          <p:cNvSpPr txBox="1"/>
          <p:nvPr/>
        </p:nvSpPr>
        <p:spPr>
          <a:xfrm>
            <a:off x="4211960" y="90822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隐</a:t>
            </a:r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7CB7940-1DD0-7248-ACFC-CC98C55D58B3}"/>
                  </a:ext>
                </a:extLst>
              </p:cNvPr>
              <p:cNvSpPr txBox="1"/>
              <p:nvPr/>
            </p:nvSpPr>
            <p:spPr>
              <a:xfrm>
                <a:off x="3851920" y="4285792"/>
                <a:ext cx="1600823" cy="424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000" b="0" i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1" lang="zh-CN" alt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sz="2000" b="0" i="0" smtClean="0"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7CB7940-1DD0-7248-ACFC-CC98C55D5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4285792"/>
                <a:ext cx="1600823" cy="424796"/>
              </a:xfrm>
              <a:prstGeom prst="rect">
                <a:avLst/>
              </a:prstGeom>
              <a:blipFill>
                <a:blip r:embed="rId16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D6B82AB0-BF2B-4042-94DA-723CD35D02BB}"/>
                  </a:ext>
                </a:extLst>
              </p:cNvPr>
              <p:cNvSpPr txBox="1"/>
              <p:nvPr/>
            </p:nvSpPr>
            <p:spPr>
              <a:xfrm>
                <a:off x="611560" y="4293096"/>
                <a:ext cx="691471" cy="6372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𝐯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D6B82AB0-BF2B-4042-94DA-723CD35D0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4293096"/>
                <a:ext cx="691471" cy="637226"/>
              </a:xfrm>
              <a:prstGeom prst="rect">
                <a:avLst/>
              </a:prstGeom>
              <a:blipFill>
                <a:blip r:embed="rId17"/>
                <a:stretch>
                  <a:fillRect l="-9091" t="-1923" r="-1818" b="-9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29A97553-6A05-F747-BDED-40DE883E3FE8}"/>
              </a:ext>
            </a:extLst>
          </p:cNvPr>
          <p:cNvSpPr txBox="1"/>
          <p:nvPr/>
        </p:nvSpPr>
        <p:spPr>
          <a:xfrm>
            <a:off x="1303031" y="4222436"/>
            <a:ext cx="4972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solidFill>
                  <a:srgbClr val="FF0000"/>
                </a:solidFill>
              </a:rPr>
              <a:t>?</a:t>
            </a:r>
            <a:endParaRPr kumimoji="1" lang="zh-CN" altLang="en-US" sz="40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843A27A9-67C5-ED47-922C-B68CBB57BAF4}"/>
                  </a:ext>
                </a:extLst>
              </p:cNvPr>
              <p:cNvSpPr txBox="1"/>
              <p:nvPr/>
            </p:nvSpPr>
            <p:spPr>
              <a:xfrm>
                <a:off x="3995936" y="4707704"/>
                <a:ext cx="2672398" cy="7698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1" lang="zh-CN" alt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sz="20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kumimoji="1" lang="zh-CN" altLang="en-US" sz="2000" b="1" i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STKaiti" panose="02010600040101010101" pitchFamily="2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STKaiti" panose="02010600040101010101" pitchFamily="2" charset="-122"/>
                            </a:rPr>
                            <m:t>exp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STKaiti" panose="02010600040101010101" pitchFamily="2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STKaiti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STKaiti" panose="02010600040101010101" pitchFamily="2" charset="-122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STKaiti" panose="02010600040101010101" pitchFamily="2" charset="-12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STKaiti" panose="02010600040101010101" pitchFamily="2" charset="-122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STKaiti" panose="02010600040101010101" pitchFamily="2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STKaiti" panose="02010600040101010101" pitchFamily="2" charset="-122"/>
                                </a:rPr>
                                <m:t>𝑡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STKaiti" panose="02010600040101010101" pitchFamily="2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843A27A9-67C5-ED47-922C-B68CBB57B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4707704"/>
                <a:ext cx="2672398" cy="769891"/>
              </a:xfrm>
              <a:prstGeom prst="rect">
                <a:avLst/>
              </a:prstGeom>
              <a:blipFill>
                <a:blip r:embed="rId18"/>
                <a:stretch>
                  <a:fillRect t="-14516" b="-91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4336EC9F-CD6F-484E-B153-75470B5930AD}"/>
                  </a:ext>
                </a:extLst>
              </p:cNvPr>
              <p:cNvSpPr txBox="1"/>
              <p:nvPr/>
            </p:nvSpPr>
            <p:spPr>
              <a:xfrm>
                <a:off x="4067944" y="5605155"/>
                <a:ext cx="3155800" cy="7223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20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kumimoji="1" lang="zh-CN" alt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subSup"/>
                          <m:ctrlPr>
                            <a:rPr kumimoji="1" lang="zh-CN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4336EC9F-CD6F-484E-B153-75470B593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5605155"/>
                <a:ext cx="3155800" cy="722314"/>
              </a:xfrm>
              <a:prstGeom prst="rect">
                <a:avLst/>
              </a:prstGeom>
              <a:blipFill>
                <a:blip r:embed="rId19"/>
                <a:stretch>
                  <a:fillRect t="-146552" b="-21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37E650E8-5B42-724B-A556-554F74D88958}"/>
              </a:ext>
            </a:extLst>
          </p:cNvPr>
          <p:cNvCxnSpPr/>
          <p:nvPr/>
        </p:nvCxnSpPr>
        <p:spPr bwMode="auto">
          <a:xfrm flipV="1">
            <a:off x="6829591" y="5373216"/>
            <a:ext cx="478713" cy="36004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5064403-9BFD-9542-964B-4B2E74534C24}"/>
                  </a:ext>
                </a:extLst>
              </p:cNvPr>
              <p:cNvSpPr txBox="1"/>
              <p:nvPr/>
            </p:nvSpPr>
            <p:spPr>
              <a:xfrm>
                <a:off x="7426113" y="4873127"/>
                <a:ext cx="1214499" cy="36933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𝐡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5064403-9BFD-9542-964B-4B2E74534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113" y="4873127"/>
                <a:ext cx="1214499" cy="369332"/>
              </a:xfrm>
              <a:prstGeom prst="rect">
                <a:avLst/>
              </a:prstGeom>
              <a:blipFill>
                <a:blip r:embed="rId20"/>
                <a:stretch>
                  <a:fillRect l="-2041" r="-4082" b="-12903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3375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CBOW</a:t>
            </a:r>
            <a:r>
              <a:rPr lang="zh-CN" altLang="en-US" dirty="0"/>
              <a:t>模型：考虑只有一个上文词的特殊情况</a:t>
            </a:r>
            <a:endParaRPr kumimoji="1" lang="zh-CN" altLang="en-US" dirty="0"/>
          </a:p>
        </p:txBody>
      </p:sp>
      <p:sp>
        <p:nvSpPr>
          <p:cNvPr id="4" name="梯形 3">
            <a:extLst>
              <a:ext uri="{FF2B5EF4-FFF2-40B4-BE49-F238E27FC236}">
                <a16:creationId xmlns:a16="http://schemas.microsoft.com/office/drawing/2014/main" id="{F82FC0F3-F1A8-454E-8D8F-ACEE9103B3DE}"/>
              </a:ext>
            </a:extLst>
          </p:cNvPr>
          <p:cNvSpPr/>
          <p:nvPr/>
        </p:nvSpPr>
        <p:spPr bwMode="auto">
          <a:xfrm rot="5400000">
            <a:off x="2577159" y="1818663"/>
            <a:ext cx="2333498" cy="1656184"/>
          </a:xfrm>
          <a:prstGeom prst="trapezoi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5" name="梯形 44">
            <a:extLst>
              <a:ext uri="{FF2B5EF4-FFF2-40B4-BE49-F238E27FC236}">
                <a16:creationId xmlns:a16="http://schemas.microsoft.com/office/drawing/2014/main" id="{B5505625-CA44-2646-BFBD-D656BC52EA8B}"/>
              </a:ext>
            </a:extLst>
          </p:cNvPr>
          <p:cNvSpPr/>
          <p:nvPr/>
        </p:nvSpPr>
        <p:spPr bwMode="auto">
          <a:xfrm rot="16200000">
            <a:off x="4230594" y="1831707"/>
            <a:ext cx="2338998" cy="1656184"/>
          </a:xfrm>
          <a:prstGeom prst="trapezoid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A35E648-D53F-4C4B-A08A-F58B861B7397}"/>
              </a:ext>
            </a:extLst>
          </p:cNvPr>
          <p:cNvGrpSpPr/>
          <p:nvPr/>
        </p:nvGrpSpPr>
        <p:grpSpPr>
          <a:xfrm>
            <a:off x="2675158" y="1453034"/>
            <a:ext cx="312666" cy="2360468"/>
            <a:chOff x="2627784" y="908720"/>
            <a:chExt cx="312666" cy="2360468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594846E-A3E5-4E4C-AB14-0D3649C4B674}"/>
                </a:ext>
              </a:extLst>
            </p:cNvPr>
            <p:cNvSpPr/>
            <p:nvPr/>
          </p:nvSpPr>
          <p:spPr bwMode="auto">
            <a:xfrm>
              <a:off x="2627784" y="908720"/>
              <a:ext cx="288032" cy="23604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3D46F09B-D28D-5C4E-AD71-070E183F4210}"/>
                </a:ext>
              </a:extLst>
            </p:cNvPr>
            <p:cNvSpPr/>
            <p:nvPr/>
          </p:nvSpPr>
          <p:spPr bwMode="auto">
            <a:xfrm>
              <a:off x="2663787" y="9807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0D3EE5F0-230C-F249-8406-1CDE56A83AAC}"/>
                </a:ext>
              </a:extLst>
            </p:cNvPr>
            <p:cNvSpPr/>
            <p:nvPr/>
          </p:nvSpPr>
          <p:spPr bwMode="auto">
            <a:xfrm>
              <a:off x="2673404" y="12855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E2BFD665-33BD-F841-8AB3-DA63FFF5E353}"/>
                </a:ext>
              </a:extLst>
            </p:cNvPr>
            <p:cNvSpPr/>
            <p:nvPr/>
          </p:nvSpPr>
          <p:spPr bwMode="auto">
            <a:xfrm>
              <a:off x="2673403" y="1988840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CF3464F8-FBFD-6641-A302-CC3FAFABA75C}"/>
                </a:ext>
              </a:extLst>
            </p:cNvPr>
            <p:cNvSpPr/>
            <p:nvPr/>
          </p:nvSpPr>
          <p:spPr bwMode="auto">
            <a:xfrm>
              <a:off x="2663787" y="2708920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B72FA0D-3809-7D4B-8E54-C811CF2AF2D7}"/>
                </a:ext>
              </a:extLst>
            </p:cNvPr>
            <p:cNvSpPr/>
            <p:nvPr/>
          </p:nvSpPr>
          <p:spPr bwMode="auto">
            <a:xfrm>
              <a:off x="2663786" y="2982606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621E643-DA5E-2D44-810F-E24230CB52A3}"/>
                </a:ext>
              </a:extLst>
            </p:cNvPr>
            <p:cNvGrpSpPr/>
            <p:nvPr/>
          </p:nvGrpSpPr>
          <p:grpSpPr>
            <a:xfrm>
              <a:off x="2652418" y="1327135"/>
              <a:ext cx="288032" cy="672173"/>
              <a:chOff x="1691680" y="3573016"/>
              <a:chExt cx="288032" cy="672173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09C6A32-62BD-564F-BC33-FF11935BA746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F1CC4CA-823C-4349-B812-2300FE5403C3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09E78BCC-E56B-C247-9D10-2A35F123F576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3D7B52C1-0B03-9141-BFBB-03BBC6F063B0}"/>
                </a:ext>
              </a:extLst>
            </p:cNvPr>
            <p:cNvGrpSpPr/>
            <p:nvPr/>
          </p:nvGrpSpPr>
          <p:grpSpPr>
            <a:xfrm>
              <a:off x="2652234" y="2035861"/>
              <a:ext cx="288032" cy="672173"/>
              <a:chOff x="1691680" y="3573016"/>
              <a:chExt cx="288032" cy="672173"/>
            </a:xfrm>
          </p:grpSpPr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EE66E474-936A-ED45-9CB8-CDE35D734013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C14C3F4-335A-6C41-B7AC-FC2200D1938F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F22CCC57-CB93-574C-9FE0-203B2A484A21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</p:grp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1749A54-37BE-544E-8BEF-87D31D55A536}"/>
              </a:ext>
            </a:extLst>
          </p:cNvPr>
          <p:cNvCxnSpPr/>
          <p:nvPr/>
        </p:nvCxnSpPr>
        <p:spPr bwMode="auto">
          <a:xfrm>
            <a:off x="3935167" y="4014319"/>
            <a:ext cx="122413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2AEC97DD-A83F-C441-BCCF-21CDF72705AA}"/>
              </a:ext>
            </a:extLst>
          </p:cNvPr>
          <p:cNvGrpSpPr/>
          <p:nvPr/>
        </p:nvGrpSpPr>
        <p:grpSpPr>
          <a:xfrm>
            <a:off x="6222137" y="1480006"/>
            <a:ext cx="312666" cy="2360468"/>
            <a:chOff x="2627784" y="908720"/>
            <a:chExt cx="312666" cy="2360468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F61A3483-5912-F047-9EF1-F6220FBF9D7F}"/>
                </a:ext>
              </a:extLst>
            </p:cNvPr>
            <p:cNvSpPr/>
            <p:nvPr/>
          </p:nvSpPr>
          <p:spPr bwMode="auto">
            <a:xfrm>
              <a:off x="2627784" y="908720"/>
              <a:ext cx="288032" cy="23604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3319BE84-DE1C-AD42-B2BB-91CF9395A294}"/>
                </a:ext>
              </a:extLst>
            </p:cNvPr>
            <p:cNvSpPr/>
            <p:nvPr/>
          </p:nvSpPr>
          <p:spPr bwMode="auto">
            <a:xfrm>
              <a:off x="2663787" y="9807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EFBA9F02-9553-D842-8A13-FB2542A857DA}"/>
                </a:ext>
              </a:extLst>
            </p:cNvPr>
            <p:cNvSpPr/>
            <p:nvPr/>
          </p:nvSpPr>
          <p:spPr bwMode="auto">
            <a:xfrm>
              <a:off x="2673404" y="12855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C320ECB6-F9FB-E144-BA1E-CE186B1323F9}"/>
                </a:ext>
              </a:extLst>
            </p:cNvPr>
            <p:cNvSpPr/>
            <p:nvPr/>
          </p:nvSpPr>
          <p:spPr bwMode="auto">
            <a:xfrm>
              <a:off x="2673403" y="1988840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E8F8DF71-CFC9-0046-AE91-C5BFEC740A42}"/>
                </a:ext>
              </a:extLst>
            </p:cNvPr>
            <p:cNvSpPr/>
            <p:nvPr/>
          </p:nvSpPr>
          <p:spPr bwMode="auto">
            <a:xfrm>
              <a:off x="2663787" y="2708920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18EB4C87-BE30-1345-BCE0-220E4939DEE8}"/>
                </a:ext>
              </a:extLst>
            </p:cNvPr>
            <p:cNvSpPr/>
            <p:nvPr/>
          </p:nvSpPr>
          <p:spPr bwMode="auto">
            <a:xfrm>
              <a:off x="2663786" y="2982606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50E1AE9C-BB24-804F-8038-DFD37C704F34}"/>
                </a:ext>
              </a:extLst>
            </p:cNvPr>
            <p:cNvGrpSpPr/>
            <p:nvPr/>
          </p:nvGrpSpPr>
          <p:grpSpPr>
            <a:xfrm>
              <a:off x="2652418" y="1327135"/>
              <a:ext cx="288032" cy="672173"/>
              <a:chOff x="1691680" y="3573016"/>
              <a:chExt cx="288032" cy="672173"/>
            </a:xfrm>
          </p:grpSpPr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68D9A63-457F-074A-AA50-14FD36B16086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FAA7D1C8-36FE-2F42-8E30-18BF29774D5C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B328238A-08BC-6945-9359-1283E3309482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C029C03C-FB89-9D4C-9A93-386977890858}"/>
                </a:ext>
              </a:extLst>
            </p:cNvPr>
            <p:cNvGrpSpPr/>
            <p:nvPr/>
          </p:nvGrpSpPr>
          <p:grpSpPr>
            <a:xfrm>
              <a:off x="2652234" y="2043846"/>
              <a:ext cx="288212" cy="664188"/>
              <a:chOff x="1691680" y="3581001"/>
              <a:chExt cx="288212" cy="664188"/>
            </a:xfrm>
          </p:grpSpPr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A6BAA61F-A004-D847-A838-37296487319D}"/>
                  </a:ext>
                </a:extLst>
              </p:cNvPr>
              <p:cNvSpPr txBox="1"/>
              <p:nvPr/>
            </p:nvSpPr>
            <p:spPr>
              <a:xfrm>
                <a:off x="1691860" y="3581001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839F2A8B-3FEC-EE4D-97C3-73B0E0F461E6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CD6CE221-0D7A-3044-A1AA-86ADD001E589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/>
              <p:nvPr/>
            </p:nvSpPr>
            <p:spPr>
              <a:xfrm>
                <a:off x="3593669" y="2462307"/>
                <a:ext cx="3606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669" y="2462307"/>
                <a:ext cx="360675" cy="430887"/>
              </a:xfrm>
              <a:prstGeom prst="rect">
                <a:avLst/>
              </a:prstGeom>
              <a:blipFill>
                <a:blip r:embed="rId3"/>
                <a:stretch>
                  <a:fillRect l="-20690" r="-17241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/>
              <p:nvPr/>
            </p:nvSpPr>
            <p:spPr>
              <a:xfrm>
                <a:off x="5286762" y="2462307"/>
                <a:ext cx="33182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𝐕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762" y="2462307"/>
                <a:ext cx="331822" cy="430887"/>
              </a:xfrm>
              <a:prstGeom prst="rect">
                <a:avLst/>
              </a:prstGeom>
              <a:blipFill>
                <a:blip r:embed="rId4"/>
                <a:stretch>
                  <a:fillRect l="-22222" r="-22222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7CF655CA-BE53-774B-886D-134D4371A77D}"/>
              </a:ext>
            </a:extLst>
          </p:cNvPr>
          <p:cNvGrpSpPr/>
          <p:nvPr/>
        </p:nvGrpSpPr>
        <p:grpSpPr>
          <a:xfrm>
            <a:off x="2203064" y="1382383"/>
            <a:ext cx="545021" cy="2385012"/>
            <a:chOff x="2203064" y="838069"/>
            <a:chExt cx="545021" cy="2385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50D5790-8C00-F349-A3ED-EF280594DEA6}"/>
                    </a:ext>
                  </a:extLst>
                </p:cNvPr>
                <p:cNvSpPr txBox="1"/>
                <p:nvPr/>
              </p:nvSpPr>
              <p:spPr>
                <a:xfrm>
                  <a:off x="2211615" y="838069"/>
                  <a:ext cx="50263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50D5790-8C00-F349-A3ED-EF280594DE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615" y="838069"/>
                  <a:ext cx="502637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64650C97-F30D-6347-AE33-2E84895A6E37}"/>
                    </a:ext>
                  </a:extLst>
                </p:cNvPr>
                <p:cNvSpPr txBox="1"/>
                <p:nvPr/>
              </p:nvSpPr>
              <p:spPr>
                <a:xfrm>
                  <a:off x="2216141" y="1154052"/>
                  <a:ext cx="50860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64650C97-F30D-6347-AE33-2E84895A6E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141" y="1154052"/>
                  <a:ext cx="508601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CEAD8259-8CAB-1546-8F09-66164EA88795}"/>
                    </a:ext>
                  </a:extLst>
                </p:cNvPr>
                <p:cNvSpPr txBox="1"/>
                <p:nvPr/>
              </p:nvSpPr>
              <p:spPr>
                <a:xfrm>
                  <a:off x="2203987" y="1862057"/>
                  <a:ext cx="5189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CEAD8259-8CAB-1546-8F09-66164EA887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987" y="1862057"/>
                  <a:ext cx="518925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4DEC39D-C1A1-1643-9D91-9EF3EA73BC4F}"/>
                    </a:ext>
                  </a:extLst>
                </p:cNvPr>
                <p:cNvSpPr txBox="1"/>
                <p:nvPr/>
              </p:nvSpPr>
              <p:spPr>
                <a:xfrm>
                  <a:off x="2203064" y="2822971"/>
                  <a:ext cx="54502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4DEC39D-C1A1-1643-9D91-9EF3EA73BC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2822971"/>
                  <a:ext cx="545021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CE76F8E7-A84A-D846-B290-1C715151CBAE}"/>
              </a:ext>
            </a:extLst>
          </p:cNvPr>
          <p:cNvGrpSpPr/>
          <p:nvPr/>
        </p:nvGrpSpPr>
        <p:grpSpPr>
          <a:xfrm>
            <a:off x="6521722" y="1444286"/>
            <a:ext cx="547779" cy="2385012"/>
            <a:chOff x="2203064" y="838069"/>
            <a:chExt cx="547779" cy="2385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/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blipFill>
                  <a:blip r:embed="rId9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/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/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/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C7B8CE36-9EEB-764C-A680-D6F0A068987A}"/>
                  </a:ext>
                </a:extLst>
              </p:cNvPr>
              <p:cNvSpPr txBox="1"/>
              <p:nvPr/>
            </p:nvSpPr>
            <p:spPr>
              <a:xfrm>
                <a:off x="2690282" y="3765446"/>
                <a:ext cx="2468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C7B8CE36-9EEB-764C-A680-D6F0A0689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0282" y="3765446"/>
                <a:ext cx="246862" cy="369332"/>
              </a:xfrm>
              <a:prstGeom prst="rect">
                <a:avLst/>
              </a:prstGeom>
              <a:blipFill>
                <a:blip r:embed="rId13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/>
              <p:nvPr/>
            </p:nvSpPr>
            <p:spPr>
              <a:xfrm>
                <a:off x="6231195" y="3779748"/>
                <a:ext cx="2516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195" y="3779748"/>
                <a:ext cx="251671" cy="369332"/>
              </a:xfrm>
              <a:prstGeom prst="rect">
                <a:avLst/>
              </a:prstGeom>
              <a:blipFill>
                <a:blip r:embed="rId14"/>
                <a:stretch>
                  <a:fillRect l="-23810" r="-2381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矩形 87">
            <a:extLst>
              <a:ext uri="{FF2B5EF4-FFF2-40B4-BE49-F238E27FC236}">
                <a16:creationId xmlns:a16="http://schemas.microsoft.com/office/drawing/2014/main" id="{6C655758-87F2-8F45-AA34-421DB44C0A10}"/>
              </a:ext>
            </a:extLst>
          </p:cNvPr>
          <p:cNvSpPr/>
          <p:nvPr/>
        </p:nvSpPr>
        <p:spPr bwMode="auto">
          <a:xfrm>
            <a:off x="4415851" y="1866997"/>
            <a:ext cx="266984" cy="15723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CE355B3A-F31D-B845-A966-F47DC95CCD87}"/>
              </a:ext>
            </a:extLst>
          </p:cNvPr>
          <p:cNvSpPr/>
          <p:nvPr/>
        </p:nvSpPr>
        <p:spPr bwMode="auto">
          <a:xfrm>
            <a:off x="4441482" y="1898421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9C52EFF6-9A55-8247-9815-B27AE5797145}"/>
              </a:ext>
            </a:extLst>
          </p:cNvPr>
          <p:cNvSpPr/>
          <p:nvPr/>
        </p:nvSpPr>
        <p:spPr bwMode="auto">
          <a:xfrm>
            <a:off x="4451858" y="2190519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73A66444-F698-EF4F-BA2A-58FB21F05B3D}"/>
              </a:ext>
            </a:extLst>
          </p:cNvPr>
          <p:cNvSpPr/>
          <p:nvPr/>
        </p:nvSpPr>
        <p:spPr bwMode="auto">
          <a:xfrm>
            <a:off x="4439223" y="2872273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D9B2F4FE-0772-9E45-A720-2B6295A42E97}"/>
              </a:ext>
            </a:extLst>
          </p:cNvPr>
          <p:cNvSpPr/>
          <p:nvPr/>
        </p:nvSpPr>
        <p:spPr bwMode="auto">
          <a:xfrm>
            <a:off x="4440301" y="3171308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615DAEA-3E7B-1A4E-9B9C-3DA9F20055C1}"/>
              </a:ext>
            </a:extLst>
          </p:cNvPr>
          <p:cNvSpPr txBox="1"/>
          <p:nvPr/>
        </p:nvSpPr>
        <p:spPr>
          <a:xfrm>
            <a:off x="4422396" y="229641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2F91BC9-3237-E046-97AC-90D7F17020B5}"/>
              </a:ext>
            </a:extLst>
          </p:cNvPr>
          <p:cNvSpPr txBox="1"/>
          <p:nvPr/>
        </p:nvSpPr>
        <p:spPr>
          <a:xfrm>
            <a:off x="4422166" y="246778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/>
              <p:nvPr/>
            </p:nvSpPr>
            <p:spPr>
              <a:xfrm>
                <a:off x="4330848" y="3448933"/>
                <a:ext cx="4571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𝐡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848" y="3448933"/>
                <a:ext cx="457176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文本框 98">
            <a:extLst>
              <a:ext uri="{FF2B5EF4-FFF2-40B4-BE49-F238E27FC236}">
                <a16:creationId xmlns:a16="http://schemas.microsoft.com/office/drawing/2014/main" id="{B7689C5C-B47E-E542-A51F-7B4F00B4F0A6}"/>
              </a:ext>
            </a:extLst>
          </p:cNvPr>
          <p:cNvSpPr txBox="1"/>
          <p:nvPr/>
        </p:nvSpPr>
        <p:spPr>
          <a:xfrm>
            <a:off x="2325261" y="91026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输入层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B19AC18-1237-D44B-83EF-E15800AED32D}"/>
              </a:ext>
            </a:extLst>
          </p:cNvPr>
          <p:cNvSpPr txBox="1"/>
          <p:nvPr/>
        </p:nvSpPr>
        <p:spPr>
          <a:xfrm>
            <a:off x="5875484" y="90396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输出层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C7C7B9A3-C7D4-6641-BD4F-7F317EE46D78}"/>
              </a:ext>
            </a:extLst>
          </p:cNvPr>
          <p:cNvSpPr txBox="1"/>
          <p:nvPr/>
        </p:nvSpPr>
        <p:spPr>
          <a:xfrm>
            <a:off x="4211960" y="90822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隐</a:t>
            </a:r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D6B82AB0-BF2B-4042-94DA-723CD35D02BB}"/>
                  </a:ext>
                </a:extLst>
              </p:cNvPr>
              <p:cNvSpPr txBox="1"/>
              <p:nvPr/>
            </p:nvSpPr>
            <p:spPr>
              <a:xfrm>
                <a:off x="611560" y="4293096"/>
                <a:ext cx="691471" cy="6372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𝐯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D6B82AB0-BF2B-4042-94DA-723CD35D0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4293096"/>
                <a:ext cx="691471" cy="637226"/>
              </a:xfrm>
              <a:prstGeom prst="rect">
                <a:avLst/>
              </a:prstGeom>
              <a:blipFill>
                <a:blip r:embed="rId16"/>
                <a:stretch>
                  <a:fillRect l="-9091" t="-1923" r="-1818" b="-9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29A97553-6A05-F747-BDED-40DE883E3FE8}"/>
              </a:ext>
            </a:extLst>
          </p:cNvPr>
          <p:cNvSpPr txBox="1"/>
          <p:nvPr/>
        </p:nvSpPr>
        <p:spPr>
          <a:xfrm>
            <a:off x="1452375" y="4241900"/>
            <a:ext cx="4972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solidFill>
                  <a:srgbClr val="FF0000"/>
                </a:solidFill>
              </a:rPr>
              <a:t>?</a:t>
            </a:r>
            <a:endParaRPr kumimoji="1" lang="zh-CN" altLang="en-US" sz="40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4336EC9F-CD6F-484E-B153-75470B5930AD}"/>
                  </a:ext>
                </a:extLst>
              </p:cNvPr>
              <p:cNvSpPr txBox="1"/>
              <p:nvPr/>
            </p:nvSpPr>
            <p:spPr>
              <a:xfrm>
                <a:off x="4492603" y="4147423"/>
                <a:ext cx="3374514" cy="7223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000" b="0" i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20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kumimoji="1" lang="zh-CN" alt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subSup"/>
                          <m:ctrlPr>
                            <a:rPr kumimoji="1" lang="zh-CN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4336EC9F-CD6F-484E-B153-75470B593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603" y="4147423"/>
                <a:ext cx="3374514" cy="722314"/>
              </a:xfrm>
              <a:prstGeom prst="rect">
                <a:avLst/>
              </a:prstGeom>
              <a:blipFill>
                <a:blip r:embed="rId17"/>
                <a:stretch>
                  <a:fillRect t="-146552" b="-21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5064403-9BFD-9542-964B-4B2E74534C24}"/>
                  </a:ext>
                </a:extLst>
              </p:cNvPr>
              <p:cNvSpPr txBox="1"/>
              <p:nvPr/>
            </p:nvSpPr>
            <p:spPr>
              <a:xfrm>
                <a:off x="4599025" y="5950088"/>
                <a:ext cx="981487" cy="3077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000" b="1" i="0" smtClean="0">
                          <a:latin typeface="Cambria Math" panose="02040503050406030204" pitchFamily="18" charset="0"/>
                        </a:rPr>
                        <m:t>𝐡</m:t>
                      </m:r>
                    </m:oMath>
                  </m:oMathPara>
                </a14:m>
                <a:endParaRPr kumimoji="1" lang="zh-CN" altLang="en-US" sz="2000" b="1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5064403-9BFD-9542-964B-4B2E74534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025" y="5950088"/>
                <a:ext cx="981487" cy="307777"/>
              </a:xfrm>
              <a:prstGeom prst="rect">
                <a:avLst/>
              </a:prstGeom>
              <a:blipFill>
                <a:blip r:embed="rId18"/>
                <a:stretch>
                  <a:fillRect l="-1266" r="-5063" b="-1600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0B2BED76-83C4-9243-88F4-6DCB29D60B33}"/>
                  </a:ext>
                </a:extLst>
              </p:cNvPr>
              <p:cNvSpPr txBox="1"/>
              <p:nvPr/>
            </p:nvSpPr>
            <p:spPr>
              <a:xfrm>
                <a:off x="1297084" y="4293096"/>
                <a:ext cx="833497" cy="6372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𝐯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0B2BED76-83C4-9243-88F4-6DCB29D60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084" y="4293096"/>
                <a:ext cx="833497" cy="637226"/>
              </a:xfrm>
              <a:prstGeom prst="rect">
                <a:avLst/>
              </a:prstGeom>
              <a:blipFill>
                <a:blip r:embed="rId19"/>
                <a:stretch>
                  <a:fillRect l="-7576" t="-1923" r="-1515" b="-9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DC94A41-9A2E-1040-AB12-98522E0A2A4E}"/>
                  </a:ext>
                </a:extLst>
              </p:cNvPr>
              <p:cNvSpPr txBox="1"/>
              <p:nvPr/>
            </p:nvSpPr>
            <p:spPr>
              <a:xfrm>
                <a:off x="6384664" y="5821603"/>
                <a:ext cx="1055032" cy="63722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𝐯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𝐡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kumimoji="1" lang="zh-CN" altLang="en-US" sz="2000" b="1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DC94A41-9A2E-1040-AB12-98522E0A2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664" y="5821603"/>
                <a:ext cx="1055032" cy="637226"/>
              </a:xfrm>
              <a:prstGeom prst="rect">
                <a:avLst/>
              </a:prstGeom>
              <a:blipFill>
                <a:blip r:embed="rId20"/>
                <a:stretch>
                  <a:fillRect l="-4706" b="-7547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3EDA183-239A-1943-8A49-9BCD684E1777}"/>
                  </a:ext>
                </a:extLst>
              </p:cNvPr>
              <p:cNvSpPr txBox="1"/>
              <p:nvPr/>
            </p:nvSpPr>
            <p:spPr>
              <a:xfrm>
                <a:off x="4618527" y="4996371"/>
                <a:ext cx="2361096" cy="63722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3EDA183-239A-1943-8A49-9BCD684E1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527" y="4996371"/>
                <a:ext cx="2361096" cy="637226"/>
              </a:xfrm>
              <a:prstGeom prst="rect">
                <a:avLst/>
              </a:prstGeom>
              <a:blipFill>
                <a:blip r:embed="rId21"/>
                <a:stretch>
                  <a:fillRect l="-1596" t="-1923" b="-7692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8661B84-92F3-D242-817A-F12BAB597F6D}"/>
                  </a:ext>
                </a:extLst>
              </p:cNvPr>
              <p:cNvSpPr txBox="1"/>
              <p:nvPr/>
            </p:nvSpPr>
            <p:spPr>
              <a:xfrm>
                <a:off x="2279925" y="4438275"/>
                <a:ext cx="896849" cy="31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𝐡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kumimoji="1" lang="zh-CN" altLang="en-US" sz="2000" b="1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8661B84-92F3-D242-817A-F12BAB597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925" y="4438275"/>
                <a:ext cx="896849" cy="313291"/>
              </a:xfrm>
              <a:prstGeom prst="rect">
                <a:avLst/>
              </a:prstGeom>
              <a:blipFill>
                <a:blip r:embed="rId22"/>
                <a:stretch>
                  <a:fillRect l="-1389" r="-1389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44F3F731-0489-9C45-8A0C-78FB380AFD5F}"/>
                  </a:ext>
                </a:extLst>
              </p:cNvPr>
              <p:cNvSpPr txBox="1"/>
              <p:nvPr/>
            </p:nvSpPr>
            <p:spPr>
              <a:xfrm>
                <a:off x="611560" y="5384062"/>
                <a:ext cx="1670265" cy="6372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𝐯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44F3F731-0489-9C45-8A0C-78FB380AF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5384062"/>
                <a:ext cx="1670265" cy="637226"/>
              </a:xfrm>
              <a:prstGeom prst="rect">
                <a:avLst/>
              </a:prstGeom>
              <a:blipFill>
                <a:blip r:embed="rId23"/>
                <a:stretch>
                  <a:fillRect l="-1515" t="-1923" r="-758" b="-9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F1233B7E-BE1F-9A4C-9B77-440B8BCDFA58}"/>
                  </a:ext>
                </a:extLst>
              </p:cNvPr>
              <p:cNvSpPr txBox="1"/>
              <p:nvPr/>
            </p:nvSpPr>
            <p:spPr>
              <a:xfrm>
                <a:off x="2369404" y="5558965"/>
                <a:ext cx="1482265" cy="31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𝐡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F1233B7E-BE1F-9A4C-9B77-440B8BCDF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404" y="5558965"/>
                <a:ext cx="1482265" cy="313291"/>
              </a:xfrm>
              <a:prstGeom prst="rect">
                <a:avLst/>
              </a:prstGeom>
              <a:blipFill>
                <a:blip r:embed="rId24"/>
                <a:stretch>
                  <a:fillRect l="-847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F1D3F49-729D-6648-9A9A-E207B0E5A6E6}"/>
                  </a:ext>
                </a:extLst>
              </p:cNvPr>
              <p:cNvSpPr txBox="1"/>
              <p:nvPr/>
            </p:nvSpPr>
            <p:spPr>
              <a:xfrm>
                <a:off x="7796095" y="5075892"/>
                <a:ext cx="8827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F1D3F49-729D-6648-9A9A-E207B0E5A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095" y="5075892"/>
                <a:ext cx="88273" cy="369332"/>
              </a:xfrm>
              <a:prstGeom prst="rect">
                <a:avLst/>
              </a:prstGeom>
              <a:blipFill>
                <a:blip r:embed="rId25"/>
                <a:stretch>
                  <a:fillRect l="-62500" r="-21250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DCFECB74-936D-E24E-A5FF-7EC354567461}"/>
              </a:ext>
            </a:extLst>
          </p:cNvPr>
          <p:cNvCxnSpPr>
            <a:cxnSpLocks/>
          </p:cNvCxnSpPr>
          <p:nvPr/>
        </p:nvCxnSpPr>
        <p:spPr bwMode="auto">
          <a:xfrm>
            <a:off x="7117623" y="5301208"/>
            <a:ext cx="622729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15164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86" grpId="0"/>
      <p:bldP spid="14" grpId="0" animBg="1"/>
      <p:bldP spid="15" grpId="0" animBg="1"/>
      <p:bldP spid="17" grpId="0"/>
      <p:bldP spid="102" grpId="0"/>
      <p:bldP spid="104" grpId="0"/>
      <p:bldP spid="20" grpId="0"/>
      <p:bldP spid="20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CBOW</a:t>
            </a:r>
            <a:r>
              <a:rPr lang="zh-CN" altLang="en-US" dirty="0"/>
              <a:t>模型：考虑只有一个上文词的特殊情况</a:t>
            </a:r>
            <a:endParaRPr kumimoji="1" lang="zh-CN" altLang="en-US" dirty="0"/>
          </a:p>
        </p:txBody>
      </p:sp>
      <p:sp>
        <p:nvSpPr>
          <p:cNvPr id="4" name="梯形 3">
            <a:extLst>
              <a:ext uri="{FF2B5EF4-FFF2-40B4-BE49-F238E27FC236}">
                <a16:creationId xmlns:a16="http://schemas.microsoft.com/office/drawing/2014/main" id="{F82FC0F3-F1A8-454E-8D8F-ACEE9103B3DE}"/>
              </a:ext>
            </a:extLst>
          </p:cNvPr>
          <p:cNvSpPr/>
          <p:nvPr/>
        </p:nvSpPr>
        <p:spPr bwMode="auto">
          <a:xfrm rot="5400000">
            <a:off x="2577159" y="1818663"/>
            <a:ext cx="2333498" cy="1656184"/>
          </a:xfrm>
          <a:prstGeom prst="trapezoi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5" name="梯形 44">
            <a:extLst>
              <a:ext uri="{FF2B5EF4-FFF2-40B4-BE49-F238E27FC236}">
                <a16:creationId xmlns:a16="http://schemas.microsoft.com/office/drawing/2014/main" id="{B5505625-CA44-2646-BFBD-D656BC52EA8B}"/>
              </a:ext>
            </a:extLst>
          </p:cNvPr>
          <p:cNvSpPr/>
          <p:nvPr/>
        </p:nvSpPr>
        <p:spPr bwMode="auto">
          <a:xfrm rot="16200000">
            <a:off x="4230594" y="1831707"/>
            <a:ext cx="2338998" cy="1656184"/>
          </a:xfrm>
          <a:prstGeom prst="trapezoid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A35E648-D53F-4C4B-A08A-F58B861B7397}"/>
              </a:ext>
            </a:extLst>
          </p:cNvPr>
          <p:cNvGrpSpPr/>
          <p:nvPr/>
        </p:nvGrpSpPr>
        <p:grpSpPr>
          <a:xfrm>
            <a:off x="2675158" y="1453034"/>
            <a:ext cx="312666" cy="2360468"/>
            <a:chOff x="2627784" y="908720"/>
            <a:chExt cx="312666" cy="2360468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594846E-A3E5-4E4C-AB14-0D3649C4B674}"/>
                </a:ext>
              </a:extLst>
            </p:cNvPr>
            <p:cNvSpPr/>
            <p:nvPr/>
          </p:nvSpPr>
          <p:spPr bwMode="auto">
            <a:xfrm>
              <a:off x="2627784" y="908720"/>
              <a:ext cx="288032" cy="23604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3D46F09B-D28D-5C4E-AD71-070E183F4210}"/>
                </a:ext>
              </a:extLst>
            </p:cNvPr>
            <p:cNvSpPr/>
            <p:nvPr/>
          </p:nvSpPr>
          <p:spPr bwMode="auto">
            <a:xfrm>
              <a:off x="2663787" y="9807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0D3EE5F0-230C-F249-8406-1CDE56A83AAC}"/>
                </a:ext>
              </a:extLst>
            </p:cNvPr>
            <p:cNvSpPr/>
            <p:nvPr/>
          </p:nvSpPr>
          <p:spPr bwMode="auto">
            <a:xfrm>
              <a:off x="2673404" y="12855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E2BFD665-33BD-F841-8AB3-DA63FFF5E353}"/>
                </a:ext>
              </a:extLst>
            </p:cNvPr>
            <p:cNvSpPr/>
            <p:nvPr/>
          </p:nvSpPr>
          <p:spPr bwMode="auto">
            <a:xfrm>
              <a:off x="2673403" y="1988840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CF3464F8-FBFD-6641-A302-CC3FAFABA75C}"/>
                </a:ext>
              </a:extLst>
            </p:cNvPr>
            <p:cNvSpPr/>
            <p:nvPr/>
          </p:nvSpPr>
          <p:spPr bwMode="auto">
            <a:xfrm>
              <a:off x="2663787" y="2708920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B72FA0D-3809-7D4B-8E54-C811CF2AF2D7}"/>
                </a:ext>
              </a:extLst>
            </p:cNvPr>
            <p:cNvSpPr/>
            <p:nvPr/>
          </p:nvSpPr>
          <p:spPr bwMode="auto">
            <a:xfrm>
              <a:off x="2663786" y="2982606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621E643-DA5E-2D44-810F-E24230CB52A3}"/>
                </a:ext>
              </a:extLst>
            </p:cNvPr>
            <p:cNvGrpSpPr/>
            <p:nvPr/>
          </p:nvGrpSpPr>
          <p:grpSpPr>
            <a:xfrm>
              <a:off x="2652418" y="1327135"/>
              <a:ext cx="288032" cy="672173"/>
              <a:chOff x="1691680" y="3573016"/>
              <a:chExt cx="288032" cy="672173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09C6A32-62BD-564F-BC33-FF11935BA746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F1CC4CA-823C-4349-B812-2300FE5403C3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09E78BCC-E56B-C247-9D10-2A35F123F576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3D7B52C1-0B03-9141-BFBB-03BBC6F063B0}"/>
                </a:ext>
              </a:extLst>
            </p:cNvPr>
            <p:cNvGrpSpPr/>
            <p:nvPr/>
          </p:nvGrpSpPr>
          <p:grpSpPr>
            <a:xfrm>
              <a:off x="2652234" y="2035861"/>
              <a:ext cx="288032" cy="672173"/>
              <a:chOff x="1691680" y="3573016"/>
              <a:chExt cx="288032" cy="672173"/>
            </a:xfrm>
          </p:grpSpPr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EE66E474-936A-ED45-9CB8-CDE35D734013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C14C3F4-335A-6C41-B7AC-FC2200D1938F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F22CCC57-CB93-574C-9FE0-203B2A484A21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</p:grp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1749A54-37BE-544E-8BEF-87D31D55A536}"/>
              </a:ext>
            </a:extLst>
          </p:cNvPr>
          <p:cNvCxnSpPr/>
          <p:nvPr/>
        </p:nvCxnSpPr>
        <p:spPr bwMode="auto">
          <a:xfrm>
            <a:off x="3935167" y="4014319"/>
            <a:ext cx="122413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2AEC97DD-A83F-C441-BCCF-21CDF72705AA}"/>
              </a:ext>
            </a:extLst>
          </p:cNvPr>
          <p:cNvGrpSpPr/>
          <p:nvPr/>
        </p:nvGrpSpPr>
        <p:grpSpPr>
          <a:xfrm>
            <a:off x="6222137" y="1480006"/>
            <a:ext cx="312666" cy="2360468"/>
            <a:chOff x="2627784" y="908720"/>
            <a:chExt cx="312666" cy="2360468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F61A3483-5912-F047-9EF1-F6220FBF9D7F}"/>
                </a:ext>
              </a:extLst>
            </p:cNvPr>
            <p:cNvSpPr/>
            <p:nvPr/>
          </p:nvSpPr>
          <p:spPr bwMode="auto">
            <a:xfrm>
              <a:off x="2627784" y="908720"/>
              <a:ext cx="288032" cy="23604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3319BE84-DE1C-AD42-B2BB-91CF9395A294}"/>
                </a:ext>
              </a:extLst>
            </p:cNvPr>
            <p:cNvSpPr/>
            <p:nvPr/>
          </p:nvSpPr>
          <p:spPr bwMode="auto">
            <a:xfrm>
              <a:off x="2663787" y="9807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EFBA9F02-9553-D842-8A13-FB2542A857DA}"/>
                </a:ext>
              </a:extLst>
            </p:cNvPr>
            <p:cNvSpPr/>
            <p:nvPr/>
          </p:nvSpPr>
          <p:spPr bwMode="auto">
            <a:xfrm>
              <a:off x="2673404" y="12855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C320ECB6-F9FB-E144-BA1E-CE186B1323F9}"/>
                </a:ext>
              </a:extLst>
            </p:cNvPr>
            <p:cNvSpPr/>
            <p:nvPr/>
          </p:nvSpPr>
          <p:spPr bwMode="auto">
            <a:xfrm>
              <a:off x="2673403" y="1988840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E8F8DF71-CFC9-0046-AE91-C5BFEC740A42}"/>
                </a:ext>
              </a:extLst>
            </p:cNvPr>
            <p:cNvSpPr/>
            <p:nvPr/>
          </p:nvSpPr>
          <p:spPr bwMode="auto">
            <a:xfrm>
              <a:off x="2663787" y="2708920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18EB4C87-BE30-1345-BCE0-220E4939DEE8}"/>
                </a:ext>
              </a:extLst>
            </p:cNvPr>
            <p:cNvSpPr/>
            <p:nvPr/>
          </p:nvSpPr>
          <p:spPr bwMode="auto">
            <a:xfrm>
              <a:off x="2663786" y="2982606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50E1AE9C-BB24-804F-8038-DFD37C704F34}"/>
                </a:ext>
              </a:extLst>
            </p:cNvPr>
            <p:cNvGrpSpPr/>
            <p:nvPr/>
          </p:nvGrpSpPr>
          <p:grpSpPr>
            <a:xfrm>
              <a:off x="2652418" y="1327135"/>
              <a:ext cx="288032" cy="672173"/>
              <a:chOff x="1691680" y="3573016"/>
              <a:chExt cx="288032" cy="672173"/>
            </a:xfrm>
          </p:grpSpPr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68D9A63-457F-074A-AA50-14FD36B16086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FAA7D1C8-36FE-2F42-8E30-18BF29774D5C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B328238A-08BC-6945-9359-1283E3309482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C029C03C-FB89-9D4C-9A93-386977890858}"/>
                </a:ext>
              </a:extLst>
            </p:cNvPr>
            <p:cNvGrpSpPr/>
            <p:nvPr/>
          </p:nvGrpSpPr>
          <p:grpSpPr>
            <a:xfrm>
              <a:off x="2652234" y="2043846"/>
              <a:ext cx="288212" cy="664188"/>
              <a:chOff x="1691680" y="3581001"/>
              <a:chExt cx="288212" cy="664188"/>
            </a:xfrm>
          </p:grpSpPr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A6BAA61F-A004-D847-A838-37296487319D}"/>
                  </a:ext>
                </a:extLst>
              </p:cNvPr>
              <p:cNvSpPr txBox="1"/>
              <p:nvPr/>
            </p:nvSpPr>
            <p:spPr>
              <a:xfrm>
                <a:off x="1691860" y="3581001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839F2A8B-3FEC-EE4D-97C3-73B0E0F461E6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CD6CE221-0D7A-3044-A1AA-86ADD001E589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/>
              <p:nvPr/>
            </p:nvSpPr>
            <p:spPr>
              <a:xfrm>
                <a:off x="3593669" y="2462307"/>
                <a:ext cx="3606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669" y="2462307"/>
                <a:ext cx="360675" cy="430887"/>
              </a:xfrm>
              <a:prstGeom prst="rect">
                <a:avLst/>
              </a:prstGeom>
              <a:blipFill>
                <a:blip r:embed="rId3"/>
                <a:stretch>
                  <a:fillRect l="-20690" r="-17241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/>
              <p:nvPr/>
            </p:nvSpPr>
            <p:spPr>
              <a:xfrm>
                <a:off x="5286762" y="2462307"/>
                <a:ext cx="33182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𝐕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762" y="2462307"/>
                <a:ext cx="331822" cy="430887"/>
              </a:xfrm>
              <a:prstGeom prst="rect">
                <a:avLst/>
              </a:prstGeom>
              <a:blipFill>
                <a:blip r:embed="rId4"/>
                <a:stretch>
                  <a:fillRect l="-22222" r="-22222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7CF655CA-BE53-774B-886D-134D4371A77D}"/>
              </a:ext>
            </a:extLst>
          </p:cNvPr>
          <p:cNvGrpSpPr/>
          <p:nvPr/>
        </p:nvGrpSpPr>
        <p:grpSpPr>
          <a:xfrm>
            <a:off x="2203064" y="1382383"/>
            <a:ext cx="545021" cy="2385012"/>
            <a:chOff x="2203064" y="838069"/>
            <a:chExt cx="545021" cy="2385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50D5790-8C00-F349-A3ED-EF280594DEA6}"/>
                    </a:ext>
                  </a:extLst>
                </p:cNvPr>
                <p:cNvSpPr txBox="1"/>
                <p:nvPr/>
              </p:nvSpPr>
              <p:spPr>
                <a:xfrm>
                  <a:off x="2211615" y="838069"/>
                  <a:ext cx="50263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50D5790-8C00-F349-A3ED-EF280594DE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615" y="838069"/>
                  <a:ext cx="502637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64650C97-F30D-6347-AE33-2E84895A6E37}"/>
                    </a:ext>
                  </a:extLst>
                </p:cNvPr>
                <p:cNvSpPr txBox="1"/>
                <p:nvPr/>
              </p:nvSpPr>
              <p:spPr>
                <a:xfrm>
                  <a:off x="2216141" y="1154052"/>
                  <a:ext cx="50860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64650C97-F30D-6347-AE33-2E84895A6E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141" y="1154052"/>
                  <a:ext cx="508601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CEAD8259-8CAB-1546-8F09-66164EA88795}"/>
                    </a:ext>
                  </a:extLst>
                </p:cNvPr>
                <p:cNvSpPr txBox="1"/>
                <p:nvPr/>
              </p:nvSpPr>
              <p:spPr>
                <a:xfrm>
                  <a:off x="2203987" y="1862057"/>
                  <a:ext cx="5189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CEAD8259-8CAB-1546-8F09-66164EA887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987" y="1862057"/>
                  <a:ext cx="518925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4DEC39D-C1A1-1643-9D91-9EF3EA73BC4F}"/>
                    </a:ext>
                  </a:extLst>
                </p:cNvPr>
                <p:cNvSpPr txBox="1"/>
                <p:nvPr/>
              </p:nvSpPr>
              <p:spPr>
                <a:xfrm>
                  <a:off x="2203064" y="2822971"/>
                  <a:ext cx="54502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4DEC39D-C1A1-1643-9D91-9EF3EA73BC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2822971"/>
                  <a:ext cx="545021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CE76F8E7-A84A-D846-B290-1C715151CBAE}"/>
              </a:ext>
            </a:extLst>
          </p:cNvPr>
          <p:cNvGrpSpPr/>
          <p:nvPr/>
        </p:nvGrpSpPr>
        <p:grpSpPr>
          <a:xfrm>
            <a:off x="6521722" y="1444286"/>
            <a:ext cx="547779" cy="2385012"/>
            <a:chOff x="2203064" y="838069"/>
            <a:chExt cx="547779" cy="2385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/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blipFill>
                  <a:blip r:embed="rId9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/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/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/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C7B8CE36-9EEB-764C-A680-D6F0A068987A}"/>
                  </a:ext>
                </a:extLst>
              </p:cNvPr>
              <p:cNvSpPr txBox="1"/>
              <p:nvPr/>
            </p:nvSpPr>
            <p:spPr>
              <a:xfrm>
                <a:off x="2690282" y="3765446"/>
                <a:ext cx="2468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C7B8CE36-9EEB-764C-A680-D6F0A0689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0282" y="3765446"/>
                <a:ext cx="246862" cy="369332"/>
              </a:xfrm>
              <a:prstGeom prst="rect">
                <a:avLst/>
              </a:prstGeom>
              <a:blipFill>
                <a:blip r:embed="rId13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/>
              <p:nvPr/>
            </p:nvSpPr>
            <p:spPr>
              <a:xfrm>
                <a:off x="6231195" y="3779748"/>
                <a:ext cx="2516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195" y="3779748"/>
                <a:ext cx="251671" cy="369332"/>
              </a:xfrm>
              <a:prstGeom prst="rect">
                <a:avLst/>
              </a:prstGeom>
              <a:blipFill>
                <a:blip r:embed="rId14"/>
                <a:stretch>
                  <a:fillRect l="-23810" r="-2381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矩形 87">
            <a:extLst>
              <a:ext uri="{FF2B5EF4-FFF2-40B4-BE49-F238E27FC236}">
                <a16:creationId xmlns:a16="http://schemas.microsoft.com/office/drawing/2014/main" id="{6C655758-87F2-8F45-AA34-421DB44C0A10}"/>
              </a:ext>
            </a:extLst>
          </p:cNvPr>
          <p:cNvSpPr/>
          <p:nvPr/>
        </p:nvSpPr>
        <p:spPr bwMode="auto">
          <a:xfrm>
            <a:off x="4415851" y="1866997"/>
            <a:ext cx="266984" cy="15723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CE355B3A-F31D-B845-A966-F47DC95CCD87}"/>
              </a:ext>
            </a:extLst>
          </p:cNvPr>
          <p:cNvSpPr/>
          <p:nvPr/>
        </p:nvSpPr>
        <p:spPr bwMode="auto">
          <a:xfrm>
            <a:off x="4441482" y="1898421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9C52EFF6-9A55-8247-9815-B27AE5797145}"/>
              </a:ext>
            </a:extLst>
          </p:cNvPr>
          <p:cNvSpPr/>
          <p:nvPr/>
        </p:nvSpPr>
        <p:spPr bwMode="auto">
          <a:xfrm>
            <a:off x="4451858" y="2190519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73A66444-F698-EF4F-BA2A-58FB21F05B3D}"/>
              </a:ext>
            </a:extLst>
          </p:cNvPr>
          <p:cNvSpPr/>
          <p:nvPr/>
        </p:nvSpPr>
        <p:spPr bwMode="auto">
          <a:xfrm>
            <a:off x="4439223" y="2872273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D9B2F4FE-0772-9E45-A720-2B6295A42E97}"/>
              </a:ext>
            </a:extLst>
          </p:cNvPr>
          <p:cNvSpPr/>
          <p:nvPr/>
        </p:nvSpPr>
        <p:spPr bwMode="auto">
          <a:xfrm>
            <a:off x="4440301" y="3171308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615DAEA-3E7B-1A4E-9B9C-3DA9F20055C1}"/>
              </a:ext>
            </a:extLst>
          </p:cNvPr>
          <p:cNvSpPr txBox="1"/>
          <p:nvPr/>
        </p:nvSpPr>
        <p:spPr>
          <a:xfrm>
            <a:off x="4422396" y="229641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2F91BC9-3237-E046-97AC-90D7F17020B5}"/>
              </a:ext>
            </a:extLst>
          </p:cNvPr>
          <p:cNvSpPr txBox="1"/>
          <p:nvPr/>
        </p:nvSpPr>
        <p:spPr>
          <a:xfrm>
            <a:off x="4422166" y="246778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/>
              <p:nvPr/>
            </p:nvSpPr>
            <p:spPr>
              <a:xfrm>
                <a:off x="4330848" y="3448933"/>
                <a:ext cx="4571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𝐡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848" y="3448933"/>
                <a:ext cx="457176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文本框 98">
            <a:extLst>
              <a:ext uri="{FF2B5EF4-FFF2-40B4-BE49-F238E27FC236}">
                <a16:creationId xmlns:a16="http://schemas.microsoft.com/office/drawing/2014/main" id="{B7689C5C-B47E-E542-A51F-7B4F00B4F0A6}"/>
              </a:ext>
            </a:extLst>
          </p:cNvPr>
          <p:cNvSpPr txBox="1"/>
          <p:nvPr/>
        </p:nvSpPr>
        <p:spPr>
          <a:xfrm>
            <a:off x="2325261" y="91026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输入层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B19AC18-1237-D44B-83EF-E15800AED32D}"/>
              </a:ext>
            </a:extLst>
          </p:cNvPr>
          <p:cNvSpPr txBox="1"/>
          <p:nvPr/>
        </p:nvSpPr>
        <p:spPr>
          <a:xfrm>
            <a:off x="5875484" y="90396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输出层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C7C7B9A3-C7D4-6641-BD4F-7F317EE46D78}"/>
              </a:ext>
            </a:extLst>
          </p:cNvPr>
          <p:cNvSpPr txBox="1"/>
          <p:nvPr/>
        </p:nvSpPr>
        <p:spPr>
          <a:xfrm>
            <a:off x="4211960" y="90822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隐</a:t>
            </a:r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D6B82AB0-BF2B-4042-94DA-723CD35D02BB}"/>
                  </a:ext>
                </a:extLst>
              </p:cNvPr>
              <p:cNvSpPr txBox="1"/>
              <p:nvPr/>
            </p:nvSpPr>
            <p:spPr>
              <a:xfrm>
                <a:off x="611560" y="4293096"/>
                <a:ext cx="770403" cy="6372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𝐮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D6B82AB0-BF2B-4042-94DA-723CD35D0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4293096"/>
                <a:ext cx="770403" cy="637226"/>
              </a:xfrm>
              <a:prstGeom prst="rect">
                <a:avLst/>
              </a:prstGeom>
              <a:blipFill>
                <a:blip r:embed="rId16"/>
                <a:stretch>
                  <a:fillRect l="-6557" t="-1923" r="-1639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29A97553-6A05-F747-BDED-40DE883E3FE8}"/>
              </a:ext>
            </a:extLst>
          </p:cNvPr>
          <p:cNvSpPr txBox="1"/>
          <p:nvPr/>
        </p:nvSpPr>
        <p:spPr>
          <a:xfrm>
            <a:off x="1381963" y="4257766"/>
            <a:ext cx="4972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solidFill>
                  <a:srgbClr val="FF0000"/>
                </a:solidFill>
              </a:rPr>
              <a:t>?</a:t>
            </a:r>
            <a:endParaRPr kumimoji="1" lang="zh-CN" altLang="en-US" sz="40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4336EC9F-CD6F-484E-B153-75470B5930AD}"/>
                  </a:ext>
                </a:extLst>
              </p:cNvPr>
              <p:cNvSpPr txBox="1"/>
              <p:nvPr/>
            </p:nvSpPr>
            <p:spPr>
              <a:xfrm>
                <a:off x="5190006" y="4178554"/>
                <a:ext cx="3374514" cy="7223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000" b="0" i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20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kumimoji="1" lang="zh-CN" alt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subSup"/>
                          <m:ctrlPr>
                            <a:rPr kumimoji="1" lang="zh-CN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4336EC9F-CD6F-484E-B153-75470B593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006" y="4178554"/>
                <a:ext cx="3374514" cy="722314"/>
              </a:xfrm>
              <a:prstGeom prst="rect">
                <a:avLst/>
              </a:prstGeom>
              <a:blipFill>
                <a:blip r:embed="rId17"/>
                <a:stretch>
                  <a:fillRect t="-144828" b="-21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5064403-9BFD-9542-964B-4B2E74534C24}"/>
                  </a:ext>
                </a:extLst>
              </p:cNvPr>
              <p:cNvSpPr txBox="1"/>
              <p:nvPr/>
            </p:nvSpPr>
            <p:spPr>
              <a:xfrm>
                <a:off x="5319105" y="5950088"/>
                <a:ext cx="981487" cy="3077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000" b="1" i="0" smtClean="0">
                          <a:latin typeface="Cambria Math" panose="02040503050406030204" pitchFamily="18" charset="0"/>
                        </a:rPr>
                        <m:t>𝐡</m:t>
                      </m:r>
                    </m:oMath>
                  </m:oMathPara>
                </a14:m>
                <a:endParaRPr kumimoji="1" lang="zh-CN" altLang="en-US" sz="2000" b="1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5064403-9BFD-9542-964B-4B2E74534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105" y="5950088"/>
                <a:ext cx="981487" cy="307777"/>
              </a:xfrm>
              <a:prstGeom prst="rect">
                <a:avLst/>
              </a:prstGeom>
              <a:blipFill>
                <a:blip r:embed="rId18"/>
                <a:stretch>
                  <a:fillRect l="-2564" r="-5128" b="-1600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DC94A41-9A2E-1040-AB12-98522E0A2A4E}"/>
                  </a:ext>
                </a:extLst>
              </p:cNvPr>
              <p:cNvSpPr txBox="1"/>
              <p:nvPr/>
            </p:nvSpPr>
            <p:spPr>
              <a:xfrm>
                <a:off x="6611770" y="5834791"/>
                <a:ext cx="1045799" cy="58522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𝐡</m:t>
                          </m:r>
                        </m:den>
                      </m:f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m:oMathPara>
                </a14:m>
                <a:endParaRPr kumimoji="1" lang="zh-CN" altLang="en-US" sz="2000" b="1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DC94A41-9A2E-1040-AB12-98522E0A2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770" y="5834791"/>
                <a:ext cx="1045799" cy="585225"/>
              </a:xfrm>
              <a:prstGeom prst="rect">
                <a:avLst/>
              </a:prstGeom>
              <a:blipFill>
                <a:blip r:embed="rId19"/>
                <a:stretch>
                  <a:fillRect l="-4762" r="-1190" b="-12245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3EDA183-239A-1943-8A49-9BCD684E1777}"/>
                  </a:ext>
                </a:extLst>
              </p:cNvPr>
              <p:cNvSpPr txBox="1"/>
              <p:nvPr/>
            </p:nvSpPr>
            <p:spPr>
              <a:xfrm>
                <a:off x="5338607" y="4996371"/>
                <a:ext cx="2361096" cy="63722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3EDA183-239A-1943-8A49-9BCD684E1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607" y="4996371"/>
                <a:ext cx="2361096" cy="637226"/>
              </a:xfrm>
              <a:prstGeom prst="rect">
                <a:avLst/>
              </a:prstGeom>
              <a:blipFill>
                <a:blip r:embed="rId20"/>
                <a:stretch>
                  <a:fillRect l="-2128" t="-1923" b="-7692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44F3F731-0489-9C45-8A0C-78FB380AFD5F}"/>
                  </a:ext>
                </a:extLst>
              </p:cNvPr>
              <p:cNvSpPr txBox="1"/>
              <p:nvPr/>
            </p:nvSpPr>
            <p:spPr>
              <a:xfrm>
                <a:off x="572978" y="5871485"/>
                <a:ext cx="1959254" cy="6355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𝐮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44F3F731-0489-9C45-8A0C-78FB380AF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978" y="5871485"/>
                <a:ext cx="1959254" cy="635559"/>
              </a:xfrm>
              <a:prstGeom prst="rect">
                <a:avLst/>
              </a:prstGeom>
              <a:blipFill>
                <a:blip r:embed="rId21"/>
                <a:stretch>
                  <a:fillRect t="-1961" b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F1233B7E-BE1F-9A4C-9B77-440B8BCDFA58}"/>
                  </a:ext>
                </a:extLst>
              </p:cNvPr>
              <p:cNvSpPr txBox="1"/>
              <p:nvPr/>
            </p:nvSpPr>
            <p:spPr>
              <a:xfrm>
                <a:off x="2553694" y="5895363"/>
                <a:ext cx="2234330" cy="6299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F1233B7E-BE1F-9A4C-9B77-440B8BCDF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694" y="5895363"/>
                <a:ext cx="2234330" cy="629981"/>
              </a:xfrm>
              <a:prstGeom prst="rect">
                <a:avLst/>
              </a:prstGeom>
              <a:blipFill>
                <a:blip r:embed="rId22"/>
                <a:stretch>
                  <a:fillRect l="-568" t="-178000" b="-25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F1D3F49-729D-6648-9A9A-E207B0E5A6E6}"/>
                  </a:ext>
                </a:extLst>
              </p:cNvPr>
              <p:cNvSpPr txBox="1"/>
              <p:nvPr/>
            </p:nvSpPr>
            <p:spPr>
              <a:xfrm>
                <a:off x="8516175" y="5075892"/>
                <a:ext cx="8827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F1D3F49-729D-6648-9A9A-E207B0E5A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6175" y="5075892"/>
                <a:ext cx="88273" cy="369332"/>
              </a:xfrm>
              <a:prstGeom prst="rect">
                <a:avLst/>
              </a:prstGeom>
              <a:blipFill>
                <a:blip r:embed="rId23"/>
                <a:stretch>
                  <a:fillRect l="-75000" r="-21250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DCFECB74-936D-E24E-A5FF-7EC354567461}"/>
              </a:ext>
            </a:extLst>
          </p:cNvPr>
          <p:cNvCxnSpPr>
            <a:cxnSpLocks/>
          </p:cNvCxnSpPr>
          <p:nvPr/>
        </p:nvCxnSpPr>
        <p:spPr bwMode="auto">
          <a:xfrm>
            <a:off x="7765695" y="5301208"/>
            <a:ext cx="622729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73AAE530-9425-1842-A801-1C338FA52609}"/>
                  </a:ext>
                </a:extLst>
              </p:cNvPr>
              <p:cNvSpPr txBox="1"/>
              <p:nvPr/>
            </p:nvSpPr>
            <p:spPr>
              <a:xfrm>
                <a:off x="596157" y="5115190"/>
                <a:ext cx="2168286" cy="642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𝐡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𝐡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73AAE530-9425-1842-A801-1C338FA52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57" y="5115190"/>
                <a:ext cx="2168286" cy="642227"/>
              </a:xfrm>
              <a:prstGeom prst="rect">
                <a:avLst/>
              </a:prstGeom>
              <a:blipFill>
                <a:blip r:embed="rId24"/>
                <a:stretch>
                  <a:fillRect l="-14035" t="-169231" r="-585" b="-244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40DFDBFC-5950-4543-B553-C7CC5746CF98}"/>
                  </a:ext>
                </a:extLst>
              </p:cNvPr>
              <p:cNvSpPr txBox="1"/>
              <p:nvPr/>
            </p:nvSpPr>
            <p:spPr>
              <a:xfrm>
                <a:off x="1398398" y="4293096"/>
                <a:ext cx="509306" cy="585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40DFDBFC-5950-4543-B553-C7CC5746C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398" y="4293096"/>
                <a:ext cx="509306" cy="585225"/>
              </a:xfrm>
              <a:prstGeom prst="rect">
                <a:avLst/>
              </a:prstGeom>
              <a:blipFill>
                <a:blip r:embed="rId25"/>
                <a:stretch>
                  <a:fillRect l="-9524" t="-2128" r="-2381" b="-148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FD5B8F31-5BE5-0148-8EFF-3C42B6304CF4}"/>
                  </a:ext>
                </a:extLst>
              </p:cNvPr>
              <p:cNvSpPr txBox="1"/>
              <p:nvPr/>
            </p:nvSpPr>
            <p:spPr>
              <a:xfrm>
                <a:off x="2767399" y="5089975"/>
                <a:ext cx="1516569" cy="6299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FD5B8F31-5BE5-0148-8EFF-3C42B6304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399" y="5089975"/>
                <a:ext cx="1516569" cy="629981"/>
              </a:xfrm>
              <a:prstGeom prst="rect">
                <a:avLst/>
              </a:prstGeom>
              <a:blipFill>
                <a:blip r:embed="rId26"/>
                <a:stretch>
                  <a:fillRect l="-42975" t="-172549" r="-826" b="-250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994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4" grpId="0" animBg="1"/>
      <p:bldP spid="102" grpId="0"/>
      <p:bldP spid="104" grpId="0"/>
      <p:bldP spid="93" grpId="0"/>
      <p:bldP spid="95" grpId="0"/>
      <p:bldP spid="10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CBOW</a:t>
            </a:r>
            <a:r>
              <a:rPr lang="zh-CN" altLang="en-US" dirty="0"/>
              <a:t>模型：考虑只有一个上文词的特殊情况</a:t>
            </a:r>
            <a:endParaRPr kumimoji="1" lang="zh-CN" altLang="en-US" dirty="0"/>
          </a:p>
        </p:txBody>
      </p:sp>
      <p:sp>
        <p:nvSpPr>
          <p:cNvPr id="4" name="梯形 3">
            <a:extLst>
              <a:ext uri="{FF2B5EF4-FFF2-40B4-BE49-F238E27FC236}">
                <a16:creationId xmlns:a16="http://schemas.microsoft.com/office/drawing/2014/main" id="{F82FC0F3-F1A8-454E-8D8F-ACEE9103B3DE}"/>
              </a:ext>
            </a:extLst>
          </p:cNvPr>
          <p:cNvSpPr/>
          <p:nvPr/>
        </p:nvSpPr>
        <p:spPr bwMode="auto">
          <a:xfrm rot="5400000">
            <a:off x="2577159" y="1818663"/>
            <a:ext cx="2333498" cy="1656184"/>
          </a:xfrm>
          <a:prstGeom prst="trapezoi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5" name="梯形 44">
            <a:extLst>
              <a:ext uri="{FF2B5EF4-FFF2-40B4-BE49-F238E27FC236}">
                <a16:creationId xmlns:a16="http://schemas.microsoft.com/office/drawing/2014/main" id="{B5505625-CA44-2646-BFBD-D656BC52EA8B}"/>
              </a:ext>
            </a:extLst>
          </p:cNvPr>
          <p:cNvSpPr/>
          <p:nvPr/>
        </p:nvSpPr>
        <p:spPr bwMode="auto">
          <a:xfrm rot="16200000">
            <a:off x="4230594" y="1831707"/>
            <a:ext cx="2338998" cy="1656184"/>
          </a:xfrm>
          <a:prstGeom prst="trapezoid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A35E648-D53F-4C4B-A08A-F58B861B7397}"/>
              </a:ext>
            </a:extLst>
          </p:cNvPr>
          <p:cNvGrpSpPr/>
          <p:nvPr/>
        </p:nvGrpSpPr>
        <p:grpSpPr>
          <a:xfrm>
            <a:off x="2675158" y="1453034"/>
            <a:ext cx="312666" cy="2360468"/>
            <a:chOff x="2627784" y="908720"/>
            <a:chExt cx="312666" cy="2360468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594846E-A3E5-4E4C-AB14-0D3649C4B674}"/>
                </a:ext>
              </a:extLst>
            </p:cNvPr>
            <p:cNvSpPr/>
            <p:nvPr/>
          </p:nvSpPr>
          <p:spPr bwMode="auto">
            <a:xfrm>
              <a:off x="2627784" y="908720"/>
              <a:ext cx="288032" cy="23604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3D46F09B-D28D-5C4E-AD71-070E183F4210}"/>
                </a:ext>
              </a:extLst>
            </p:cNvPr>
            <p:cNvSpPr/>
            <p:nvPr/>
          </p:nvSpPr>
          <p:spPr bwMode="auto">
            <a:xfrm>
              <a:off x="2663787" y="9807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0D3EE5F0-230C-F249-8406-1CDE56A83AAC}"/>
                </a:ext>
              </a:extLst>
            </p:cNvPr>
            <p:cNvSpPr/>
            <p:nvPr/>
          </p:nvSpPr>
          <p:spPr bwMode="auto">
            <a:xfrm>
              <a:off x="2673404" y="12855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E2BFD665-33BD-F841-8AB3-DA63FFF5E353}"/>
                </a:ext>
              </a:extLst>
            </p:cNvPr>
            <p:cNvSpPr/>
            <p:nvPr/>
          </p:nvSpPr>
          <p:spPr bwMode="auto">
            <a:xfrm>
              <a:off x="2673403" y="1988840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CF3464F8-FBFD-6641-A302-CC3FAFABA75C}"/>
                </a:ext>
              </a:extLst>
            </p:cNvPr>
            <p:cNvSpPr/>
            <p:nvPr/>
          </p:nvSpPr>
          <p:spPr bwMode="auto">
            <a:xfrm>
              <a:off x="2663787" y="2708920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B72FA0D-3809-7D4B-8E54-C811CF2AF2D7}"/>
                </a:ext>
              </a:extLst>
            </p:cNvPr>
            <p:cNvSpPr/>
            <p:nvPr/>
          </p:nvSpPr>
          <p:spPr bwMode="auto">
            <a:xfrm>
              <a:off x="2663786" y="2982606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621E643-DA5E-2D44-810F-E24230CB52A3}"/>
                </a:ext>
              </a:extLst>
            </p:cNvPr>
            <p:cNvGrpSpPr/>
            <p:nvPr/>
          </p:nvGrpSpPr>
          <p:grpSpPr>
            <a:xfrm>
              <a:off x="2652418" y="1327135"/>
              <a:ext cx="288032" cy="672173"/>
              <a:chOff x="1691680" y="3573016"/>
              <a:chExt cx="288032" cy="672173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09C6A32-62BD-564F-BC33-FF11935BA746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F1CC4CA-823C-4349-B812-2300FE5403C3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09E78BCC-E56B-C247-9D10-2A35F123F576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3D7B52C1-0B03-9141-BFBB-03BBC6F063B0}"/>
                </a:ext>
              </a:extLst>
            </p:cNvPr>
            <p:cNvGrpSpPr/>
            <p:nvPr/>
          </p:nvGrpSpPr>
          <p:grpSpPr>
            <a:xfrm>
              <a:off x="2652234" y="2035861"/>
              <a:ext cx="288032" cy="672173"/>
              <a:chOff x="1691680" y="3573016"/>
              <a:chExt cx="288032" cy="672173"/>
            </a:xfrm>
          </p:grpSpPr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EE66E474-936A-ED45-9CB8-CDE35D734013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C14C3F4-335A-6C41-B7AC-FC2200D1938F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F22CCC57-CB93-574C-9FE0-203B2A484A21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</p:grp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1749A54-37BE-544E-8BEF-87D31D55A536}"/>
              </a:ext>
            </a:extLst>
          </p:cNvPr>
          <p:cNvCxnSpPr/>
          <p:nvPr/>
        </p:nvCxnSpPr>
        <p:spPr bwMode="auto">
          <a:xfrm>
            <a:off x="3967176" y="3964414"/>
            <a:ext cx="122413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2AEC97DD-A83F-C441-BCCF-21CDF72705AA}"/>
              </a:ext>
            </a:extLst>
          </p:cNvPr>
          <p:cNvGrpSpPr/>
          <p:nvPr/>
        </p:nvGrpSpPr>
        <p:grpSpPr>
          <a:xfrm>
            <a:off x="6222137" y="1480006"/>
            <a:ext cx="312666" cy="2360468"/>
            <a:chOff x="2627784" y="908720"/>
            <a:chExt cx="312666" cy="2360468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F61A3483-5912-F047-9EF1-F6220FBF9D7F}"/>
                </a:ext>
              </a:extLst>
            </p:cNvPr>
            <p:cNvSpPr/>
            <p:nvPr/>
          </p:nvSpPr>
          <p:spPr bwMode="auto">
            <a:xfrm>
              <a:off x="2627784" y="908720"/>
              <a:ext cx="288032" cy="23604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3319BE84-DE1C-AD42-B2BB-91CF9395A294}"/>
                </a:ext>
              </a:extLst>
            </p:cNvPr>
            <p:cNvSpPr/>
            <p:nvPr/>
          </p:nvSpPr>
          <p:spPr bwMode="auto">
            <a:xfrm>
              <a:off x="2663787" y="9807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EFBA9F02-9553-D842-8A13-FB2542A857DA}"/>
                </a:ext>
              </a:extLst>
            </p:cNvPr>
            <p:cNvSpPr/>
            <p:nvPr/>
          </p:nvSpPr>
          <p:spPr bwMode="auto">
            <a:xfrm>
              <a:off x="2673404" y="12855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C320ECB6-F9FB-E144-BA1E-CE186B1323F9}"/>
                </a:ext>
              </a:extLst>
            </p:cNvPr>
            <p:cNvSpPr/>
            <p:nvPr/>
          </p:nvSpPr>
          <p:spPr bwMode="auto">
            <a:xfrm>
              <a:off x="2673403" y="1988840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E8F8DF71-CFC9-0046-AE91-C5BFEC740A42}"/>
                </a:ext>
              </a:extLst>
            </p:cNvPr>
            <p:cNvSpPr/>
            <p:nvPr/>
          </p:nvSpPr>
          <p:spPr bwMode="auto">
            <a:xfrm>
              <a:off x="2663787" y="2708920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18EB4C87-BE30-1345-BCE0-220E4939DEE8}"/>
                </a:ext>
              </a:extLst>
            </p:cNvPr>
            <p:cNvSpPr/>
            <p:nvPr/>
          </p:nvSpPr>
          <p:spPr bwMode="auto">
            <a:xfrm>
              <a:off x="2663786" y="2982606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50E1AE9C-BB24-804F-8038-DFD37C704F34}"/>
                </a:ext>
              </a:extLst>
            </p:cNvPr>
            <p:cNvGrpSpPr/>
            <p:nvPr/>
          </p:nvGrpSpPr>
          <p:grpSpPr>
            <a:xfrm>
              <a:off x="2652418" y="1327135"/>
              <a:ext cx="288032" cy="672173"/>
              <a:chOff x="1691680" y="3573016"/>
              <a:chExt cx="288032" cy="672173"/>
            </a:xfrm>
          </p:grpSpPr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68D9A63-457F-074A-AA50-14FD36B16086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FAA7D1C8-36FE-2F42-8E30-18BF29774D5C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B328238A-08BC-6945-9359-1283E3309482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C029C03C-FB89-9D4C-9A93-386977890858}"/>
                </a:ext>
              </a:extLst>
            </p:cNvPr>
            <p:cNvGrpSpPr/>
            <p:nvPr/>
          </p:nvGrpSpPr>
          <p:grpSpPr>
            <a:xfrm>
              <a:off x="2652234" y="2043846"/>
              <a:ext cx="288212" cy="664188"/>
              <a:chOff x="1691680" y="3581001"/>
              <a:chExt cx="288212" cy="664188"/>
            </a:xfrm>
          </p:grpSpPr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A6BAA61F-A004-D847-A838-37296487319D}"/>
                  </a:ext>
                </a:extLst>
              </p:cNvPr>
              <p:cNvSpPr txBox="1"/>
              <p:nvPr/>
            </p:nvSpPr>
            <p:spPr>
              <a:xfrm>
                <a:off x="1691860" y="3581001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839F2A8B-3FEC-EE4D-97C3-73B0E0F461E6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CD6CE221-0D7A-3044-A1AA-86ADD001E589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/>
              <p:nvPr/>
            </p:nvSpPr>
            <p:spPr>
              <a:xfrm>
                <a:off x="3593669" y="2462307"/>
                <a:ext cx="3606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669" y="2462307"/>
                <a:ext cx="360675" cy="430887"/>
              </a:xfrm>
              <a:prstGeom prst="rect">
                <a:avLst/>
              </a:prstGeom>
              <a:blipFill>
                <a:blip r:embed="rId3"/>
                <a:stretch>
                  <a:fillRect l="-20690" r="-17241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/>
              <p:nvPr/>
            </p:nvSpPr>
            <p:spPr>
              <a:xfrm>
                <a:off x="5286762" y="2462307"/>
                <a:ext cx="33182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𝐕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762" y="2462307"/>
                <a:ext cx="331822" cy="430887"/>
              </a:xfrm>
              <a:prstGeom prst="rect">
                <a:avLst/>
              </a:prstGeom>
              <a:blipFill>
                <a:blip r:embed="rId4"/>
                <a:stretch>
                  <a:fillRect l="-22222" r="-22222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7CF655CA-BE53-774B-886D-134D4371A77D}"/>
              </a:ext>
            </a:extLst>
          </p:cNvPr>
          <p:cNvGrpSpPr/>
          <p:nvPr/>
        </p:nvGrpSpPr>
        <p:grpSpPr>
          <a:xfrm>
            <a:off x="2203064" y="1382383"/>
            <a:ext cx="545021" cy="2385012"/>
            <a:chOff x="2203064" y="838069"/>
            <a:chExt cx="545021" cy="2385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50D5790-8C00-F349-A3ED-EF280594DEA6}"/>
                    </a:ext>
                  </a:extLst>
                </p:cNvPr>
                <p:cNvSpPr txBox="1"/>
                <p:nvPr/>
              </p:nvSpPr>
              <p:spPr>
                <a:xfrm>
                  <a:off x="2211615" y="838069"/>
                  <a:ext cx="50263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50D5790-8C00-F349-A3ED-EF280594DE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615" y="838069"/>
                  <a:ext cx="502637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64650C97-F30D-6347-AE33-2E84895A6E37}"/>
                    </a:ext>
                  </a:extLst>
                </p:cNvPr>
                <p:cNvSpPr txBox="1"/>
                <p:nvPr/>
              </p:nvSpPr>
              <p:spPr>
                <a:xfrm>
                  <a:off x="2216141" y="1154052"/>
                  <a:ext cx="50860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64650C97-F30D-6347-AE33-2E84895A6E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141" y="1154052"/>
                  <a:ext cx="508601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CEAD8259-8CAB-1546-8F09-66164EA88795}"/>
                    </a:ext>
                  </a:extLst>
                </p:cNvPr>
                <p:cNvSpPr txBox="1"/>
                <p:nvPr/>
              </p:nvSpPr>
              <p:spPr>
                <a:xfrm>
                  <a:off x="2203987" y="1862057"/>
                  <a:ext cx="5189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CEAD8259-8CAB-1546-8F09-66164EA887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987" y="1862057"/>
                  <a:ext cx="518925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4DEC39D-C1A1-1643-9D91-9EF3EA73BC4F}"/>
                    </a:ext>
                  </a:extLst>
                </p:cNvPr>
                <p:cNvSpPr txBox="1"/>
                <p:nvPr/>
              </p:nvSpPr>
              <p:spPr>
                <a:xfrm>
                  <a:off x="2203064" y="2822971"/>
                  <a:ext cx="54502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4DEC39D-C1A1-1643-9D91-9EF3EA73BC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2822971"/>
                  <a:ext cx="545021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CE76F8E7-A84A-D846-B290-1C715151CBAE}"/>
              </a:ext>
            </a:extLst>
          </p:cNvPr>
          <p:cNvGrpSpPr/>
          <p:nvPr/>
        </p:nvGrpSpPr>
        <p:grpSpPr>
          <a:xfrm>
            <a:off x="6521722" y="1444286"/>
            <a:ext cx="547779" cy="2385012"/>
            <a:chOff x="2203064" y="838069"/>
            <a:chExt cx="547779" cy="2385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/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blipFill>
                  <a:blip r:embed="rId9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/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/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/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C7B8CE36-9EEB-764C-A680-D6F0A068987A}"/>
                  </a:ext>
                </a:extLst>
              </p:cNvPr>
              <p:cNvSpPr txBox="1"/>
              <p:nvPr/>
            </p:nvSpPr>
            <p:spPr>
              <a:xfrm>
                <a:off x="2690282" y="3765446"/>
                <a:ext cx="2468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C7B8CE36-9EEB-764C-A680-D6F0A0689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0282" y="3765446"/>
                <a:ext cx="246862" cy="369332"/>
              </a:xfrm>
              <a:prstGeom prst="rect">
                <a:avLst/>
              </a:prstGeom>
              <a:blipFill>
                <a:blip r:embed="rId13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/>
              <p:nvPr/>
            </p:nvSpPr>
            <p:spPr>
              <a:xfrm>
                <a:off x="6231195" y="3779748"/>
                <a:ext cx="2516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195" y="3779748"/>
                <a:ext cx="251671" cy="369332"/>
              </a:xfrm>
              <a:prstGeom prst="rect">
                <a:avLst/>
              </a:prstGeom>
              <a:blipFill>
                <a:blip r:embed="rId14"/>
                <a:stretch>
                  <a:fillRect l="-23810" r="-2381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矩形 87">
            <a:extLst>
              <a:ext uri="{FF2B5EF4-FFF2-40B4-BE49-F238E27FC236}">
                <a16:creationId xmlns:a16="http://schemas.microsoft.com/office/drawing/2014/main" id="{6C655758-87F2-8F45-AA34-421DB44C0A10}"/>
              </a:ext>
            </a:extLst>
          </p:cNvPr>
          <p:cNvSpPr/>
          <p:nvPr/>
        </p:nvSpPr>
        <p:spPr bwMode="auto">
          <a:xfrm>
            <a:off x="4415851" y="1866997"/>
            <a:ext cx="266984" cy="15723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CE355B3A-F31D-B845-A966-F47DC95CCD87}"/>
              </a:ext>
            </a:extLst>
          </p:cNvPr>
          <p:cNvSpPr/>
          <p:nvPr/>
        </p:nvSpPr>
        <p:spPr bwMode="auto">
          <a:xfrm>
            <a:off x="4441482" y="1898421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9C52EFF6-9A55-8247-9815-B27AE5797145}"/>
              </a:ext>
            </a:extLst>
          </p:cNvPr>
          <p:cNvSpPr/>
          <p:nvPr/>
        </p:nvSpPr>
        <p:spPr bwMode="auto">
          <a:xfrm>
            <a:off x="4451858" y="2190519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73A66444-F698-EF4F-BA2A-58FB21F05B3D}"/>
              </a:ext>
            </a:extLst>
          </p:cNvPr>
          <p:cNvSpPr/>
          <p:nvPr/>
        </p:nvSpPr>
        <p:spPr bwMode="auto">
          <a:xfrm>
            <a:off x="4439223" y="2872273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D9B2F4FE-0772-9E45-A720-2B6295A42E97}"/>
              </a:ext>
            </a:extLst>
          </p:cNvPr>
          <p:cNvSpPr/>
          <p:nvPr/>
        </p:nvSpPr>
        <p:spPr bwMode="auto">
          <a:xfrm>
            <a:off x="4440301" y="3171308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615DAEA-3E7B-1A4E-9B9C-3DA9F20055C1}"/>
              </a:ext>
            </a:extLst>
          </p:cNvPr>
          <p:cNvSpPr txBox="1"/>
          <p:nvPr/>
        </p:nvSpPr>
        <p:spPr>
          <a:xfrm>
            <a:off x="4422396" y="229641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2F91BC9-3237-E046-97AC-90D7F17020B5}"/>
              </a:ext>
            </a:extLst>
          </p:cNvPr>
          <p:cNvSpPr txBox="1"/>
          <p:nvPr/>
        </p:nvSpPr>
        <p:spPr>
          <a:xfrm>
            <a:off x="4422166" y="246778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/>
              <p:nvPr/>
            </p:nvSpPr>
            <p:spPr>
              <a:xfrm>
                <a:off x="4330848" y="3448933"/>
                <a:ext cx="4571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𝐡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848" y="3448933"/>
                <a:ext cx="457176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文本框 98">
            <a:extLst>
              <a:ext uri="{FF2B5EF4-FFF2-40B4-BE49-F238E27FC236}">
                <a16:creationId xmlns:a16="http://schemas.microsoft.com/office/drawing/2014/main" id="{B7689C5C-B47E-E542-A51F-7B4F00B4F0A6}"/>
              </a:ext>
            </a:extLst>
          </p:cNvPr>
          <p:cNvSpPr txBox="1"/>
          <p:nvPr/>
        </p:nvSpPr>
        <p:spPr>
          <a:xfrm>
            <a:off x="2325261" y="91026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输入层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B19AC18-1237-D44B-83EF-E15800AED32D}"/>
              </a:ext>
            </a:extLst>
          </p:cNvPr>
          <p:cNvSpPr txBox="1"/>
          <p:nvPr/>
        </p:nvSpPr>
        <p:spPr>
          <a:xfrm>
            <a:off x="5875484" y="90396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输出层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C7C7B9A3-C7D4-6641-BD4F-7F317EE46D78}"/>
              </a:ext>
            </a:extLst>
          </p:cNvPr>
          <p:cNvSpPr txBox="1"/>
          <p:nvPr/>
        </p:nvSpPr>
        <p:spPr>
          <a:xfrm>
            <a:off x="4211960" y="90822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隐</a:t>
            </a:r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3EDA183-239A-1943-8A49-9BCD684E1777}"/>
                  </a:ext>
                </a:extLst>
              </p:cNvPr>
              <p:cNvSpPr txBox="1"/>
              <p:nvPr/>
            </p:nvSpPr>
            <p:spPr>
              <a:xfrm>
                <a:off x="6348809" y="4403501"/>
                <a:ext cx="2361096" cy="63722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3EDA183-239A-1943-8A49-9BCD684E1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809" y="4403501"/>
                <a:ext cx="2361096" cy="637226"/>
              </a:xfrm>
              <a:prstGeom prst="rect">
                <a:avLst/>
              </a:prstGeom>
              <a:blipFill>
                <a:blip r:embed="rId16"/>
                <a:stretch>
                  <a:fillRect l="-1596" b="-7692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44F3F731-0489-9C45-8A0C-78FB380AFD5F}"/>
                  </a:ext>
                </a:extLst>
              </p:cNvPr>
              <p:cNvSpPr txBox="1"/>
              <p:nvPr/>
            </p:nvSpPr>
            <p:spPr>
              <a:xfrm>
                <a:off x="854459" y="4449625"/>
                <a:ext cx="1959254" cy="6355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𝐮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44F3F731-0489-9C45-8A0C-78FB380AF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459" y="4449625"/>
                <a:ext cx="1959254" cy="635559"/>
              </a:xfrm>
              <a:prstGeom prst="rect">
                <a:avLst/>
              </a:prstGeom>
              <a:blipFill>
                <a:blip r:embed="rId17"/>
                <a:stretch>
                  <a:fillRect t="-1961" b="-98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F1233B7E-BE1F-9A4C-9B77-440B8BCDFA58}"/>
                  </a:ext>
                </a:extLst>
              </p:cNvPr>
              <p:cNvSpPr txBox="1"/>
              <p:nvPr/>
            </p:nvSpPr>
            <p:spPr>
              <a:xfrm>
                <a:off x="2758479" y="4426501"/>
                <a:ext cx="2234330" cy="6299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F1233B7E-BE1F-9A4C-9B77-440B8BCDF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479" y="4426501"/>
                <a:ext cx="2234330" cy="629981"/>
              </a:xfrm>
              <a:prstGeom prst="rect">
                <a:avLst/>
              </a:prstGeom>
              <a:blipFill>
                <a:blip r:embed="rId18"/>
                <a:stretch>
                  <a:fillRect l="-565" t="-176000" b="-25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F1D3F49-729D-6648-9A9A-E207B0E5A6E6}"/>
                  </a:ext>
                </a:extLst>
              </p:cNvPr>
              <p:cNvSpPr txBox="1"/>
              <p:nvPr/>
            </p:nvSpPr>
            <p:spPr>
              <a:xfrm>
                <a:off x="8372159" y="5075892"/>
                <a:ext cx="8827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F1D3F49-729D-6648-9A9A-E207B0E5A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2159" y="5075892"/>
                <a:ext cx="88273" cy="369332"/>
              </a:xfrm>
              <a:prstGeom prst="rect">
                <a:avLst/>
              </a:prstGeom>
              <a:blipFill>
                <a:blip r:embed="rId19"/>
                <a:stretch>
                  <a:fillRect l="-75000" r="-20000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DCFECB74-936D-E24E-A5FF-7EC354567461}"/>
              </a:ext>
            </a:extLst>
          </p:cNvPr>
          <p:cNvCxnSpPr>
            <a:cxnSpLocks/>
          </p:cNvCxnSpPr>
          <p:nvPr/>
        </p:nvCxnSpPr>
        <p:spPr bwMode="auto">
          <a:xfrm>
            <a:off x="7524328" y="5075892"/>
            <a:ext cx="720080" cy="22531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CBB6E64-CBB1-3E41-9F22-8D409277DE16}"/>
              </a:ext>
            </a:extLst>
          </p:cNvPr>
          <p:cNvSpPr txBox="1"/>
          <p:nvPr/>
        </p:nvSpPr>
        <p:spPr>
          <a:xfrm>
            <a:off x="3798454" y="4408410"/>
            <a:ext cx="1194355" cy="6480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vert="eaVert" wrap="square" rtlCol="0">
            <a:spAutoFit/>
          </a:bodyPr>
          <a:lstStyle/>
          <a:p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A40CE4C-EECA-9A4C-88E8-9390C560A053}"/>
                  </a:ext>
                </a:extLst>
              </p:cNvPr>
              <p:cNvSpPr txBox="1"/>
              <p:nvPr/>
            </p:nvSpPr>
            <p:spPr>
              <a:xfrm>
                <a:off x="4211960" y="5171013"/>
                <a:ext cx="4536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𝐞𝐕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A40CE4C-EECA-9A4C-88E8-9390C560A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60" y="5171013"/>
                <a:ext cx="453650" cy="369332"/>
              </a:xfrm>
              <a:prstGeom prst="rect">
                <a:avLst/>
              </a:prstGeom>
              <a:blipFill>
                <a:blip r:embed="rId20"/>
                <a:stretch>
                  <a:fillRect l="-8108" r="-10811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0D6C1F20-9D50-A64C-9DB3-FBAD4350D2BC}"/>
                  </a:ext>
                </a:extLst>
              </p:cNvPr>
              <p:cNvSpPr txBox="1"/>
              <p:nvPr/>
            </p:nvSpPr>
            <p:spPr>
              <a:xfrm>
                <a:off x="6444208" y="5540344"/>
                <a:ext cx="63397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=[</m:t>
                          </m:r>
                          <m:sSub>
                            <m:sSubPr>
                              <m:ctrlP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0D6C1F20-9D50-A64C-9DB3-FBAD4350D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208" y="5540344"/>
                <a:ext cx="633972" cy="369332"/>
              </a:xfrm>
              <a:prstGeom prst="rect">
                <a:avLst/>
              </a:prstGeom>
              <a:blipFill>
                <a:blip r:embed="rId21"/>
                <a:stretch>
                  <a:fillRect l="-11765" r="-276471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436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CBOW</a:t>
            </a:r>
            <a:r>
              <a:rPr lang="zh-CN" altLang="en-US" dirty="0"/>
              <a:t>模型：考虑更多的上下文</a:t>
            </a:r>
            <a:endParaRPr kumimoji="1" lang="zh-CN" altLang="en-US" dirty="0"/>
          </a:p>
        </p:txBody>
      </p:sp>
      <p:sp>
        <p:nvSpPr>
          <p:cNvPr id="45" name="梯形 44">
            <a:extLst>
              <a:ext uri="{FF2B5EF4-FFF2-40B4-BE49-F238E27FC236}">
                <a16:creationId xmlns:a16="http://schemas.microsoft.com/office/drawing/2014/main" id="{B5505625-CA44-2646-BFBD-D656BC52EA8B}"/>
              </a:ext>
            </a:extLst>
          </p:cNvPr>
          <p:cNvSpPr/>
          <p:nvPr/>
        </p:nvSpPr>
        <p:spPr bwMode="auto">
          <a:xfrm rot="16200000">
            <a:off x="4230594" y="2911827"/>
            <a:ext cx="2338998" cy="1656184"/>
          </a:xfrm>
          <a:prstGeom prst="trapezoid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2AEC97DD-A83F-C441-BCCF-21CDF72705AA}"/>
              </a:ext>
            </a:extLst>
          </p:cNvPr>
          <p:cNvGrpSpPr/>
          <p:nvPr/>
        </p:nvGrpSpPr>
        <p:grpSpPr>
          <a:xfrm>
            <a:off x="6222137" y="2560126"/>
            <a:ext cx="312666" cy="2360468"/>
            <a:chOff x="2627784" y="908720"/>
            <a:chExt cx="312666" cy="2360468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F61A3483-5912-F047-9EF1-F6220FBF9D7F}"/>
                </a:ext>
              </a:extLst>
            </p:cNvPr>
            <p:cNvSpPr/>
            <p:nvPr/>
          </p:nvSpPr>
          <p:spPr bwMode="auto">
            <a:xfrm>
              <a:off x="2627784" y="908720"/>
              <a:ext cx="288032" cy="23604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3319BE84-DE1C-AD42-B2BB-91CF9395A294}"/>
                </a:ext>
              </a:extLst>
            </p:cNvPr>
            <p:cNvSpPr/>
            <p:nvPr/>
          </p:nvSpPr>
          <p:spPr bwMode="auto">
            <a:xfrm>
              <a:off x="2663787" y="9807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EFBA9F02-9553-D842-8A13-FB2542A857DA}"/>
                </a:ext>
              </a:extLst>
            </p:cNvPr>
            <p:cNvSpPr/>
            <p:nvPr/>
          </p:nvSpPr>
          <p:spPr bwMode="auto">
            <a:xfrm>
              <a:off x="2673404" y="12855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C320ECB6-F9FB-E144-BA1E-CE186B1323F9}"/>
                </a:ext>
              </a:extLst>
            </p:cNvPr>
            <p:cNvSpPr/>
            <p:nvPr/>
          </p:nvSpPr>
          <p:spPr bwMode="auto">
            <a:xfrm>
              <a:off x="2673403" y="1988840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E8F8DF71-CFC9-0046-AE91-C5BFEC740A42}"/>
                </a:ext>
              </a:extLst>
            </p:cNvPr>
            <p:cNvSpPr/>
            <p:nvPr/>
          </p:nvSpPr>
          <p:spPr bwMode="auto">
            <a:xfrm>
              <a:off x="2663787" y="2708920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18EB4C87-BE30-1345-BCE0-220E4939DEE8}"/>
                </a:ext>
              </a:extLst>
            </p:cNvPr>
            <p:cNvSpPr/>
            <p:nvPr/>
          </p:nvSpPr>
          <p:spPr bwMode="auto">
            <a:xfrm>
              <a:off x="2663786" y="2982606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50E1AE9C-BB24-804F-8038-DFD37C704F34}"/>
                </a:ext>
              </a:extLst>
            </p:cNvPr>
            <p:cNvGrpSpPr/>
            <p:nvPr/>
          </p:nvGrpSpPr>
          <p:grpSpPr>
            <a:xfrm>
              <a:off x="2652418" y="1327135"/>
              <a:ext cx="288032" cy="672173"/>
              <a:chOff x="1691680" y="3573016"/>
              <a:chExt cx="288032" cy="672173"/>
            </a:xfrm>
          </p:grpSpPr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68D9A63-457F-074A-AA50-14FD36B16086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FAA7D1C8-36FE-2F42-8E30-18BF29774D5C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B328238A-08BC-6945-9359-1283E3309482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C029C03C-FB89-9D4C-9A93-386977890858}"/>
                </a:ext>
              </a:extLst>
            </p:cNvPr>
            <p:cNvGrpSpPr/>
            <p:nvPr/>
          </p:nvGrpSpPr>
          <p:grpSpPr>
            <a:xfrm>
              <a:off x="2652234" y="2043846"/>
              <a:ext cx="288212" cy="664188"/>
              <a:chOff x="1691680" y="3581001"/>
              <a:chExt cx="288212" cy="664188"/>
            </a:xfrm>
          </p:grpSpPr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A6BAA61F-A004-D847-A838-37296487319D}"/>
                  </a:ext>
                </a:extLst>
              </p:cNvPr>
              <p:cNvSpPr txBox="1"/>
              <p:nvPr/>
            </p:nvSpPr>
            <p:spPr>
              <a:xfrm>
                <a:off x="1691860" y="3581001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839F2A8B-3FEC-EE4D-97C3-73B0E0F461E6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CD6CE221-0D7A-3044-A1AA-86ADD001E589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/>
              <p:nvPr/>
            </p:nvSpPr>
            <p:spPr>
              <a:xfrm>
                <a:off x="3008113" y="2026756"/>
                <a:ext cx="3606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113" y="2026756"/>
                <a:ext cx="360675" cy="430887"/>
              </a:xfrm>
              <a:prstGeom prst="rect">
                <a:avLst/>
              </a:prstGeom>
              <a:blipFill>
                <a:blip r:embed="rId3"/>
                <a:stretch>
                  <a:fillRect l="-16667" r="-16667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/>
              <p:nvPr/>
            </p:nvSpPr>
            <p:spPr>
              <a:xfrm>
                <a:off x="5286762" y="3542427"/>
                <a:ext cx="33182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𝐕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762" y="3542427"/>
                <a:ext cx="331822" cy="430887"/>
              </a:xfrm>
              <a:prstGeom prst="rect">
                <a:avLst/>
              </a:prstGeom>
              <a:blipFill>
                <a:blip r:embed="rId4"/>
                <a:stretch>
                  <a:fillRect l="-22222" r="-22222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组合 79">
            <a:extLst>
              <a:ext uri="{FF2B5EF4-FFF2-40B4-BE49-F238E27FC236}">
                <a16:creationId xmlns:a16="http://schemas.microsoft.com/office/drawing/2014/main" id="{CE76F8E7-A84A-D846-B290-1C715151CBAE}"/>
              </a:ext>
            </a:extLst>
          </p:cNvPr>
          <p:cNvGrpSpPr/>
          <p:nvPr/>
        </p:nvGrpSpPr>
        <p:grpSpPr>
          <a:xfrm>
            <a:off x="6521722" y="2524406"/>
            <a:ext cx="547779" cy="2385012"/>
            <a:chOff x="2203064" y="838069"/>
            <a:chExt cx="547779" cy="2385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/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/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/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blipFill>
                  <a:blip r:embed="rId7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/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blipFill>
                  <a:blip r:embed="rId8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/>
              <p:nvPr/>
            </p:nvSpPr>
            <p:spPr>
              <a:xfrm>
                <a:off x="6231195" y="4859868"/>
                <a:ext cx="2516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195" y="4859868"/>
                <a:ext cx="251671" cy="369332"/>
              </a:xfrm>
              <a:prstGeom prst="rect">
                <a:avLst/>
              </a:prstGeom>
              <a:blipFill>
                <a:blip r:embed="rId9"/>
                <a:stretch>
                  <a:fillRect l="-23810" r="-2381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矩形 87">
            <a:extLst>
              <a:ext uri="{FF2B5EF4-FFF2-40B4-BE49-F238E27FC236}">
                <a16:creationId xmlns:a16="http://schemas.microsoft.com/office/drawing/2014/main" id="{6C655758-87F2-8F45-AA34-421DB44C0A10}"/>
              </a:ext>
            </a:extLst>
          </p:cNvPr>
          <p:cNvSpPr/>
          <p:nvPr/>
        </p:nvSpPr>
        <p:spPr bwMode="auto">
          <a:xfrm>
            <a:off x="4415851" y="2947117"/>
            <a:ext cx="266984" cy="15723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CE355B3A-F31D-B845-A966-F47DC95CCD87}"/>
              </a:ext>
            </a:extLst>
          </p:cNvPr>
          <p:cNvSpPr/>
          <p:nvPr/>
        </p:nvSpPr>
        <p:spPr bwMode="auto">
          <a:xfrm>
            <a:off x="4441482" y="2978541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9C52EFF6-9A55-8247-9815-B27AE5797145}"/>
              </a:ext>
            </a:extLst>
          </p:cNvPr>
          <p:cNvSpPr/>
          <p:nvPr/>
        </p:nvSpPr>
        <p:spPr bwMode="auto">
          <a:xfrm>
            <a:off x="4451858" y="3270639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73A66444-F698-EF4F-BA2A-58FB21F05B3D}"/>
              </a:ext>
            </a:extLst>
          </p:cNvPr>
          <p:cNvSpPr/>
          <p:nvPr/>
        </p:nvSpPr>
        <p:spPr bwMode="auto">
          <a:xfrm>
            <a:off x="4439223" y="3952393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D9B2F4FE-0772-9E45-A720-2B6295A42E97}"/>
              </a:ext>
            </a:extLst>
          </p:cNvPr>
          <p:cNvSpPr/>
          <p:nvPr/>
        </p:nvSpPr>
        <p:spPr bwMode="auto">
          <a:xfrm>
            <a:off x="4440301" y="4251428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615DAEA-3E7B-1A4E-9B9C-3DA9F20055C1}"/>
              </a:ext>
            </a:extLst>
          </p:cNvPr>
          <p:cNvSpPr txBox="1"/>
          <p:nvPr/>
        </p:nvSpPr>
        <p:spPr>
          <a:xfrm>
            <a:off x="4422396" y="337653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2F91BC9-3237-E046-97AC-90D7F17020B5}"/>
              </a:ext>
            </a:extLst>
          </p:cNvPr>
          <p:cNvSpPr txBox="1"/>
          <p:nvPr/>
        </p:nvSpPr>
        <p:spPr>
          <a:xfrm>
            <a:off x="4422166" y="354790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/>
              <p:nvPr/>
            </p:nvSpPr>
            <p:spPr>
              <a:xfrm>
                <a:off x="4330848" y="4529053"/>
                <a:ext cx="4571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𝐡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848" y="4529053"/>
                <a:ext cx="457176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文本框 98">
            <a:extLst>
              <a:ext uri="{FF2B5EF4-FFF2-40B4-BE49-F238E27FC236}">
                <a16:creationId xmlns:a16="http://schemas.microsoft.com/office/drawing/2014/main" id="{B7689C5C-B47E-E542-A51F-7B4F00B4F0A6}"/>
              </a:ext>
            </a:extLst>
          </p:cNvPr>
          <p:cNvSpPr txBox="1"/>
          <p:nvPr/>
        </p:nvSpPr>
        <p:spPr>
          <a:xfrm>
            <a:off x="2811373" y="73608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输入层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B19AC18-1237-D44B-83EF-E15800AED32D}"/>
              </a:ext>
            </a:extLst>
          </p:cNvPr>
          <p:cNvSpPr txBox="1"/>
          <p:nvPr/>
        </p:nvSpPr>
        <p:spPr>
          <a:xfrm>
            <a:off x="5875484" y="198408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输出层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C7C7B9A3-C7D4-6641-BD4F-7F317EE46D78}"/>
              </a:ext>
            </a:extLst>
          </p:cNvPr>
          <p:cNvSpPr txBox="1"/>
          <p:nvPr/>
        </p:nvSpPr>
        <p:spPr>
          <a:xfrm>
            <a:off x="4211960" y="198834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隐</a:t>
            </a:r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层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119788A-6C2F-FD48-A978-A9535EF4E921}"/>
              </a:ext>
            </a:extLst>
          </p:cNvPr>
          <p:cNvGrpSpPr/>
          <p:nvPr/>
        </p:nvGrpSpPr>
        <p:grpSpPr>
          <a:xfrm>
            <a:off x="2413918" y="908720"/>
            <a:ext cx="312666" cy="1702552"/>
            <a:chOff x="1700262" y="1124744"/>
            <a:chExt cx="312666" cy="1702552"/>
          </a:xfrm>
        </p:grpSpPr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A1F8484F-6D54-8A45-8E26-54A1ADBB23CA}"/>
                </a:ext>
              </a:extLst>
            </p:cNvPr>
            <p:cNvSpPr/>
            <p:nvPr/>
          </p:nvSpPr>
          <p:spPr bwMode="auto">
            <a:xfrm>
              <a:off x="1700262" y="1124744"/>
              <a:ext cx="288032" cy="170255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5B7F21B8-B3D3-9740-8BC9-E303D01EA1D1}"/>
                </a:ext>
              </a:extLst>
            </p:cNvPr>
            <p:cNvSpPr/>
            <p:nvPr/>
          </p:nvSpPr>
          <p:spPr bwMode="auto">
            <a:xfrm>
              <a:off x="1736265" y="1196752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4467A775-7EE2-D245-A7D2-0C03B242F47F}"/>
                </a:ext>
              </a:extLst>
            </p:cNvPr>
            <p:cNvSpPr/>
            <p:nvPr/>
          </p:nvSpPr>
          <p:spPr bwMode="auto">
            <a:xfrm>
              <a:off x="1745882" y="1484784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27F56D3E-EF70-994F-ACB1-C95AE420C3E2}"/>
                </a:ext>
              </a:extLst>
            </p:cNvPr>
            <p:cNvSpPr/>
            <p:nvPr/>
          </p:nvSpPr>
          <p:spPr bwMode="auto">
            <a:xfrm>
              <a:off x="1741107" y="2041062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86A33407-3FB5-BF47-920D-EC3F75D06E3B}"/>
                </a:ext>
              </a:extLst>
            </p:cNvPr>
            <p:cNvSpPr/>
            <p:nvPr/>
          </p:nvSpPr>
          <p:spPr bwMode="auto">
            <a:xfrm>
              <a:off x="1744699" y="2553181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F7F811EF-6743-FD41-8AEF-BBDD2BC815E8}"/>
                </a:ext>
              </a:extLst>
            </p:cNvPr>
            <p:cNvGrpSpPr/>
            <p:nvPr/>
          </p:nvGrpSpPr>
          <p:grpSpPr>
            <a:xfrm>
              <a:off x="1724896" y="1516722"/>
              <a:ext cx="288032" cy="512188"/>
              <a:chOff x="1691680" y="3523381"/>
              <a:chExt cx="288032" cy="512188"/>
            </a:xfrm>
          </p:grpSpPr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176F535B-AED8-424B-AC11-91BC195586CC}"/>
                  </a:ext>
                </a:extLst>
              </p:cNvPr>
              <p:cNvSpPr txBox="1"/>
              <p:nvPr/>
            </p:nvSpPr>
            <p:spPr>
              <a:xfrm>
                <a:off x="1691680" y="363545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A327F3DA-FF98-104D-9CC4-B3B52C123851}"/>
                  </a:ext>
                </a:extLst>
              </p:cNvPr>
              <p:cNvSpPr txBox="1"/>
              <p:nvPr/>
            </p:nvSpPr>
            <p:spPr>
              <a:xfrm>
                <a:off x="1691680" y="3523381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C8EFA8CF-EEDD-EB45-A687-A948988CBE3D}"/>
                </a:ext>
              </a:extLst>
            </p:cNvPr>
            <p:cNvSpPr txBox="1"/>
            <p:nvPr/>
          </p:nvSpPr>
          <p:spPr>
            <a:xfrm>
              <a:off x="1723782" y="2096355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/>
                <a:t>.</a:t>
              </a:r>
              <a:endParaRPr kumimoji="1" lang="zh-CN" altLang="en-US" sz="2000" b="1" dirty="0"/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3568A109-0D0D-054D-A879-B927E5DFD226}"/>
                </a:ext>
              </a:extLst>
            </p:cNvPr>
            <p:cNvSpPr txBox="1"/>
            <p:nvPr/>
          </p:nvSpPr>
          <p:spPr>
            <a:xfrm>
              <a:off x="1723782" y="2197278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/>
                <a:t>.</a:t>
              </a:r>
              <a:endParaRPr kumimoji="1" lang="zh-CN" altLang="en-US" sz="2000" b="1" dirty="0"/>
            </a:p>
          </p:txBody>
        </p:sp>
      </p:grpSp>
      <p:sp>
        <p:nvSpPr>
          <p:cNvPr id="117" name="文本框 116">
            <a:extLst>
              <a:ext uri="{FF2B5EF4-FFF2-40B4-BE49-F238E27FC236}">
                <a16:creationId xmlns:a16="http://schemas.microsoft.com/office/drawing/2014/main" id="{02F0A75C-E2FD-8A45-B46E-C28C0CEDDA9D}"/>
              </a:ext>
            </a:extLst>
          </p:cNvPr>
          <p:cNvSpPr txBox="1"/>
          <p:nvPr/>
        </p:nvSpPr>
        <p:spPr>
          <a:xfrm>
            <a:off x="744923" y="2496465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CN" altLang="en-US" sz="2000" b="1" dirty="0"/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CF13F23A-FE0D-B243-A6EC-F201FFF3A08D}"/>
              </a:ext>
            </a:extLst>
          </p:cNvPr>
          <p:cNvCxnSpPr>
            <a:cxnSpLocks/>
          </p:cNvCxnSpPr>
          <p:nvPr/>
        </p:nvCxnSpPr>
        <p:spPr bwMode="auto">
          <a:xfrm>
            <a:off x="2690155" y="918485"/>
            <a:ext cx="1713056" cy="20198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2" name="直线连接符 121">
            <a:extLst>
              <a:ext uri="{FF2B5EF4-FFF2-40B4-BE49-F238E27FC236}">
                <a16:creationId xmlns:a16="http://schemas.microsoft.com/office/drawing/2014/main" id="{3522A861-55D0-3F42-BE7B-185F888E755B}"/>
              </a:ext>
            </a:extLst>
          </p:cNvPr>
          <p:cNvCxnSpPr>
            <a:cxnSpLocks/>
          </p:cNvCxnSpPr>
          <p:nvPr/>
        </p:nvCxnSpPr>
        <p:spPr bwMode="auto">
          <a:xfrm>
            <a:off x="2699211" y="2606760"/>
            <a:ext cx="1703399" cy="189807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2B205559-F4D2-B34F-B91F-F36B2FFFB490}"/>
              </a:ext>
            </a:extLst>
          </p:cNvPr>
          <p:cNvGrpSpPr/>
          <p:nvPr/>
        </p:nvGrpSpPr>
        <p:grpSpPr>
          <a:xfrm>
            <a:off x="2408172" y="2852936"/>
            <a:ext cx="312666" cy="1702552"/>
            <a:chOff x="1700262" y="1124744"/>
            <a:chExt cx="312666" cy="1702552"/>
          </a:xfrm>
        </p:grpSpPr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4C419869-C6E2-CA45-98E5-25049D63592A}"/>
                </a:ext>
              </a:extLst>
            </p:cNvPr>
            <p:cNvSpPr/>
            <p:nvPr/>
          </p:nvSpPr>
          <p:spPr bwMode="auto">
            <a:xfrm>
              <a:off x="1700262" y="1124744"/>
              <a:ext cx="288032" cy="170255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D3AADC20-72AF-5344-BC81-23356DB87BB3}"/>
                </a:ext>
              </a:extLst>
            </p:cNvPr>
            <p:cNvSpPr/>
            <p:nvPr/>
          </p:nvSpPr>
          <p:spPr bwMode="auto">
            <a:xfrm>
              <a:off x="1736265" y="1196752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CFE59EB5-8A28-B14F-A14B-E92326EFE0F9}"/>
                </a:ext>
              </a:extLst>
            </p:cNvPr>
            <p:cNvSpPr/>
            <p:nvPr/>
          </p:nvSpPr>
          <p:spPr bwMode="auto">
            <a:xfrm>
              <a:off x="1745882" y="1484784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D1D9EF37-FD00-274C-BEA5-003809434C56}"/>
                </a:ext>
              </a:extLst>
            </p:cNvPr>
            <p:cNvSpPr/>
            <p:nvPr/>
          </p:nvSpPr>
          <p:spPr bwMode="auto">
            <a:xfrm>
              <a:off x="1741107" y="2041062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6CE692DC-D0BF-4046-ABD1-F490B223F79C}"/>
                </a:ext>
              </a:extLst>
            </p:cNvPr>
            <p:cNvSpPr/>
            <p:nvPr/>
          </p:nvSpPr>
          <p:spPr bwMode="auto">
            <a:xfrm>
              <a:off x="1744699" y="2553181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1D8ED716-B8F8-7F48-8F12-13A2CAFFCDF4}"/>
                </a:ext>
              </a:extLst>
            </p:cNvPr>
            <p:cNvGrpSpPr/>
            <p:nvPr/>
          </p:nvGrpSpPr>
          <p:grpSpPr>
            <a:xfrm>
              <a:off x="1724896" y="1516722"/>
              <a:ext cx="288032" cy="512188"/>
              <a:chOff x="1691680" y="3523381"/>
              <a:chExt cx="288032" cy="512188"/>
            </a:xfrm>
          </p:grpSpPr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BA04A257-FEB0-0344-A169-A15B7CA69214}"/>
                  </a:ext>
                </a:extLst>
              </p:cNvPr>
              <p:cNvSpPr txBox="1"/>
              <p:nvPr/>
            </p:nvSpPr>
            <p:spPr>
              <a:xfrm>
                <a:off x="1691680" y="363545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E9E935DC-1935-B74D-8BD2-81B354D0AEFE}"/>
                  </a:ext>
                </a:extLst>
              </p:cNvPr>
              <p:cNvSpPr txBox="1"/>
              <p:nvPr/>
            </p:nvSpPr>
            <p:spPr>
              <a:xfrm>
                <a:off x="1691680" y="3523381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40487E6F-3ED6-764D-9FB4-A70CE575B98D}"/>
                </a:ext>
              </a:extLst>
            </p:cNvPr>
            <p:cNvSpPr txBox="1"/>
            <p:nvPr/>
          </p:nvSpPr>
          <p:spPr>
            <a:xfrm>
              <a:off x="1723782" y="2096355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/>
                <a:t>.</a:t>
              </a:r>
              <a:endParaRPr kumimoji="1" lang="zh-CN" altLang="en-US" sz="2000" b="1" dirty="0"/>
            </a:p>
          </p:txBody>
        </p: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02C2D23D-433F-2D40-8639-C7280EEB8A46}"/>
                </a:ext>
              </a:extLst>
            </p:cNvPr>
            <p:cNvSpPr txBox="1"/>
            <p:nvPr/>
          </p:nvSpPr>
          <p:spPr>
            <a:xfrm>
              <a:off x="1723782" y="2197278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/>
                <a:t>.</a:t>
              </a:r>
              <a:endParaRPr kumimoji="1" lang="zh-CN" altLang="en-US" sz="2000" b="1" dirty="0"/>
            </a:p>
          </p:txBody>
        </p:sp>
      </p:grp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B2B74BB8-0284-C747-B073-E25270D4DB26}"/>
              </a:ext>
            </a:extLst>
          </p:cNvPr>
          <p:cNvGrpSpPr/>
          <p:nvPr/>
        </p:nvGrpSpPr>
        <p:grpSpPr>
          <a:xfrm>
            <a:off x="2407058" y="4750784"/>
            <a:ext cx="312666" cy="1702552"/>
            <a:chOff x="1700262" y="1124744"/>
            <a:chExt cx="312666" cy="1702552"/>
          </a:xfrm>
        </p:grpSpPr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FEFAE8CC-10E5-C64F-9068-05115A13BF97}"/>
                </a:ext>
              </a:extLst>
            </p:cNvPr>
            <p:cNvSpPr/>
            <p:nvPr/>
          </p:nvSpPr>
          <p:spPr bwMode="auto">
            <a:xfrm>
              <a:off x="1700262" y="1124744"/>
              <a:ext cx="288032" cy="170255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E11DEC8A-7A0E-394C-9C1D-D025F35ADBAD}"/>
                </a:ext>
              </a:extLst>
            </p:cNvPr>
            <p:cNvSpPr/>
            <p:nvPr/>
          </p:nvSpPr>
          <p:spPr bwMode="auto">
            <a:xfrm>
              <a:off x="1736265" y="1196752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925ED3AF-41FC-FF4D-A576-D4A35D782E77}"/>
                </a:ext>
              </a:extLst>
            </p:cNvPr>
            <p:cNvSpPr/>
            <p:nvPr/>
          </p:nvSpPr>
          <p:spPr bwMode="auto">
            <a:xfrm>
              <a:off x="1745882" y="1484784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15BB36D3-B5BF-8C4B-8C6A-9BE2E22B73A8}"/>
                </a:ext>
              </a:extLst>
            </p:cNvPr>
            <p:cNvSpPr/>
            <p:nvPr/>
          </p:nvSpPr>
          <p:spPr bwMode="auto">
            <a:xfrm>
              <a:off x="1741107" y="2041062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D10DEF53-E41F-9647-B72F-5D13AB7A485E}"/>
                </a:ext>
              </a:extLst>
            </p:cNvPr>
            <p:cNvSpPr/>
            <p:nvPr/>
          </p:nvSpPr>
          <p:spPr bwMode="auto">
            <a:xfrm>
              <a:off x="1744699" y="2553181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C0407753-9165-8744-B937-2076928B266E}"/>
                </a:ext>
              </a:extLst>
            </p:cNvPr>
            <p:cNvGrpSpPr/>
            <p:nvPr/>
          </p:nvGrpSpPr>
          <p:grpSpPr>
            <a:xfrm>
              <a:off x="1724896" y="1516722"/>
              <a:ext cx="288032" cy="512188"/>
              <a:chOff x="1691680" y="3523381"/>
              <a:chExt cx="288032" cy="512188"/>
            </a:xfrm>
          </p:grpSpPr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7A115CE5-D128-AD4B-B145-996DCB589ECD}"/>
                  </a:ext>
                </a:extLst>
              </p:cNvPr>
              <p:cNvSpPr txBox="1"/>
              <p:nvPr/>
            </p:nvSpPr>
            <p:spPr>
              <a:xfrm>
                <a:off x="1691680" y="363545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62F24C89-DF84-2245-8033-4DD126A028DB}"/>
                  </a:ext>
                </a:extLst>
              </p:cNvPr>
              <p:cNvSpPr txBox="1"/>
              <p:nvPr/>
            </p:nvSpPr>
            <p:spPr>
              <a:xfrm>
                <a:off x="1691680" y="3523381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B697D653-D91F-314D-9D2C-885FB2820C7F}"/>
                </a:ext>
              </a:extLst>
            </p:cNvPr>
            <p:cNvSpPr txBox="1"/>
            <p:nvPr/>
          </p:nvSpPr>
          <p:spPr>
            <a:xfrm>
              <a:off x="1723782" y="2096355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/>
                <a:t>.</a:t>
              </a:r>
              <a:endParaRPr kumimoji="1" lang="zh-CN" altLang="en-US" sz="2000" b="1" dirty="0"/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3D8348E2-548B-5D43-A28D-6E3DBA7DFE07}"/>
                </a:ext>
              </a:extLst>
            </p:cNvPr>
            <p:cNvSpPr txBox="1"/>
            <p:nvPr/>
          </p:nvSpPr>
          <p:spPr>
            <a:xfrm>
              <a:off x="1723782" y="2197278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/>
                <a:t>.</a:t>
              </a:r>
              <a:endParaRPr kumimoji="1" lang="zh-CN" altLang="en-US" sz="2000" b="1" dirty="0"/>
            </a:p>
          </p:txBody>
        </p:sp>
      </p:grp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7152E9F8-04D3-4644-9F4B-F09545C1B9D0}"/>
              </a:ext>
            </a:extLst>
          </p:cNvPr>
          <p:cNvCxnSpPr>
            <a:cxnSpLocks/>
          </p:cNvCxnSpPr>
          <p:nvPr/>
        </p:nvCxnSpPr>
        <p:spPr bwMode="auto">
          <a:xfrm>
            <a:off x="2680304" y="2850746"/>
            <a:ext cx="1755146" cy="10702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4370A7D6-8C6C-BB45-B5C9-07CC4731C41B}"/>
              </a:ext>
            </a:extLst>
          </p:cNvPr>
          <p:cNvCxnSpPr>
            <a:cxnSpLocks/>
          </p:cNvCxnSpPr>
          <p:nvPr/>
        </p:nvCxnSpPr>
        <p:spPr bwMode="auto">
          <a:xfrm flipV="1">
            <a:off x="2701950" y="4498125"/>
            <a:ext cx="1720446" cy="573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19729F2B-F027-0C44-A32A-7B4125BCA409}"/>
              </a:ext>
            </a:extLst>
          </p:cNvPr>
          <p:cNvCxnSpPr>
            <a:cxnSpLocks/>
          </p:cNvCxnSpPr>
          <p:nvPr/>
        </p:nvCxnSpPr>
        <p:spPr bwMode="auto">
          <a:xfrm flipV="1">
            <a:off x="2695090" y="4495591"/>
            <a:ext cx="1720761" cy="19570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1EDBE4AC-33D8-1A40-AE87-1F1E478EA181}"/>
              </a:ext>
            </a:extLst>
          </p:cNvPr>
          <p:cNvCxnSpPr>
            <a:cxnSpLocks/>
          </p:cNvCxnSpPr>
          <p:nvPr/>
        </p:nvCxnSpPr>
        <p:spPr bwMode="auto">
          <a:xfrm flipV="1">
            <a:off x="2677297" y="2947117"/>
            <a:ext cx="1738324" cy="179742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3AF7D782-E2B5-9140-BA1E-B5417129AEBB}"/>
                  </a:ext>
                </a:extLst>
              </p:cNvPr>
              <p:cNvSpPr txBox="1"/>
              <p:nvPr/>
            </p:nvSpPr>
            <p:spPr>
              <a:xfrm>
                <a:off x="3017033" y="3446379"/>
                <a:ext cx="3606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3AF7D782-E2B5-9140-BA1E-B5417129A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033" y="3446379"/>
                <a:ext cx="360675" cy="430887"/>
              </a:xfrm>
              <a:prstGeom prst="rect">
                <a:avLst/>
              </a:prstGeom>
              <a:blipFill>
                <a:blip r:embed="rId11"/>
                <a:stretch>
                  <a:fillRect l="-17241" r="-20690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71B60C2D-4A90-5B48-A7FB-6B2EBA55A315}"/>
                  </a:ext>
                </a:extLst>
              </p:cNvPr>
              <p:cNvSpPr txBox="1"/>
              <p:nvPr/>
            </p:nvSpPr>
            <p:spPr>
              <a:xfrm>
                <a:off x="3018114" y="4990718"/>
                <a:ext cx="3606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71B60C2D-4A90-5B48-A7FB-6B2EBA55A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114" y="4990718"/>
                <a:ext cx="360675" cy="430887"/>
              </a:xfrm>
              <a:prstGeom prst="rect">
                <a:avLst/>
              </a:prstGeom>
              <a:blipFill>
                <a:blip r:embed="rId12"/>
                <a:stretch>
                  <a:fillRect l="-17241" r="-20690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315A7B3D-E8D0-C544-BFCA-2F5D8EEB63A5}"/>
              </a:ext>
            </a:extLst>
          </p:cNvPr>
          <p:cNvSpPr txBox="1"/>
          <p:nvPr/>
        </p:nvSpPr>
        <p:spPr>
          <a:xfrm>
            <a:off x="2080436" y="4216916"/>
            <a:ext cx="314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.</a:t>
            </a:r>
            <a:endParaRPr kumimoji="1" lang="zh-CN" altLang="en-US" dirty="0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E1E6323C-31FF-EE46-AD3B-43A95E5587E7}"/>
              </a:ext>
            </a:extLst>
          </p:cNvPr>
          <p:cNvSpPr txBox="1"/>
          <p:nvPr/>
        </p:nvSpPr>
        <p:spPr>
          <a:xfrm>
            <a:off x="2072797" y="4345517"/>
            <a:ext cx="314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.</a:t>
            </a:r>
            <a:endParaRPr kumimoji="1" lang="zh-CN" altLang="en-US" dirty="0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6974B161-65D1-2D41-AF2E-9945EA15F181}"/>
              </a:ext>
            </a:extLst>
          </p:cNvPr>
          <p:cNvSpPr txBox="1"/>
          <p:nvPr/>
        </p:nvSpPr>
        <p:spPr>
          <a:xfrm>
            <a:off x="2072731" y="4478530"/>
            <a:ext cx="314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.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F80FF77-ADC9-F442-95B5-0B19B832AE30}"/>
                  </a:ext>
                </a:extLst>
              </p:cNvPr>
              <p:cNvSpPr txBox="1"/>
              <p:nvPr/>
            </p:nvSpPr>
            <p:spPr>
              <a:xfrm>
                <a:off x="1942820" y="1706868"/>
                <a:ext cx="427873" cy="3341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F80FF77-ADC9-F442-95B5-0B19B832A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2820" y="1706868"/>
                <a:ext cx="427873" cy="334194"/>
              </a:xfrm>
              <a:prstGeom prst="rect">
                <a:avLst/>
              </a:prstGeom>
              <a:blipFill>
                <a:blip r:embed="rId13"/>
                <a:stretch>
                  <a:fillRect l="-8824"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3289D298-6E45-F340-86D7-129577C71844}"/>
                  </a:ext>
                </a:extLst>
              </p:cNvPr>
              <p:cNvSpPr txBox="1"/>
              <p:nvPr/>
            </p:nvSpPr>
            <p:spPr>
              <a:xfrm>
                <a:off x="1980299" y="3664186"/>
                <a:ext cx="427873" cy="3341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3289D298-6E45-F340-86D7-129577C71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299" y="3664186"/>
                <a:ext cx="427873" cy="334194"/>
              </a:xfrm>
              <a:prstGeom prst="rect">
                <a:avLst/>
              </a:prstGeom>
              <a:blipFill>
                <a:blip r:embed="rId14"/>
                <a:stretch>
                  <a:fillRect l="-8824"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DCFD8733-E08C-134A-A70E-DF61A67AB23F}"/>
                  </a:ext>
                </a:extLst>
              </p:cNvPr>
              <p:cNvSpPr txBox="1"/>
              <p:nvPr/>
            </p:nvSpPr>
            <p:spPr>
              <a:xfrm>
                <a:off x="1941129" y="5542872"/>
                <a:ext cx="439095" cy="336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DCFD8733-E08C-134A-A70E-DF61A67AB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129" y="5542872"/>
                <a:ext cx="439095" cy="336182"/>
              </a:xfrm>
              <a:prstGeom prst="rect">
                <a:avLst/>
              </a:prstGeom>
              <a:blipFill>
                <a:blip r:embed="rId15"/>
                <a:stretch>
                  <a:fillRect l="-5556"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内容占位符 3">
                <a:extLst>
                  <a:ext uri="{FF2B5EF4-FFF2-40B4-BE49-F238E27FC236}">
                    <a16:creationId xmlns:a16="http://schemas.microsoft.com/office/drawing/2014/main" id="{1CE34D75-708F-F043-9455-9FA840C7F8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6459" y="5527743"/>
                <a:ext cx="4193893" cy="465963"/>
              </a:xfrm>
              <a:solidFill>
                <a:schemeClr val="bg1"/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000" b="0" dirty="0">
                    <a:ea typeface="STKaiti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STKaiti" panose="02010600040101010101" pitchFamily="2" charset="-122"/>
                      </a:rPr>
                      <m:t>𝐡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STKaiti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𝐶</m:t>
                        </m:r>
                      </m:den>
                    </m:f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STKaiti" panose="02010600040101010101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b="1" i="0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0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𝐱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b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+…+</m:t>
                    </m:r>
                  </m:oMath>
                </a14:m>
                <a:r>
                  <a:rPr lang="en-US" altLang="zh-CN" sz="20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b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b="0" dirty="0">
                  <a:ea typeface="STKaiti" panose="02010600040101010101" pitchFamily="2" charset="-122"/>
                </a:endParaRPr>
              </a:p>
              <a:p>
                <a:pPr marL="0" indent="0">
                  <a:buNone/>
                </a:pPr>
                <a:endParaRPr lang="en-US" altLang="zh-CN" sz="2000" b="0" dirty="0">
                  <a:ea typeface="STKaiti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58" name="内容占位符 3">
                <a:extLst>
                  <a:ext uri="{FF2B5EF4-FFF2-40B4-BE49-F238E27FC236}">
                    <a16:creationId xmlns:a16="http://schemas.microsoft.com/office/drawing/2014/main" id="{1CE34D75-708F-F043-9455-9FA840C7F8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6459" y="5527743"/>
                <a:ext cx="4193893" cy="465963"/>
              </a:xfrm>
              <a:blipFill>
                <a:blip r:embed="rId16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内容占位符 3">
                <a:extLst>
                  <a:ext uri="{FF2B5EF4-FFF2-40B4-BE49-F238E27FC236}">
                    <a16:creationId xmlns:a16="http://schemas.microsoft.com/office/drawing/2014/main" id="{3EC16DC6-A296-D446-9E37-FE75437155E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562173" y="6062827"/>
                <a:ext cx="4193893" cy="4659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28" tIns="45714" rIns="91428" bIns="45714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3D72"/>
                  </a:buClr>
                  <a:buSzPct val="120000"/>
                  <a:buFont typeface="System Font Regular"/>
                  <a:buChar char="▸"/>
                  <a:defRPr kumimoji="1" sz="2600" b="1">
                    <a:solidFill>
                      <a:schemeClr val="tx1"/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Gill Sans"/>
                  </a:defRPr>
                </a:lvl1pPr>
                <a:lvl2pPr marL="742950" indent="-28575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3D72"/>
                  </a:buClr>
                  <a:buFont typeface="System Font Regular"/>
                  <a:buChar char="▸"/>
                  <a:defRPr kumimoji="1" sz="2400">
                    <a:solidFill>
                      <a:schemeClr val="tx1"/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Gill Sans"/>
                  </a:defRPr>
                </a:lvl2pPr>
                <a:lvl3pPr marL="1143000" indent="-230188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3D72"/>
                  </a:buClr>
                  <a:buFont typeface="System Font Regular"/>
                  <a:buChar char="▸"/>
                  <a:defRPr kumimoji="1" sz="2000">
                    <a:solidFill>
                      <a:schemeClr val="tx1"/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Gill Sans"/>
                  </a:defRPr>
                </a:lvl3pPr>
                <a:lvl4pPr marL="1600200" indent="-22860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3D72"/>
                  </a:buClr>
                  <a:buFont typeface="System Font Regular"/>
                  <a:buChar char="▸"/>
                  <a:defRPr kumimoji="1">
                    <a:solidFill>
                      <a:schemeClr val="tx1"/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Gill Sans"/>
                  </a:defRPr>
                </a:lvl4pPr>
                <a:lvl5pPr marL="2057400" indent="-22860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>
                    <a:solidFill>
                      <a:srgbClr val="333399"/>
                    </a:solidFill>
                    <a:latin typeface="STKaiti" panose="02010600040101010101" pitchFamily="2" charset="-122"/>
                    <a:ea typeface="STKaiti" panose="02010600040101010101" pitchFamily="2" charset="-122"/>
                  </a:defRPr>
                </a:lvl5pPr>
                <a:lvl6pPr marL="2514600" indent="-22860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>
                    <a:solidFill>
                      <a:srgbClr val="333399"/>
                    </a:solidFill>
                    <a:latin typeface="+mn-lt"/>
                    <a:ea typeface="+mn-ea"/>
                  </a:defRPr>
                </a:lvl6pPr>
                <a:lvl7pPr marL="2971800" indent="-22860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>
                    <a:solidFill>
                      <a:srgbClr val="333399"/>
                    </a:solidFill>
                    <a:latin typeface="+mn-lt"/>
                    <a:ea typeface="+mn-ea"/>
                  </a:defRPr>
                </a:lvl7pPr>
                <a:lvl8pPr marL="3429000" indent="-22860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>
                    <a:solidFill>
                      <a:srgbClr val="333399"/>
                    </a:solidFill>
                    <a:latin typeface="+mn-lt"/>
                    <a:ea typeface="+mn-ea"/>
                  </a:defRPr>
                </a:lvl8pPr>
                <a:lvl9pPr marL="3886200" indent="-22860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>
                    <a:solidFill>
                      <a:srgbClr val="333399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 typeface="System Font Regular"/>
                  <a:buNone/>
                </a:pPr>
                <a:r>
                  <a:rPr lang="zh-CN" altLang="en-US" sz="2000" b="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kern="0" smtClean="0">
                        <a:latin typeface="Cambria Math" panose="02040503050406030204" pitchFamily="18" charset="0"/>
                      </a:rPr>
                      <m:t>𝐡</m:t>
                    </m:r>
                    <m:r>
                      <a:rPr lang="en-US" altLang="zh-CN" sz="2000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kern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0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kern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b="0" kern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altLang="zh-CN" sz="2000" b="0" i="1" kern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1" i="0" kern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</m:oMath>
                </a14:m>
                <a:endParaRPr lang="en-US" altLang="zh-CN" sz="2000" b="0" kern="0" dirty="0"/>
              </a:p>
            </p:txBody>
          </p:sp>
        </mc:Choice>
        <mc:Fallback xmlns="">
          <p:sp>
            <p:nvSpPr>
              <p:cNvPr id="159" name="内容占位符 3">
                <a:extLst>
                  <a:ext uri="{FF2B5EF4-FFF2-40B4-BE49-F238E27FC236}">
                    <a16:creationId xmlns:a16="http://schemas.microsoft.com/office/drawing/2014/main" id="{3EC16DC6-A296-D446-9E37-FE7543715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2173" y="6062827"/>
                <a:ext cx="4193893" cy="465963"/>
              </a:xfrm>
              <a:prstGeom prst="rect">
                <a:avLst/>
              </a:prstGeom>
              <a:blipFill>
                <a:blip r:embed="rId17"/>
                <a:stretch>
                  <a:fillRect b="-2632"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文本框 159">
            <a:extLst>
              <a:ext uri="{FF2B5EF4-FFF2-40B4-BE49-F238E27FC236}">
                <a16:creationId xmlns:a16="http://schemas.microsoft.com/office/drawing/2014/main" id="{BB5230F9-0E2D-5943-A4C5-F58E3A7BFE19}"/>
              </a:ext>
            </a:extLst>
          </p:cNvPr>
          <p:cNvSpPr txBox="1"/>
          <p:nvPr/>
        </p:nvSpPr>
        <p:spPr>
          <a:xfrm>
            <a:off x="1182289" y="363089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一只</a:t>
            </a: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24AF59CB-10BD-1244-9193-A5ADAC39BC7D}"/>
              </a:ext>
            </a:extLst>
          </p:cNvPr>
          <p:cNvSpPr txBox="1"/>
          <p:nvPr/>
        </p:nvSpPr>
        <p:spPr>
          <a:xfrm>
            <a:off x="1186504" y="164095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看见</a:t>
            </a:r>
            <a:endParaRPr kumimoji="1" lang="zh-CN" altLang="en-US" sz="2000" b="1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27A85529-4670-E049-9BC7-22C91B13DA3D}"/>
              </a:ext>
            </a:extLst>
          </p:cNvPr>
          <p:cNvSpPr txBox="1"/>
          <p:nvPr/>
        </p:nvSpPr>
        <p:spPr>
          <a:xfrm>
            <a:off x="1178391" y="551723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跑进</a:t>
            </a: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9F9ED683-210E-BF4B-BFFB-C21B73636862}"/>
              </a:ext>
            </a:extLst>
          </p:cNvPr>
          <p:cNvSpPr txBox="1"/>
          <p:nvPr/>
        </p:nvSpPr>
        <p:spPr>
          <a:xfrm>
            <a:off x="7000552" y="351754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小猫</a:t>
            </a:r>
            <a:endParaRPr kumimoji="1" lang="zh-CN" altLang="en-US" sz="2000" b="1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114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CBOW</a:t>
            </a:r>
            <a:r>
              <a:rPr lang="zh-CN" altLang="en-US" dirty="0"/>
              <a:t>模型：考虑更多的上下文</a:t>
            </a:r>
            <a:endParaRPr kumimoji="1" lang="zh-CN" altLang="en-US" dirty="0"/>
          </a:p>
        </p:txBody>
      </p:sp>
      <p:sp>
        <p:nvSpPr>
          <p:cNvPr id="45" name="梯形 44">
            <a:extLst>
              <a:ext uri="{FF2B5EF4-FFF2-40B4-BE49-F238E27FC236}">
                <a16:creationId xmlns:a16="http://schemas.microsoft.com/office/drawing/2014/main" id="{B5505625-CA44-2646-BFBD-D656BC52EA8B}"/>
              </a:ext>
            </a:extLst>
          </p:cNvPr>
          <p:cNvSpPr/>
          <p:nvPr/>
        </p:nvSpPr>
        <p:spPr bwMode="auto">
          <a:xfrm rot="16200000">
            <a:off x="2702712" y="2911827"/>
            <a:ext cx="2338998" cy="1656184"/>
          </a:xfrm>
          <a:prstGeom prst="trapezoid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2AEC97DD-A83F-C441-BCCF-21CDF72705AA}"/>
              </a:ext>
            </a:extLst>
          </p:cNvPr>
          <p:cNvGrpSpPr/>
          <p:nvPr/>
        </p:nvGrpSpPr>
        <p:grpSpPr>
          <a:xfrm>
            <a:off x="4694255" y="2560126"/>
            <a:ext cx="312666" cy="2360468"/>
            <a:chOff x="2627784" y="908720"/>
            <a:chExt cx="312666" cy="2360468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F61A3483-5912-F047-9EF1-F6220FBF9D7F}"/>
                </a:ext>
              </a:extLst>
            </p:cNvPr>
            <p:cNvSpPr/>
            <p:nvPr/>
          </p:nvSpPr>
          <p:spPr bwMode="auto">
            <a:xfrm>
              <a:off x="2627784" y="908720"/>
              <a:ext cx="288032" cy="23604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3319BE84-DE1C-AD42-B2BB-91CF9395A294}"/>
                </a:ext>
              </a:extLst>
            </p:cNvPr>
            <p:cNvSpPr/>
            <p:nvPr/>
          </p:nvSpPr>
          <p:spPr bwMode="auto">
            <a:xfrm>
              <a:off x="2663787" y="9807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EFBA9F02-9553-D842-8A13-FB2542A857DA}"/>
                </a:ext>
              </a:extLst>
            </p:cNvPr>
            <p:cNvSpPr/>
            <p:nvPr/>
          </p:nvSpPr>
          <p:spPr bwMode="auto">
            <a:xfrm>
              <a:off x="2673404" y="12855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C320ECB6-F9FB-E144-BA1E-CE186B1323F9}"/>
                </a:ext>
              </a:extLst>
            </p:cNvPr>
            <p:cNvSpPr/>
            <p:nvPr/>
          </p:nvSpPr>
          <p:spPr bwMode="auto">
            <a:xfrm>
              <a:off x="2673403" y="1988840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E8F8DF71-CFC9-0046-AE91-C5BFEC740A42}"/>
                </a:ext>
              </a:extLst>
            </p:cNvPr>
            <p:cNvSpPr/>
            <p:nvPr/>
          </p:nvSpPr>
          <p:spPr bwMode="auto">
            <a:xfrm>
              <a:off x="2663787" y="2708920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18EB4C87-BE30-1345-BCE0-220E4939DEE8}"/>
                </a:ext>
              </a:extLst>
            </p:cNvPr>
            <p:cNvSpPr/>
            <p:nvPr/>
          </p:nvSpPr>
          <p:spPr bwMode="auto">
            <a:xfrm>
              <a:off x="2663786" y="2982606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50E1AE9C-BB24-804F-8038-DFD37C704F34}"/>
                </a:ext>
              </a:extLst>
            </p:cNvPr>
            <p:cNvGrpSpPr/>
            <p:nvPr/>
          </p:nvGrpSpPr>
          <p:grpSpPr>
            <a:xfrm>
              <a:off x="2652418" y="1327135"/>
              <a:ext cx="288032" cy="672173"/>
              <a:chOff x="1691680" y="3573016"/>
              <a:chExt cx="288032" cy="672173"/>
            </a:xfrm>
          </p:grpSpPr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68D9A63-457F-074A-AA50-14FD36B16086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FAA7D1C8-36FE-2F42-8E30-18BF29774D5C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B328238A-08BC-6945-9359-1283E3309482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C029C03C-FB89-9D4C-9A93-386977890858}"/>
                </a:ext>
              </a:extLst>
            </p:cNvPr>
            <p:cNvGrpSpPr/>
            <p:nvPr/>
          </p:nvGrpSpPr>
          <p:grpSpPr>
            <a:xfrm>
              <a:off x="2652234" y="2043846"/>
              <a:ext cx="288212" cy="664188"/>
              <a:chOff x="1691680" y="3581001"/>
              <a:chExt cx="288212" cy="664188"/>
            </a:xfrm>
          </p:grpSpPr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A6BAA61F-A004-D847-A838-37296487319D}"/>
                  </a:ext>
                </a:extLst>
              </p:cNvPr>
              <p:cNvSpPr txBox="1"/>
              <p:nvPr/>
            </p:nvSpPr>
            <p:spPr>
              <a:xfrm>
                <a:off x="1691860" y="3581001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839F2A8B-3FEC-EE4D-97C3-73B0E0F461E6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CD6CE221-0D7A-3044-A1AA-86ADD001E589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/>
              <p:nvPr/>
            </p:nvSpPr>
            <p:spPr>
              <a:xfrm>
                <a:off x="1480231" y="2026756"/>
                <a:ext cx="3606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231" y="2026756"/>
                <a:ext cx="360675" cy="430887"/>
              </a:xfrm>
              <a:prstGeom prst="rect">
                <a:avLst/>
              </a:prstGeom>
              <a:blipFill>
                <a:blip r:embed="rId3"/>
                <a:stretch>
                  <a:fillRect l="-17241" r="-20690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/>
              <p:nvPr/>
            </p:nvSpPr>
            <p:spPr>
              <a:xfrm>
                <a:off x="3758880" y="3542427"/>
                <a:ext cx="33182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𝐕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880" y="3542427"/>
                <a:ext cx="331822" cy="430887"/>
              </a:xfrm>
              <a:prstGeom prst="rect">
                <a:avLst/>
              </a:prstGeom>
              <a:blipFill>
                <a:blip r:embed="rId4"/>
                <a:stretch>
                  <a:fillRect l="-22222" r="-18519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组合 79">
            <a:extLst>
              <a:ext uri="{FF2B5EF4-FFF2-40B4-BE49-F238E27FC236}">
                <a16:creationId xmlns:a16="http://schemas.microsoft.com/office/drawing/2014/main" id="{CE76F8E7-A84A-D846-B290-1C715151CBAE}"/>
              </a:ext>
            </a:extLst>
          </p:cNvPr>
          <p:cNvGrpSpPr/>
          <p:nvPr/>
        </p:nvGrpSpPr>
        <p:grpSpPr>
          <a:xfrm>
            <a:off x="4993840" y="2524406"/>
            <a:ext cx="547779" cy="2385012"/>
            <a:chOff x="2203064" y="838069"/>
            <a:chExt cx="547779" cy="2385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/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/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/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blipFill>
                  <a:blip r:embed="rId7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/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blipFill>
                  <a:blip r:embed="rId8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/>
              <p:nvPr/>
            </p:nvSpPr>
            <p:spPr>
              <a:xfrm>
                <a:off x="4703313" y="4859868"/>
                <a:ext cx="2516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3313" y="4859868"/>
                <a:ext cx="251671" cy="369332"/>
              </a:xfrm>
              <a:prstGeom prst="rect">
                <a:avLst/>
              </a:prstGeom>
              <a:blipFill>
                <a:blip r:embed="rId9"/>
                <a:stretch>
                  <a:fillRect l="-28571" r="-2381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矩形 87">
            <a:extLst>
              <a:ext uri="{FF2B5EF4-FFF2-40B4-BE49-F238E27FC236}">
                <a16:creationId xmlns:a16="http://schemas.microsoft.com/office/drawing/2014/main" id="{6C655758-87F2-8F45-AA34-421DB44C0A10}"/>
              </a:ext>
            </a:extLst>
          </p:cNvPr>
          <p:cNvSpPr/>
          <p:nvPr/>
        </p:nvSpPr>
        <p:spPr bwMode="auto">
          <a:xfrm>
            <a:off x="2887969" y="2947117"/>
            <a:ext cx="266984" cy="15723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CE355B3A-F31D-B845-A966-F47DC95CCD87}"/>
              </a:ext>
            </a:extLst>
          </p:cNvPr>
          <p:cNvSpPr/>
          <p:nvPr/>
        </p:nvSpPr>
        <p:spPr bwMode="auto">
          <a:xfrm>
            <a:off x="2913600" y="2978541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9C52EFF6-9A55-8247-9815-B27AE5797145}"/>
              </a:ext>
            </a:extLst>
          </p:cNvPr>
          <p:cNvSpPr/>
          <p:nvPr/>
        </p:nvSpPr>
        <p:spPr bwMode="auto">
          <a:xfrm>
            <a:off x="2923976" y="3270639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73A66444-F698-EF4F-BA2A-58FB21F05B3D}"/>
              </a:ext>
            </a:extLst>
          </p:cNvPr>
          <p:cNvSpPr/>
          <p:nvPr/>
        </p:nvSpPr>
        <p:spPr bwMode="auto">
          <a:xfrm>
            <a:off x="2911341" y="3952393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D9B2F4FE-0772-9E45-A720-2B6295A42E97}"/>
              </a:ext>
            </a:extLst>
          </p:cNvPr>
          <p:cNvSpPr/>
          <p:nvPr/>
        </p:nvSpPr>
        <p:spPr bwMode="auto">
          <a:xfrm>
            <a:off x="2912419" y="4251428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615DAEA-3E7B-1A4E-9B9C-3DA9F20055C1}"/>
              </a:ext>
            </a:extLst>
          </p:cNvPr>
          <p:cNvSpPr txBox="1"/>
          <p:nvPr/>
        </p:nvSpPr>
        <p:spPr>
          <a:xfrm>
            <a:off x="2894514" y="337653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2F91BC9-3237-E046-97AC-90D7F17020B5}"/>
              </a:ext>
            </a:extLst>
          </p:cNvPr>
          <p:cNvSpPr txBox="1"/>
          <p:nvPr/>
        </p:nvSpPr>
        <p:spPr>
          <a:xfrm>
            <a:off x="2894284" y="354790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/>
              <p:nvPr/>
            </p:nvSpPr>
            <p:spPr>
              <a:xfrm>
                <a:off x="2802966" y="4529053"/>
                <a:ext cx="4571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𝐡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966" y="4529053"/>
                <a:ext cx="457176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文本框 98">
            <a:extLst>
              <a:ext uri="{FF2B5EF4-FFF2-40B4-BE49-F238E27FC236}">
                <a16:creationId xmlns:a16="http://schemas.microsoft.com/office/drawing/2014/main" id="{B7689C5C-B47E-E542-A51F-7B4F00B4F0A6}"/>
              </a:ext>
            </a:extLst>
          </p:cNvPr>
          <p:cNvSpPr txBox="1"/>
          <p:nvPr/>
        </p:nvSpPr>
        <p:spPr>
          <a:xfrm>
            <a:off x="1283491" y="73608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输入层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B19AC18-1237-D44B-83EF-E15800AED32D}"/>
              </a:ext>
            </a:extLst>
          </p:cNvPr>
          <p:cNvSpPr txBox="1"/>
          <p:nvPr/>
        </p:nvSpPr>
        <p:spPr>
          <a:xfrm>
            <a:off x="4347602" y="198408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输出层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C7C7B9A3-C7D4-6641-BD4F-7F317EE46D78}"/>
              </a:ext>
            </a:extLst>
          </p:cNvPr>
          <p:cNvSpPr txBox="1"/>
          <p:nvPr/>
        </p:nvSpPr>
        <p:spPr>
          <a:xfrm>
            <a:off x="2684078" y="198834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隐</a:t>
            </a:r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层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119788A-6C2F-FD48-A978-A9535EF4E921}"/>
              </a:ext>
            </a:extLst>
          </p:cNvPr>
          <p:cNvGrpSpPr/>
          <p:nvPr/>
        </p:nvGrpSpPr>
        <p:grpSpPr>
          <a:xfrm>
            <a:off x="886036" y="908720"/>
            <a:ext cx="312666" cy="1702552"/>
            <a:chOff x="1700262" y="1124744"/>
            <a:chExt cx="312666" cy="1702552"/>
          </a:xfrm>
        </p:grpSpPr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A1F8484F-6D54-8A45-8E26-54A1ADBB23CA}"/>
                </a:ext>
              </a:extLst>
            </p:cNvPr>
            <p:cNvSpPr/>
            <p:nvPr/>
          </p:nvSpPr>
          <p:spPr bwMode="auto">
            <a:xfrm>
              <a:off x="1700262" y="1124744"/>
              <a:ext cx="288032" cy="170255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5B7F21B8-B3D3-9740-8BC9-E303D01EA1D1}"/>
                </a:ext>
              </a:extLst>
            </p:cNvPr>
            <p:cNvSpPr/>
            <p:nvPr/>
          </p:nvSpPr>
          <p:spPr bwMode="auto">
            <a:xfrm>
              <a:off x="1736265" y="1196752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4467A775-7EE2-D245-A7D2-0C03B242F47F}"/>
                </a:ext>
              </a:extLst>
            </p:cNvPr>
            <p:cNvSpPr/>
            <p:nvPr/>
          </p:nvSpPr>
          <p:spPr bwMode="auto">
            <a:xfrm>
              <a:off x="1745882" y="1484784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27F56D3E-EF70-994F-ACB1-C95AE420C3E2}"/>
                </a:ext>
              </a:extLst>
            </p:cNvPr>
            <p:cNvSpPr/>
            <p:nvPr/>
          </p:nvSpPr>
          <p:spPr bwMode="auto">
            <a:xfrm>
              <a:off x="1741107" y="2041062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86A33407-3FB5-BF47-920D-EC3F75D06E3B}"/>
                </a:ext>
              </a:extLst>
            </p:cNvPr>
            <p:cNvSpPr/>
            <p:nvPr/>
          </p:nvSpPr>
          <p:spPr bwMode="auto">
            <a:xfrm>
              <a:off x="1744699" y="2553181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F7F811EF-6743-FD41-8AEF-BBDD2BC815E8}"/>
                </a:ext>
              </a:extLst>
            </p:cNvPr>
            <p:cNvGrpSpPr/>
            <p:nvPr/>
          </p:nvGrpSpPr>
          <p:grpSpPr>
            <a:xfrm>
              <a:off x="1724896" y="1516722"/>
              <a:ext cx="288032" cy="512188"/>
              <a:chOff x="1691680" y="3523381"/>
              <a:chExt cx="288032" cy="512188"/>
            </a:xfrm>
          </p:grpSpPr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176F535B-AED8-424B-AC11-91BC195586CC}"/>
                  </a:ext>
                </a:extLst>
              </p:cNvPr>
              <p:cNvSpPr txBox="1"/>
              <p:nvPr/>
            </p:nvSpPr>
            <p:spPr>
              <a:xfrm>
                <a:off x="1691680" y="363545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A327F3DA-FF98-104D-9CC4-B3B52C123851}"/>
                  </a:ext>
                </a:extLst>
              </p:cNvPr>
              <p:cNvSpPr txBox="1"/>
              <p:nvPr/>
            </p:nvSpPr>
            <p:spPr>
              <a:xfrm>
                <a:off x="1691680" y="3523381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C8EFA8CF-EEDD-EB45-A687-A948988CBE3D}"/>
                </a:ext>
              </a:extLst>
            </p:cNvPr>
            <p:cNvSpPr txBox="1"/>
            <p:nvPr/>
          </p:nvSpPr>
          <p:spPr>
            <a:xfrm>
              <a:off x="1723782" y="2096355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/>
                <a:t>.</a:t>
              </a:r>
              <a:endParaRPr kumimoji="1" lang="zh-CN" altLang="en-US" sz="2000" b="1" dirty="0"/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3568A109-0D0D-054D-A879-B927E5DFD226}"/>
                </a:ext>
              </a:extLst>
            </p:cNvPr>
            <p:cNvSpPr txBox="1"/>
            <p:nvPr/>
          </p:nvSpPr>
          <p:spPr>
            <a:xfrm>
              <a:off x="1723782" y="2197278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/>
                <a:t>.</a:t>
              </a:r>
              <a:endParaRPr kumimoji="1" lang="zh-CN" altLang="en-US" sz="2000" b="1" dirty="0"/>
            </a:p>
          </p:txBody>
        </p:sp>
      </p:grpSp>
      <p:sp>
        <p:nvSpPr>
          <p:cNvPr id="117" name="文本框 116">
            <a:extLst>
              <a:ext uri="{FF2B5EF4-FFF2-40B4-BE49-F238E27FC236}">
                <a16:creationId xmlns:a16="http://schemas.microsoft.com/office/drawing/2014/main" id="{02F0A75C-E2FD-8A45-B46E-C28C0CEDDA9D}"/>
              </a:ext>
            </a:extLst>
          </p:cNvPr>
          <p:cNvSpPr txBox="1"/>
          <p:nvPr/>
        </p:nvSpPr>
        <p:spPr>
          <a:xfrm>
            <a:off x="-782959" y="2496465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CN" altLang="en-US" sz="2000" b="1" dirty="0"/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CF13F23A-FE0D-B243-A6EC-F201FFF3A08D}"/>
              </a:ext>
            </a:extLst>
          </p:cNvPr>
          <p:cNvCxnSpPr>
            <a:cxnSpLocks/>
          </p:cNvCxnSpPr>
          <p:nvPr/>
        </p:nvCxnSpPr>
        <p:spPr bwMode="auto">
          <a:xfrm>
            <a:off x="1162273" y="918485"/>
            <a:ext cx="1713056" cy="20198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2" name="直线连接符 121">
            <a:extLst>
              <a:ext uri="{FF2B5EF4-FFF2-40B4-BE49-F238E27FC236}">
                <a16:creationId xmlns:a16="http://schemas.microsoft.com/office/drawing/2014/main" id="{3522A861-55D0-3F42-BE7B-185F888E755B}"/>
              </a:ext>
            </a:extLst>
          </p:cNvPr>
          <p:cNvCxnSpPr>
            <a:cxnSpLocks/>
          </p:cNvCxnSpPr>
          <p:nvPr/>
        </p:nvCxnSpPr>
        <p:spPr bwMode="auto">
          <a:xfrm>
            <a:off x="1171329" y="2606760"/>
            <a:ext cx="1703399" cy="189807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2B205559-F4D2-B34F-B91F-F36B2FFFB490}"/>
              </a:ext>
            </a:extLst>
          </p:cNvPr>
          <p:cNvGrpSpPr/>
          <p:nvPr/>
        </p:nvGrpSpPr>
        <p:grpSpPr>
          <a:xfrm>
            <a:off x="880290" y="2852936"/>
            <a:ext cx="312666" cy="1702552"/>
            <a:chOff x="1700262" y="1124744"/>
            <a:chExt cx="312666" cy="1702552"/>
          </a:xfrm>
        </p:grpSpPr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4C419869-C6E2-CA45-98E5-25049D63592A}"/>
                </a:ext>
              </a:extLst>
            </p:cNvPr>
            <p:cNvSpPr/>
            <p:nvPr/>
          </p:nvSpPr>
          <p:spPr bwMode="auto">
            <a:xfrm>
              <a:off x="1700262" y="1124744"/>
              <a:ext cx="288032" cy="170255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D3AADC20-72AF-5344-BC81-23356DB87BB3}"/>
                </a:ext>
              </a:extLst>
            </p:cNvPr>
            <p:cNvSpPr/>
            <p:nvPr/>
          </p:nvSpPr>
          <p:spPr bwMode="auto">
            <a:xfrm>
              <a:off x="1736265" y="1196752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CFE59EB5-8A28-B14F-A14B-E92326EFE0F9}"/>
                </a:ext>
              </a:extLst>
            </p:cNvPr>
            <p:cNvSpPr/>
            <p:nvPr/>
          </p:nvSpPr>
          <p:spPr bwMode="auto">
            <a:xfrm>
              <a:off x="1745882" y="1484784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D1D9EF37-FD00-274C-BEA5-003809434C56}"/>
                </a:ext>
              </a:extLst>
            </p:cNvPr>
            <p:cNvSpPr/>
            <p:nvPr/>
          </p:nvSpPr>
          <p:spPr bwMode="auto">
            <a:xfrm>
              <a:off x="1741107" y="2041062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6CE692DC-D0BF-4046-ABD1-F490B223F79C}"/>
                </a:ext>
              </a:extLst>
            </p:cNvPr>
            <p:cNvSpPr/>
            <p:nvPr/>
          </p:nvSpPr>
          <p:spPr bwMode="auto">
            <a:xfrm>
              <a:off x="1744699" y="2553181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1D8ED716-B8F8-7F48-8F12-13A2CAFFCDF4}"/>
                </a:ext>
              </a:extLst>
            </p:cNvPr>
            <p:cNvGrpSpPr/>
            <p:nvPr/>
          </p:nvGrpSpPr>
          <p:grpSpPr>
            <a:xfrm>
              <a:off x="1724896" y="1516722"/>
              <a:ext cx="288032" cy="512188"/>
              <a:chOff x="1691680" y="3523381"/>
              <a:chExt cx="288032" cy="512188"/>
            </a:xfrm>
          </p:grpSpPr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BA04A257-FEB0-0344-A169-A15B7CA69214}"/>
                  </a:ext>
                </a:extLst>
              </p:cNvPr>
              <p:cNvSpPr txBox="1"/>
              <p:nvPr/>
            </p:nvSpPr>
            <p:spPr>
              <a:xfrm>
                <a:off x="1691680" y="363545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E9E935DC-1935-B74D-8BD2-81B354D0AEFE}"/>
                  </a:ext>
                </a:extLst>
              </p:cNvPr>
              <p:cNvSpPr txBox="1"/>
              <p:nvPr/>
            </p:nvSpPr>
            <p:spPr>
              <a:xfrm>
                <a:off x="1691680" y="3523381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40487E6F-3ED6-764D-9FB4-A70CE575B98D}"/>
                </a:ext>
              </a:extLst>
            </p:cNvPr>
            <p:cNvSpPr txBox="1"/>
            <p:nvPr/>
          </p:nvSpPr>
          <p:spPr>
            <a:xfrm>
              <a:off x="1723782" y="2096355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/>
                <a:t>.</a:t>
              </a:r>
              <a:endParaRPr kumimoji="1" lang="zh-CN" altLang="en-US" sz="2000" b="1" dirty="0"/>
            </a:p>
          </p:txBody>
        </p: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02C2D23D-433F-2D40-8639-C7280EEB8A46}"/>
                </a:ext>
              </a:extLst>
            </p:cNvPr>
            <p:cNvSpPr txBox="1"/>
            <p:nvPr/>
          </p:nvSpPr>
          <p:spPr>
            <a:xfrm>
              <a:off x="1723782" y="2197278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/>
                <a:t>.</a:t>
              </a:r>
              <a:endParaRPr kumimoji="1" lang="zh-CN" altLang="en-US" sz="2000" b="1" dirty="0"/>
            </a:p>
          </p:txBody>
        </p:sp>
      </p:grp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B2B74BB8-0284-C747-B073-E25270D4DB26}"/>
              </a:ext>
            </a:extLst>
          </p:cNvPr>
          <p:cNvGrpSpPr/>
          <p:nvPr/>
        </p:nvGrpSpPr>
        <p:grpSpPr>
          <a:xfrm>
            <a:off x="879176" y="4750784"/>
            <a:ext cx="312666" cy="1702552"/>
            <a:chOff x="1700262" y="1124744"/>
            <a:chExt cx="312666" cy="1702552"/>
          </a:xfrm>
        </p:grpSpPr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FEFAE8CC-10E5-C64F-9068-05115A13BF97}"/>
                </a:ext>
              </a:extLst>
            </p:cNvPr>
            <p:cNvSpPr/>
            <p:nvPr/>
          </p:nvSpPr>
          <p:spPr bwMode="auto">
            <a:xfrm>
              <a:off x="1700262" y="1124744"/>
              <a:ext cx="288032" cy="170255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E11DEC8A-7A0E-394C-9C1D-D025F35ADBAD}"/>
                </a:ext>
              </a:extLst>
            </p:cNvPr>
            <p:cNvSpPr/>
            <p:nvPr/>
          </p:nvSpPr>
          <p:spPr bwMode="auto">
            <a:xfrm>
              <a:off x="1736265" y="1196752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925ED3AF-41FC-FF4D-A576-D4A35D782E77}"/>
                </a:ext>
              </a:extLst>
            </p:cNvPr>
            <p:cNvSpPr/>
            <p:nvPr/>
          </p:nvSpPr>
          <p:spPr bwMode="auto">
            <a:xfrm>
              <a:off x="1745882" y="1484784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15BB36D3-B5BF-8C4B-8C6A-9BE2E22B73A8}"/>
                </a:ext>
              </a:extLst>
            </p:cNvPr>
            <p:cNvSpPr/>
            <p:nvPr/>
          </p:nvSpPr>
          <p:spPr bwMode="auto">
            <a:xfrm>
              <a:off x="1741107" y="2041062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D10DEF53-E41F-9647-B72F-5D13AB7A485E}"/>
                </a:ext>
              </a:extLst>
            </p:cNvPr>
            <p:cNvSpPr/>
            <p:nvPr/>
          </p:nvSpPr>
          <p:spPr bwMode="auto">
            <a:xfrm>
              <a:off x="1744699" y="2553181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C0407753-9165-8744-B937-2076928B266E}"/>
                </a:ext>
              </a:extLst>
            </p:cNvPr>
            <p:cNvGrpSpPr/>
            <p:nvPr/>
          </p:nvGrpSpPr>
          <p:grpSpPr>
            <a:xfrm>
              <a:off x="1724896" y="1516722"/>
              <a:ext cx="288032" cy="512188"/>
              <a:chOff x="1691680" y="3523381"/>
              <a:chExt cx="288032" cy="512188"/>
            </a:xfrm>
          </p:grpSpPr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7A115CE5-D128-AD4B-B145-996DCB589ECD}"/>
                  </a:ext>
                </a:extLst>
              </p:cNvPr>
              <p:cNvSpPr txBox="1"/>
              <p:nvPr/>
            </p:nvSpPr>
            <p:spPr>
              <a:xfrm>
                <a:off x="1691680" y="363545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62F24C89-DF84-2245-8033-4DD126A028DB}"/>
                  </a:ext>
                </a:extLst>
              </p:cNvPr>
              <p:cNvSpPr txBox="1"/>
              <p:nvPr/>
            </p:nvSpPr>
            <p:spPr>
              <a:xfrm>
                <a:off x="1691680" y="3523381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B697D653-D91F-314D-9D2C-885FB2820C7F}"/>
                </a:ext>
              </a:extLst>
            </p:cNvPr>
            <p:cNvSpPr txBox="1"/>
            <p:nvPr/>
          </p:nvSpPr>
          <p:spPr>
            <a:xfrm>
              <a:off x="1723782" y="2096355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/>
                <a:t>.</a:t>
              </a:r>
              <a:endParaRPr kumimoji="1" lang="zh-CN" altLang="en-US" sz="2000" b="1" dirty="0"/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3D8348E2-548B-5D43-A28D-6E3DBA7DFE07}"/>
                </a:ext>
              </a:extLst>
            </p:cNvPr>
            <p:cNvSpPr txBox="1"/>
            <p:nvPr/>
          </p:nvSpPr>
          <p:spPr>
            <a:xfrm>
              <a:off x="1723782" y="2197278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/>
                <a:t>.</a:t>
              </a:r>
              <a:endParaRPr kumimoji="1" lang="zh-CN" altLang="en-US" sz="2000" b="1" dirty="0"/>
            </a:p>
          </p:txBody>
        </p:sp>
      </p:grp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7152E9F8-04D3-4644-9F4B-F09545C1B9D0}"/>
              </a:ext>
            </a:extLst>
          </p:cNvPr>
          <p:cNvCxnSpPr>
            <a:cxnSpLocks/>
          </p:cNvCxnSpPr>
          <p:nvPr/>
        </p:nvCxnSpPr>
        <p:spPr bwMode="auto">
          <a:xfrm>
            <a:off x="1152422" y="2850746"/>
            <a:ext cx="1755146" cy="10702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4370A7D6-8C6C-BB45-B5C9-07CC4731C41B}"/>
              </a:ext>
            </a:extLst>
          </p:cNvPr>
          <p:cNvCxnSpPr>
            <a:cxnSpLocks/>
          </p:cNvCxnSpPr>
          <p:nvPr/>
        </p:nvCxnSpPr>
        <p:spPr bwMode="auto">
          <a:xfrm flipV="1">
            <a:off x="1174068" y="4498125"/>
            <a:ext cx="1720446" cy="573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19729F2B-F027-0C44-A32A-7B4125BCA409}"/>
              </a:ext>
            </a:extLst>
          </p:cNvPr>
          <p:cNvCxnSpPr>
            <a:cxnSpLocks/>
          </p:cNvCxnSpPr>
          <p:nvPr/>
        </p:nvCxnSpPr>
        <p:spPr bwMode="auto">
          <a:xfrm flipV="1">
            <a:off x="1167208" y="4495591"/>
            <a:ext cx="1720761" cy="19570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1EDBE4AC-33D8-1A40-AE87-1F1E478EA181}"/>
              </a:ext>
            </a:extLst>
          </p:cNvPr>
          <p:cNvCxnSpPr>
            <a:cxnSpLocks/>
          </p:cNvCxnSpPr>
          <p:nvPr/>
        </p:nvCxnSpPr>
        <p:spPr bwMode="auto">
          <a:xfrm flipV="1">
            <a:off x="1149415" y="2947117"/>
            <a:ext cx="1738324" cy="179742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3AF7D782-E2B5-9140-BA1E-B5417129AEBB}"/>
                  </a:ext>
                </a:extLst>
              </p:cNvPr>
              <p:cNvSpPr txBox="1"/>
              <p:nvPr/>
            </p:nvSpPr>
            <p:spPr>
              <a:xfrm>
                <a:off x="1489151" y="3446379"/>
                <a:ext cx="3606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3AF7D782-E2B5-9140-BA1E-B5417129A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151" y="3446379"/>
                <a:ext cx="360675" cy="430887"/>
              </a:xfrm>
              <a:prstGeom prst="rect">
                <a:avLst/>
              </a:prstGeom>
              <a:blipFill>
                <a:blip r:embed="rId11"/>
                <a:stretch>
                  <a:fillRect l="-20690" r="-17241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71B60C2D-4A90-5B48-A7FB-6B2EBA55A315}"/>
                  </a:ext>
                </a:extLst>
              </p:cNvPr>
              <p:cNvSpPr txBox="1"/>
              <p:nvPr/>
            </p:nvSpPr>
            <p:spPr>
              <a:xfrm>
                <a:off x="1490232" y="4990718"/>
                <a:ext cx="3606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71B60C2D-4A90-5B48-A7FB-6B2EBA55A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232" y="4990718"/>
                <a:ext cx="360675" cy="430887"/>
              </a:xfrm>
              <a:prstGeom prst="rect">
                <a:avLst/>
              </a:prstGeom>
              <a:blipFill>
                <a:blip r:embed="rId12"/>
                <a:stretch>
                  <a:fillRect l="-17241" r="-17241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315A7B3D-E8D0-C544-BFCA-2F5D8EEB63A5}"/>
              </a:ext>
            </a:extLst>
          </p:cNvPr>
          <p:cNvSpPr txBox="1"/>
          <p:nvPr/>
        </p:nvSpPr>
        <p:spPr>
          <a:xfrm>
            <a:off x="552554" y="4216916"/>
            <a:ext cx="314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.</a:t>
            </a:r>
            <a:endParaRPr kumimoji="1" lang="zh-CN" altLang="en-US" dirty="0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E1E6323C-31FF-EE46-AD3B-43A95E5587E7}"/>
              </a:ext>
            </a:extLst>
          </p:cNvPr>
          <p:cNvSpPr txBox="1"/>
          <p:nvPr/>
        </p:nvSpPr>
        <p:spPr>
          <a:xfrm>
            <a:off x="544915" y="4345517"/>
            <a:ext cx="314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.</a:t>
            </a:r>
            <a:endParaRPr kumimoji="1" lang="zh-CN" altLang="en-US" dirty="0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6974B161-65D1-2D41-AF2E-9945EA15F181}"/>
              </a:ext>
            </a:extLst>
          </p:cNvPr>
          <p:cNvSpPr txBox="1"/>
          <p:nvPr/>
        </p:nvSpPr>
        <p:spPr>
          <a:xfrm>
            <a:off x="544849" y="4478530"/>
            <a:ext cx="314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.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F80FF77-ADC9-F442-95B5-0B19B832AE30}"/>
                  </a:ext>
                </a:extLst>
              </p:cNvPr>
              <p:cNvSpPr txBox="1"/>
              <p:nvPr/>
            </p:nvSpPr>
            <p:spPr>
              <a:xfrm>
                <a:off x="414938" y="1706868"/>
                <a:ext cx="427873" cy="3341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F80FF77-ADC9-F442-95B5-0B19B832A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938" y="1706868"/>
                <a:ext cx="427873" cy="334194"/>
              </a:xfrm>
              <a:prstGeom prst="rect">
                <a:avLst/>
              </a:prstGeom>
              <a:blipFill>
                <a:blip r:embed="rId13"/>
                <a:stretch>
                  <a:fillRect l="-5714"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3289D298-6E45-F340-86D7-129577C71844}"/>
                  </a:ext>
                </a:extLst>
              </p:cNvPr>
              <p:cNvSpPr txBox="1"/>
              <p:nvPr/>
            </p:nvSpPr>
            <p:spPr>
              <a:xfrm>
                <a:off x="452417" y="3664186"/>
                <a:ext cx="427873" cy="3341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3289D298-6E45-F340-86D7-129577C71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17" y="3664186"/>
                <a:ext cx="427873" cy="334194"/>
              </a:xfrm>
              <a:prstGeom prst="rect">
                <a:avLst/>
              </a:prstGeom>
              <a:blipFill>
                <a:blip r:embed="rId14"/>
                <a:stretch>
                  <a:fillRect l="-5714"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DCFD8733-E08C-134A-A70E-DF61A67AB23F}"/>
                  </a:ext>
                </a:extLst>
              </p:cNvPr>
              <p:cNvSpPr txBox="1"/>
              <p:nvPr/>
            </p:nvSpPr>
            <p:spPr>
              <a:xfrm>
                <a:off x="413247" y="5542872"/>
                <a:ext cx="439095" cy="336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DCFD8733-E08C-134A-A70E-DF61A67AB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47" y="5542872"/>
                <a:ext cx="439095" cy="336182"/>
              </a:xfrm>
              <a:prstGeom prst="rect">
                <a:avLst/>
              </a:prstGeom>
              <a:blipFill>
                <a:blip r:embed="rId15"/>
                <a:stretch>
                  <a:fillRect l="-5556"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内容占位符 3">
                <a:extLst>
                  <a:ext uri="{FF2B5EF4-FFF2-40B4-BE49-F238E27FC236}">
                    <a16:creationId xmlns:a16="http://schemas.microsoft.com/office/drawing/2014/main" id="{1CE34D75-708F-F043-9455-9FA840C7F8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18577" y="5527743"/>
                <a:ext cx="4193893" cy="465963"/>
              </a:xfrm>
              <a:solidFill>
                <a:schemeClr val="bg1"/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000" b="0" dirty="0">
                    <a:ea typeface="STKaiti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STKaiti" panose="02010600040101010101" pitchFamily="2" charset="-122"/>
                      </a:rPr>
                      <m:t>𝐡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STKaiti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𝐶</m:t>
                        </m:r>
                      </m:den>
                    </m:f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STKaiti" panose="02010600040101010101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b="1" i="0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0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𝐱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b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+…+</m:t>
                    </m:r>
                  </m:oMath>
                </a14:m>
                <a:r>
                  <a:rPr lang="en-US" altLang="zh-CN" sz="20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b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b="0" dirty="0">
                  <a:ea typeface="STKaiti" panose="02010600040101010101" pitchFamily="2" charset="-122"/>
                </a:endParaRPr>
              </a:p>
              <a:p>
                <a:pPr marL="0" indent="0">
                  <a:buNone/>
                </a:pPr>
                <a:endParaRPr lang="en-US" altLang="zh-CN" sz="2000" b="0" dirty="0">
                  <a:ea typeface="STKaiti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58" name="内容占位符 3">
                <a:extLst>
                  <a:ext uri="{FF2B5EF4-FFF2-40B4-BE49-F238E27FC236}">
                    <a16:creationId xmlns:a16="http://schemas.microsoft.com/office/drawing/2014/main" id="{1CE34D75-708F-F043-9455-9FA840C7F8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18577" y="5527743"/>
                <a:ext cx="4193893" cy="465963"/>
              </a:xfrm>
              <a:blipFill>
                <a:blip r:embed="rId16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内容占位符 3">
                <a:extLst>
                  <a:ext uri="{FF2B5EF4-FFF2-40B4-BE49-F238E27FC236}">
                    <a16:creationId xmlns:a16="http://schemas.microsoft.com/office/drawing/2014/main" id="{3EC16DC6-A296-D446-9E37-FE75437155E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034291" y="6062827"/>
                <a:ext cx="4193893" cy="4659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28" tIns="45714" rIns="91428" bIns="45714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3D72"/>
                  </a:buClr>
                  <a:buSzPct val="120000"/>
                  <a:buFont typeface="System Font Regular"/>
                  <a:buChar char="▸"/>
                  <a:defRPr kumimoji="1" sz="2600" b="1">
                    <a:solidFill>
                      <a:schemeClr val="tx1"/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Gill Sans"/>
                  </a:defRPr>
                </a:lvl1pPr>
                <a:lvl2pPr marL="742950" indent="-28575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3D72"/>
                  </a:buClr>
                  <a:buFont typeface="System Font Regular"/>
                  <a:buChar char="▸"/>
                  <a:defRPr kumimoji="1" sz="2400">
                    <a:solidFill>
                      <a:schemeClr val="tx1"/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Gill Sans"/>
                  </a:defRPr>
                </a:lvl2pPr>
                <a:lvl3pPr marL="1143000" indent="-230188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3D72"/>
                  </a:buClr>
                  <a:buFont typeface="System Font Regular"/>
                  <a:buChar char="▸"/>
                  <a:defRPr kumimoji="1" sz="2000">
                    <a:solidFill>
                      <a:schemeClr val="tx1"/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Gill Sans"/>
                  </a:defRPr>
                </a:lvl3pPr>
                <a:lvl4pPr marL="1600200" indent="-22860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3D72"/>
                  </a:buClr>
                  <a:buFont typeface="System Font Regular"/>
                  <a:buChar char="▸"/>
                  <a:defRPr kumimoji="1">
                    <a:solidFill>
                      <a:schemeClr val="tx1"/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Gill Sans"/>
                  </a:defRPr>
                </a:lvl4pPr>
                <a:lvl5pPr marL="2057400" indent="-22860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>
                    <a:solidFill>
                      <a:srgbClr val="333399"/>
                    </a:solidFill>
                    <a:latin typeface="STKaiti" panose="02010600040101010101" pitchFamily="2" charset="-122"/>
                    <a:ea typeface="STKaiti" panose="02010600040101010101" pitchFamily="2" charset="-122"/>
                  </a:defRPr>
                </a:lvl5pPr>
                <a:lvl6pPr marL="2514600" indent="-22860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>
                    <a:solidFill>
                      <a:srgbClr val="333399"/>
                    </a:solidFill>
                    <a:latin typeface="+mn-lt"/>
                    <a:ea typeface="+mn-ea"/>
                  </a:defRPr>
                </a:lvl6pPr>
                <a:lvl7pPr marL="2971800" indent="-22860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>
                    <a:solidFill>
                      <a:srgbClr val="333399"/>
                    </a:solidFill>
                    <a:latin typeface="+mn-lt"/>
                    <a:ea typeface="+mn-ea"/>
                  </a:defRPr>
                </a:lvl7pPr>
                <a:lvl8pPr marL="3429000" indent="-22860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>
                    <a:solidFill>
                      <a:srgbClr val="333399"/>
                    </a:solidFill>
                    <a:latin typeface="+mn-lt"/>
                    <a:ea typeface="+mn-ea"/>
                  </a:defRPr>
                </a:lvl8pPr>
                <a:lvl9pPr marL="3886200" indent="-22860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>
                    <a:solidFill>
                      <a:srgbClr val="333399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 typeface="System Font Regular"/>
                  <a:buNone/>
                </a:pPr>
                <a:r>
                  <a:rPr lang="zh-CN" altLang="en-US" sz="2000" b="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kern="0" smtClean="0">
                        <a:latin typeface="Cambria Math" panose="02040503050406030204" pitchFamily="18" charset="0"/>
                      </a:rPr>
                      <m:t>𝐡</m:t>
                    </m:r>
                    <m:r>
                      <a:rPr lang="en-US" altLang="zh-CN" sz="2000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kern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0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kern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b="0" kern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altLang="zh-CN" sz="2000" b="0" i="1" kern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1" i="0" kern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</m:oMath>
                </a14:m>
                <a:endParaRPr lang="en-US" altLang="zh-CN" sz="2000" b="0" kern="0" dirty="0"/>
              </a:p>
            </p:txBody>
          </p:sp>
        </mc:Choice>
        <mc:Fallback xmlns="">
          <p:sp>
            <p:nvSpPr>
              <p:cNvPr id="159" name="内容占位符 3">
                <a:extLst>
                  <a:ext uri="{FF2B5EF4-FFF2-40B4-BE49-F238E27FC236}">
                    <a16:creationId xmlns:a16="http://schemas.microsoft.com/office/drawing/2014/main" id="{3EC16DC6-A296-D446-9E37-FE7543715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4291" y="6062827"/>
                <a:ext cx="4193893" cy="465963"/>
              </a:xfrm>
              <a:prstGeom prst="rect">
                <a:avLst/>
              </a:prstGeom>
              <a:blipFill>
                <a:blip r:embed="rId17"/>
                <a:stretch>
                  <a:fillRect b="-2632"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6951B59E-3FC6-954B-AD46-D3DDF4B28F10}"/>
                  </a:ext>
                </a:extLst>
              </p:cNvPr>
              <p:cNvSpPr txBox="1"/>
              <p:nvPr/>
            </p:nvSpPr>
            <p:spPr>
              <a:xfrm>
                <a:off x="5811252" y="3430915"/>
                <a:ext cx="3153236" cy="63722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𝐯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𝐡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6951B59E-3FC6-954B-AD46-D3DDF4B28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252" y="3430915"/>
                <a:ext cx="3153236" cy="637226"/>
              </a:xfrm>
              <a:prstGeom prst="rect">
                <a:avLst/>
              </a:prstGeom>
              <a:blipFill>
                <a:blip r:embed="rId18"/>
                <a:stretch>
                  <a:fillRect b="-7547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20F644B9-468A-6840-A774-2F1A44CC1A72}"/>
              </a:ext>
            </a:extLst>
          </p:cNvPr>
          <p:cNvSpPr txBox="1"/>
          <p:nvPr/>
        </p:nvSpPr>
        <p:spPr>
          <a:xfrm>
            <a:off x="6679984" y="412552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形式不变</a:t>
            </a:r>
            <a:endParaRPr kumimoji="1" lang="zh-CN" altLang="en-US" b="1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678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CBOW</a:t>
            </a:r>
            <a:r>
              <a:rPr lang="zh-CN" altLang="en-US" dirty="0"/>
              <a:t>模型：考虑更多的上下文</a:t>
            </a:r>
            <a:endParaRPr kumimoji="1" lang="zh-CN" altLang="en-US" dirty="0"/>
          </a:p>
        </p:txBody>
      </p:sp>
      <p:sp>
        <p:nvSpPr>
          <p:cNvPr id="45" name="梯形 44">
            <a:extLst>
              <a:ext uri="{FF2B5EF4-FFF2-40B4-BE49-F238E27FC236}">
                <a16:creationId xmlns:a16="http://schemas.microsoft.com/office/drawing/2014/main" id="{B5505625-CA44-2646-BFBD-D656BC52EA8B}"/>
              </a:ext>
            </a:extLst>
          </p:cNvPr>
          <p:cNvSpPr/>
          <p:nvPr/>
        </p:nvSpPr>
        <p:spPr bwMode="auto">
          <a:xfrm rot="16200000">
            <a:off x="2702712" y="2911827"/>
            <a:ext cx="2338998" cy="1656184"/>
          </a:xfrm>
          <a:prstGeom prst="trapezoid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2AEC97DD-A83F-C441-BCCF-21CDF72705AA}"/>
              </a:ext>
            </a:extLst>
          </p:cNvPr>
          <p:cNvGrpSpPr/>
          <p:nvPr/>
        </p:nvGrpSpPr>
        <p:grpSpPr>
          <a:xfrm>
            <a:off x="4694255" y="2560126"/>
            <a:ext cx="312666" cy="2360468"/>
            <a:chOff x="2627784" y="908720"/>
            <a:chExt cx="312666" cy="2360468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F61A3483-5912-F047-9EF1-F6220FBF9D7F}"/>
                </a:ext>
              </a:extLst>
            </p:cNvPr>
            <p:cNvSpPr/>
            <p:nvPr/>
          </p:nvSpPr>
          <p:spPr bwMode="auto">
            <a:xfrm>
              <a:off x="2627784" y="908720"/>
              <a:ext cx="288032" cy="23604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3319BE84-DE1C-AD42-B2BB-91CF9395A294}"/>
                </a:ext>
              </a:extLst>
            </p:cNvPr>
            <p:cNvSpPr/>
            <p:nvPr/>
          </p:nvSpPr>
          <p:spPr bwMode="auto">
            <a:xfrm>
              <a:off x="2663787" y="9807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EFBA9F02-9553-D842-8A13-FB2542A857DA}"/>
                </a:ext>
              </a:extLst>
            </p:cNvPr>
            <p:cNvSpPr/>
            <p:nvPr/>
          </p:nvSpPr>
          <p:spPr bwMode="auto">
            <a:xfrm>
              <a:off x="2673404" y="12855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C320ECB6-F9FB-E144-BA1E-CE186B1323F9}"/>
                </a:ext>
              </a:extLst>
            </p:cNvPr>
            <p:cNvSpPr/>
            <p:nvPr/>
          </p:nvSpPr>
          <p:spPr bwMode="auto">
            <a:xfrm>
              <a:off x="2673403" y="1988840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E8F8DF71-CFC9-0046-AE91-C5BFEC740A42}"/>
                </a:ext>
              </a:extLst>
            </p:cNvPr>
            <p:cNvSpPr/>
            <p:nvPr/>
          </p:nvSpPr>
          <p:spPr bwMode="auto">
            <a:xfrm>
              <a:off x="2663787" y="2708920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18EB4C87-BE30-1345-BCE0-220E4939DEE8}"/>
                </a:ext>
              </a:extLst>
            </p:cNvPr>
            <p:cNvSpPr/>
            <p:nvPr/>
          </p:nvSpPr>
          <p:spPr bwMode="auto">
            <a:xfrm>
              <a:off x="2663786" y="2982606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50E1AE9C-BB24-804F-8038-DFD37C704F34}"/>
                </a:ext>
              </a:extLst>
            </p:cNvPr>
            <p:cNvGrpSpPr/>
            <p:nvPr/>
          </p:nvGrpSpPr>
          <p:grpSpPr>
            <a:xfrm>
              <a:off x="2652418" y="1327135"/>
              <a:ext cx="288032" cy="672173"/>
              <a:chOff x="1691680" y="3573016"/>
              <a:chExt cx="288032" cy="672173"/>
            </a:xfrm>
          </p:grpSpPr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68D9A63-457F-074A-AA50-14FD36B16086}"/>
                  </a:ext>
                </a:extLst>
              </p:cNvPr>
              <p:cNvSpPr txBox="1"/>
              <p:nvPr/>
            </p:nvSpPr>
            <p:spPr>
              <a:xfrm>
                <a:off x="1691680" y="3573016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FAA7D1C8-36FE-2F42-8E30-18BF29774D5C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B328238A-08BC-6945-9359-1283E3309482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C029C03C-FB89-9D4C-9A93-386977890858}"/>
                </a:ext>
              </a:extLst>
            </p:cNvPr>
            <p:cNvGrpSpPr/>
            <p:nvPr/>
          </p:nvGrpSpPr>
          <p:grpSpPr>
            <a:xfrm>
              <a:off x="2652234" y="2043846"/>
              <a:ext cx="288212" cy="664188"/>
              <a:chOff x="1691680" y="3581001"/>
              <a:chExt cx="288212" cy="664188"/>
            </a:xfrm>
          </p:grpSpPr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A6BAA61F-A004-D847-A838-37296487319D}"/>
                  </a:ext>
                </a:extLst>
              </p:cNvPr>
              <p:cNvSpPr txBox="1"/>
              <p:nvPr/>
            </p:nvSpPr>
            <p:spPr>
              <a:xfrm>
                <a:off x="1691860" y="3581001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839F2A8B-3FEC-EE4D-97C3-73B0E0F461E6}"/>
                  </a:ext>
                </a:extLst>
              </p:cNvPr>
              <p:cNvSpPr txBox="1"/>
              <p:nvPr/>
            </p:nvSpPr>
            <p:spPr>
              <a:xfrm>
                <a:off x="1691680" y="3717032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CD6CE221-0D7A-3044-A1AA-86ADD001E589}"/>
                  </a:ext>
                </a:extLst>
              </p:cNvPr>
              <p:cNvSpPr txBox="1"/>
              <p:nvPr/>
            </p:nvSpPr>
            <p:spPr>
              <a:xfrm>
                <a:off x="1691680" y="384507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/>
              <p:nvPr/>
            </p:nvSpPr>
            <p:spPr>
              <a:xfrm>
                <a:off x="1480231" y="2026756"/>
                <a:ext cx="3606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55CBFA-2EB4-BC42-B2E6-672EAE28B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231" y="2026756"/>
                <a:ext cx="360675" cy="430887"/>
              </a:xfrm>
              <a:prstGeom prst="rect">
                <a:avLst/>
              </a:prstGeom>
              <a:blipFill>
                <a:blip r:embed="rId3"/>
                <a:stretch>
                  <a:fillRect l="-17241" r="-20690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/>
              <p:nvPr/>
            </p:nvSpPr>
            <p:spPr>
              <a:xfrm>
                <a:off x="3758880" y="3542427"/>
                <a:ext cx="33182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𝐕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4EF46D5-571B-F147-AA78-32C640703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880" y="3542427"/>
                <a:ext cx="331822" cy="430887"/>
              </a:xfrm>
              <a:prstGeom prst="rect">
                <a:avLst/>
              </a:prstGeom>
              <a:blipFill>
                <a:blip r:embed="rId4"/>
                <a:stretch>
                  <a:fillRect l="-22222" r="-18519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组合 79">
            <a:extLst>
              <a:ext uri="{FF2B5EF4-FFF2-40B4-BE49-F238E27FC236}">
                <a16:creationId xmlns:a16="http://schemas.microsoft.com/office/drawing/2014/main" id="{CE76F8E7-A84A-D846-B290-1C715151CBAE}"/>
              </a:ext>
            </a:extLst>
          </p:cNvPr>
          <p:cNvGrpSpPr/>
          <p:nvPr/>
        </p:nvGrpSpPr>
        <p:grpSpPr>
          <a:xfrm>
            <a:off x="4993840" y="2524406"/>
            <a:ext cx="547779" cy="2385012"/>
            <a:chOff x="2203064" y="838069"/>
            <a:chExt cx="547779" cy="2385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/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9303216-360A-3347-B9DE-4A05FE35D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615" y="838069"/>
                  <a:ext cx="505395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/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C59D134-5AF3-3043-8C92-228B2D4EF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141" y="1154052"/>
                  <a:ext cx="511357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/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C9FA027-AD8A-EB44-A122-017FA907D2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1840831"/>
                  <a:ext cx="482120" cy="424796"/>
                </a:xfrm>
                <a:prstGeom prst="rect">
                  <a:avLst/>
                </a:prstGeom>
                <a:blipFill>
                  <a:blip r:embed="rId7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/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94A1C2C-4052-844E-99BC-8CC129E5A6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2822971"/>
                  <a:ext cx="547779" cy="400110"/>
                </a:xfrm>
                <a:prstGeom prst="rect">
                  <a:avLst/>
                </a:prstGeom>
                <a:blipFill>
                  <a:blip r:embed="rId8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/>
              <p:nvPr/>
            </p:nvSpPr>
            <p:spPr>
              <a:xfrm>
                <a:off x="4703313" y="4859868"/>
                <a:ext cx="2516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37D558D-74EE-6C42-8843-FBC07EC1F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3313" y="4859868"/>
                <a:ext cx="251671" cy="369332"/>
              </a:xfrm>
              <a:prstGeom prst="rect">
                <a:avLst/>
              </a:prstGeom>
              <a:blipFill>
                <a:blip r:embed="rId9"/>
                <a:stretch>
                  <a:fillRect l="-28571" r="-2381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矩形 87">
            <a:extLst>
              <a:ext uri="{FF2B5EF4-FFF2-40B4-BE49-F238E27FC236}">
                <a16:creationId xmlns:a16="http://schemas.microsoft.com/office/drawing/2014/main" id="{6C655758-87F2-8F45-AA34-421DB44C0A10}"/>
              </a:ext>
            </a:extLst>
          </p:cNvPr>
          <p:cNvSpPr/>
          <p:nvPr/>
        </p:nvSpPr>
        <p:spPr bwMode="auto">
          <a:xfrm>
            <a:off x="2887969" y="2947117"/>
            <a:ext cx="266984" cy="15723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CE355B3A-F31D-B845-A966-F47DC95CCD87}"/>
              </a:ext>
            </a:extLst>
          </p:cNvPr>
          <p:cNvSpPr/>
          <p:nvPr/>
        </p:nvSpPr>
        <p:spPr bwMode="auto">
          <a:xfrm>
            <a:off x="2913600" y="2978541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9C52EFF6-9A55-8247-9815-B27AE5797145}"/>
              </a:ext>
            </a:extLst>
          </p:cNvPr>
          <p:cNvSpPr/>
          <p:nvPr/>
        </p:nvSpPr>
        <p:spPr bwMode="auto">
          <a:xfrm>
            <a:off x="2923976" y="3270639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73A66444-F698-EF4F-BA2A-58FB21F05B3D}"/>
              </a:ext>
            </a:extLst>
          </p:cNvPr>
          <p:cNvSpPr/>
          <p:nvPr/>
        </p:nvSpPr>
        <p:spPr bwMode="auto">
          <a:xfrm>
            <a:off x="2911341" y="3952393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D9B2F4FE-0772-9E45-A720-2B6295A42E97}"/>
              </a:ext>
            </a:extLst>
          </p:cNvPr>
          <p:cNvSpPr/>
          <p:nvPr/>
        </p:nvSpPr>
        <p:spPr bwMode="auto">
          <a:xfrm>
            <a:off x="2912419" y="4251428"/>
            <a:ext cx="216025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615DAEA-3E7B-1A4E-9B9C-3DA9F20055C1}"/>
              </a:ext>
            </a:extLst>
          </p:cNvPr>
          <p:cNvSpPr txBox="1"/>
          <p:nvPr/>
        </p:nvSpPr>
        <p:spPr>
          <a:xfrm>
            <a:off x="2894514" y="337653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2F91BC9-3237-E046-97AC-90D7F17020B5}"/>
              </a:ext>
            </a:extLst>
          </p:cNvPr>
          <p:cNvSpPr txBox="1"/>
          <p:nvPr/>
        </p:nvSpPr>
        <p:spPr>
          <a:xfrm>
            <a:off x="2894284" y="354790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.</a:t>
            </a:r>
            <a:endParaRPr kumimoji="1" lang="zh-CN" alt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/>
              <p:nvPr/>
            </p:nvSpPr>
            <p:spPr>
              <a:xfrm>
                <a:off x="2802966" y="4529053"/>
                <a:ext cx="4571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𝐡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2DBC221-E045-3C4E-AE2F-7086F701F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966" y="4529053"/>
                <a:ext cx="457176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文本框 98">
            <a:extLst>
              <a:ext uri="{FF2B5EF4-FFF2-40B4-BE49-F238E27FC236}">
                <a16:creationId xmlns:a16="http://schemas.microsoft.com/office/drawing/2014/main" id="{B7689C5C-B47E-E542-A51F-7B4F00B4F0A6}"/>
              </a:ext>
            </a:extLst>
          </p:cNvPr>
          <p:cNvSpPr txBox="1"/>
          <p:nvPr/>
        </p:nvSpPr>
        <p:spPr>
          <a:xfrm>
            <a:off x="1283491" y="73608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输入层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B19AC18-1237-D44B-83EF-E15800AED32D}"/>
              </a:ext>
            </a:extLst>
          </p:cNvPr>
          <p:cNvSpPr txBox="1"/>
          <p:nvPr/>
        </p:nvSpPr>
        <p:spPr>
          <a:xfrm>
            <a:off x="4347602" y="198408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输出层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C7C7B9A3-C7D4-6641-BD4F-7F317EE46D78}"/>
              </a:ext>
            </a:extLst>
          </p:cNvPr>
          <p:cNvSpPr txBox="1"/>
          <p:nvPr/>
        </p:nvSpPr>
        <p:spPr>
          <a:xfrm>
            <a:off x="2684078" y="198834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隐</a:t>
            </a:r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层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119788A-6C2F-FD48-A978-A9535EF4E921}"/>
              </a:ext>
            </a:extLst>
          </p:cNvPr>
          <p:cNvGrpSpPr/>
          <p:nvPr/>
        </p:nvGrpSpPr>
        <p:grpSpPr>
          <a:xfrm>
            <a:off x="886036" y="908720"/>
            <a:ext cx="312666" cy="1702552"/>
            <a:chOff x="1700262" y="1124744"/>
            <a:chExt cx="312666" cy="1702552"/>
          </a:xfrm>
        </p:grpSpPr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A1F8484F-6D54-8A45-8E26-54A1ADBB23CA}"/>
                </a:ext>
              </a:extLst>
            </p:cNvPr>
            <p:cNvSpPr/>
            <p:nvPr/>
          </p:nvSpPr>
          <p:spPr bwMode="auto">
            <a:xfrm>
              <a:off x="1700262" y="1124744"/>
              <a:ext cx="288032" cy="170255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5B7F21B8-B3D3-9740-8BC9-E303D01EA1D1}"/>
                </a:ext>
              </a:extLst>
            </p:cNvPr>
            <p:cNvSpPr/>
            <p:nvPr/>
          </p:nvSpPr>
          <p:spPr bwMode="auto">
            <a:xfrm>
              <a:off x="1736265" y="1196752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4467A775-7EE2-D245-A7D2-0C03B242F47F}"/>
                </a:ext>
              </a:extLst>
            </p:cNvPr>
            <p:cNvSpPr/>
            <p:nvPr/>
          </p:nvSpPr>
          <p:spPr bwMode="auto">
            <a:xfrm>
              <a:off x="1745882" y="1484784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27F56D3E-EF70-994F-ACB1-C95AE420C3E2}"/>
                </a:ext>
              </a:extLst>
            </p:cNvPr>
            <p:cNvSpPr/>
            <p:nvPr/>
          </p:nvSpPr>
          <p:spPr bwMode="auto">
            <a:xfrm>
              <a:off x="1741107" y="2041062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86A33407-3FB5-BF47-920D-EC3F75D06E3B}"/>
                </a:ext>
              </a:extLst>
            </p:cNvPr>
            <p:cNvSpPr/>
            <p:nvPr/>
          </p:nvSpPr>
          <p:spPr bwMode="auto">
            <a:xfrm>
              <a:off x="1744699" y="2553181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F7F811EF-6743-FD41-8AEF-BBDD2BC815E8}"/>
                </a:ext>
              </a:extLst>
            </p:cNvPr>
            <p:cNvGrpSpPr/>
            <p:nvPr/>
          </p:nvGrpSpPr>
          <p:grpSpPr>
            <a:xfrm>
              <a:off x="1724896" y="1516722"/>
              <a:ext cx="288032" cy="512188"/>
              <a:chOff x="1691680" y="3523381"/>
              <a:chExt cx="288032" cy="512188"/>
            </a:xfrm>
          </p:grpSpPr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176F535B-AED8-424B-AC11-91BC195586CC}"/>
                  </a:ext>
                </a:extLst>
              </p:cNvPr>
              <p:cNvSpPr txBox="1"/>
              <p:nvPr/>
            </p:nvSpPr>
            <p:spPr>
              <a:xfrm>
                <a:off x="1691680" y="363545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A327F3DA-FF98-104D-9CC4-B3B52C123851}"/>
                  </a:ext>
                </a:extLst>
              </p:cNvPr>
              <p:cNvSpPr txBox="1"/>
              <p:nvPr/>
            </p:nvSpPr>
            <p:spPr>
              <a:xfrm>
                <a:off x="1691680" y="3523381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C8EFA8CF-EEDD-EB45-A687-A948988CBE3D}"/>
                </a:ext>
              </a:extLst>
            </p:cNvPr>
            <p:cNvSpPr txBox="1"/>
            <p:nvPr/>
          </p:nvSpPr>
          <p:spPr>
            <a:xfrm>
              <a:off x="1723782" y="2096355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/>
                <a:t>.</a:t>
              </a:r>
              <a:endParaRPr kumimoji="1" lang="zh-CN" altLang="en-US" sz="2000" b="1" dirty="0"/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3568A109-0D0D-054D-A879-B927E5DFD226}"/>
                </a:ext>
              </a:extLst>
            </p:cNvPr>
            <p:cNvSpPr txBox="1"/>
            <p:nvPr/>
          </p:nvSpPr>
          <p:spPr>
            <a:xfrm>
              <a:off x="1723782" y="2197278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/>
                <a:t>.</a:t>
              </a:r>
              <a:endParaRPr kumimoji="1" lang="zh-CN" altLang="en-US" sz="2000" b="1" dirty="0"/>
            </a:p>
          </p:txBody>
        </p:sp>
      </p:grpSp>
      <p:sp>
        <p:nvSpPr>
          <p:cNvPr id="117" name="文本框 116">
            <a:extLst>
              <a:ext uri="{FF2B5EF4-FFF2-40B4-BE49-F238E27FC236}">
                <a16:creationId xmlns:a16="http://schemas.microsoft.com/office/drawing/2014/main" id="{02F0A75C-E2FD-8A45-B46E-C28C0CEDDA9D}"/>
              </a:ext>
            </a:extLst>
          </p:cNvPr>
          <p:cNvSpPr txBox="1"/>
          <p:nvPr/>
        </p:nvSpPr>
        <p:spPr>
          <a:xfrm>
            <a:off x="-782959" y="2496465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CN" altLang="en-US" sz="2000" b="1" dirty="0"/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CF13F23A-FE0D-B243-A6EC-F201FFF3A08D}"/>
              </a:ext>
            </a:extLst>
          </p:cNvPr>
          <p:cNvCxnSpPr>
            <a:cxnSpLocks/>
          </p:cNvCxnSpPr>
          <p:nvPr/>
        </p:nvCxnSpPr>
        <p:spPr bwMode="auto">
          <a:xfrm>
            <a:off x="1162273" y="918485"/>
            <a:ext cx="1713056" cy="20198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2" name="直线连接符 121">
            <a:extLst>
              <a:ext uri="{FF2B5EF4-FFF2-40B4-BE49-F238E27FC236}">
                <a16:creationId xmlns:a16="http://schemas.microsoft.com/office/drawing/2014/main" id="{3522A861-55D0-3F42-BE7B-185F888E755B}"/>
              </a:ext>
            </a:extLst>
          </p:cNvPr>
          <p:cNvCxnSpPr>
            <a:cxnSpLocks/>
          </p:cNvCxnSpPr>
          <p:nvPr/>
        </p:nvCxnSpPr>
        <p:spPr bwMode="auto">
          <a:xfrm>
            <a:off x="1171329" y="2606760"/>
            <a:ext cx="1703399" cy="189807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2B205559-F4D2-B34F-B91F-F36B2FFFB490}"/>
              </a:ext>
            </a:extLst>
          </p:cNvPr>
          <p:cNvGrpSpPr/>
          <p:nvPr/>
        </p:nvGrpSpPr>
        <p:grpSpPr>
          <a:xfrm>
            <a:off x="880290" y="2852936"/>
            <a:ext cx="312666" cy="1702552"/>
            <a:chOff x="1700262" y="1124744"/>
            <a:chExt cx="312666" cy="1702552"/>
          </a:xfrm>
        </p:grpSpPr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4C419869-C6E2-CA45-98E5-25049D63592A}"/>
                </a:ext>
              </a:extLst>
            </p:cNvPr>
            <p:cNvSpPr/>
            <p:nvPr/>
          </p:nvSpPr>
          <p:spPr bwMode="auto">
            <a:xfrm>
              <a:off x="1700262" y="1124744"/>
              <a:ext cx="288032" cy="170255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D3AADC20-72AF-5344-BC81-23356DB87BB3}"/>
                </a:ext>
              </a:extLst>
            </p:cNvPr>
            <p:cNvSpPr/>
            <p:nvPr/>
          </p:nvSpPr>
          <p:spPr bwMode="auto">
            <a:xfrm>
              <a:off x="1736265" y="1196752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CFE59EB5-8A28-B14F-A14B-E92326EFE0F9}"/>
                </a:ext>
              </a:extLst>
            </p:cNvPr>
            <p:cNvSpPr/>
            <p:nvPr/>
          </p:nvSpPr>
          <p:spPr bwMode="auto">
            <a:xfrm>
              <a:off x="1745882" y="1484784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D1D9EF37-FD00-274C-BEA5-003809434C56}"/>
                </a:ext>
              </a:extLst>
            </p:cNvPr>
            <p:cNvSpPr/>
            <p:nvPr/>
          </p:nvSpPr>
          <p:spPr bwMode="auto">
            <a:xfrm>
              <a:off x="1741107" y="2041062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6CE692DC-D0BF-4046-ABD1-F490B223F79C}"/>
                </a:ext>
              </a:extLst>
            </p:cNvPr>
            <p:cNvSpPr/>
            <p:nvPr/>
          </p:nvSpPr>
          <p:spPr bwMode="auto">
            <a:xfrm>
              <a:off x="1744699" y="2553181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1D8ED716-B8F8-7F48-8F12-13A2CAFFCDF4}"/>
                </a:ext>
              </a:extLst>
            </p:cNvPr>
            <p:cNvGrpSpPr/>
            <p:nvPr/>
          </p:nvGrpSpPr>
          <p:grpSpPr>
            <a:xfrm>
              <a:off x="1724896" y="1516722"/>
              <a:ext cx="288032" cy="512188"/>
              <a:chOff x="1691680" y="3523381"/>
              <a:chExt cx="288032" cy="512188"/>
            </a:xfrm>
          </p:grpSpPr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BA04A257-FEB0-0344-A169-A15B7CA69214}"/>
                  </a:ext>
                </a:extLst>
              </p:cNvPr>
              <p:cNvSpPr txBox="1"/>
              <p:nvPr/>
            </p:nvSpPr>
            <p:spPr>
              <a:xfrm>
                <a:off x="1691680" y="363545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E9E935DC-1935-B74D-8BD2-81B354D0AEFE}"/>
                  </a:ext>
                </a:extLst>
              </p:cNvPr>
              <p:cNvSpPr txBox="1"/>
              <p:nvPr/>
            </p:nvSpPr>
            <p:spPr>
              <a:xfrm>
                <a:off x="1691680" y="3523381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40487E6F-3ED6-764D-9FB4-A70CE575B98D}"/>
                </a:ext>
              </a:extLst>
            </p:cNvPr>
            <p:cNvSpPr txBox="1"/>
            <p:nvPr/>
          </p:nvSpPr>
          <p:spPr>
            <a:xfrm>
              <a:off x="1723782" y="2096355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/>
                <a:t>.</a:t>
              </a:r>
              <a:endParaRPr kumimoji="1" lang="zh-CN" altLang="en-US" sz="2000" b="1" dirty="0"/>
            </a:p>
          </p:txBody>
        </p: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02C2D23D-433F-2D40-8639-C7280EEB8A46}"/>
                </a:ext>
              </a:extLst>
            </p:cNvPr>
            <p:cNvSpPr txBox="1"/>
            <p:nvPr/>
          </p:nvSpPr>
          <p:spPr>
            <a:xfrm>
              <a:off x="1723782" y="2197278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/>
                <a:t>.</a:t>
              </a:r>
              <a:endParaRPr kumimoji="1" lang="zh-CN" altLang="en-US" sz="2000" b="1" dirty="0"/>
            </a:p>
          </p:txBody>
        </p:sp>
      </p:grp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B2B74BB8-0284-C747-B073-E25270D4DB26}"/>
              </a:ext>
            </a:extLst>
          </p:cNvPr>
          <p:cNvGrpSpPr/>
          <p:nvPr/>
        </p:nvGrpSpPr>
        <p:grpSpPr>
          <a:xfrm>
            <a:off x="879176" y="4750784"/>
            <a:ext cx="312666" cy="1702552"/>
            <a:chOff x="1700262" y="1124744"/>
            <a:chExt cx="312666" cy="1702552"/>
          </a:xfrm>
        </p:grpSpPr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FEFAE8CC-10E5-C64F-9068-05115A13BF97}"/>
                </a:ext>
              </a:extLst>
            </p:cNvPr>
            <p:cNvSpPr/>
            <p:nvPr/>
          </p:nvSpPr>
          <p:spPr bwMode="auto">
            <a:xfrm>
              <a:off x="1700262" y="1124744"/>
              <a:ext cx="288032" cy="170255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E11DEC8A-7A0E-394C-9C1D-D025F35ADBAD}"/>
                </a:ext>
              </a:extLst>
            </p:cNvPr>
            <p:cNvSpPr/>
            <p:nvPr/>
          </p:nvSpPr>
          <p:spPr bwMode="auto">
            <a:xfrm>
              <a:off x="1736265" y="1196752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925ED3AF-41FC-FF4D-A576-D4A35D782E77}"/>
                </a:ext>
              </a:extLst>
            </p:cNvPr>
            <p:cNvSpPr/>
            <p:nvPr/>
          </p:nvSpPr>
          <p:spPr bwMode="auto">
            <a:xfrm>
              <a:off x="1745882" y="1484784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15BB36D3-B5BF-8C4B-8C6A-9BE2E22B73A8}"/>
                </a:ext>
              </a:extLst>
            </p:cNvPr>
            <p:cNvSpPr/>
            <p:nvPr/>
          </p:nvSpPr>
          <p:spPr bwMode="auto">
            <a:xfrm>
              <a:off x="1741107" y="2041062"/>
              <a:ext cx="216025" cy="216024"/>
            </a:xfrm>
            <a:prstGeom prst="ellipse">
              <a:avLst/>
            </a:prstGeom>
            <a:solidFill>
              <a:srgbClr val="10B5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D10DEF53-E41F-9647-B72F-5D13AB7A485E}"/>
                </a:ext>
              </a:extLst>
            </p:cNvPr>
            <p:cNvSpPr/>
            <p:nvPr/>
          </p:nvSpPr>
          <p:spPr bwMode="auto">
            <a:xfrm>
              <a:off x="1744699" y="2553181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C0407753-9165-8744-B937-2076928B266E}"/>
                </a:ext>
              </a:extLst>
            </p:cNvPr>
            <p:cNvGrpSpPr/>
            <p:nvPr/>
          </p:nvGrpSpPr>
          <p:grpSpPr>
            <a:xfrm>
              <a:off x="1724896" y="1516722"/>
              <a:ext cx="288032" cy="512188"/>
              <a:chOff x="1691680" y="3523381"/>
              <a:chExt cx="288032" cy="512188"/>
            </a:xfrm>
          </p:grpSpPr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7A115CE5-D128-AD4B-B145-996DCB589ECD}"/>
                  </a:ext>
                </a:extLst>
              </p:cNvPr>
              <p:cNvSpPr txBox="1"/>
              <p:nvPr/>
            </p:nvSpPr>
            <p:spPr>
              <a:xfrm>
                <a:off x="1691680" y="3635459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62F24C89-DF84-2245-8033-4DD126A028DB}"/>
                  </a:ext>
                </a:extLst>
              </p:cNvPr>
              <p:cNvSpPr txBox="1"/>
              <p:nvPr/>
            </p:nvSpPr>
            <p:spPr>
              <a:xfrm>
                <a:off x="1691680" y="3523381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B697D653-D91F-314D-9D2C-885FB2820C7F}"/>
                </a:ext>
              </a:extLst>
            </p:cNvPr>
            <p:cNvSpPr txBox="1"/>
            <p:nvPr/>
          </p:nvSpPr>
          <p:spPr>
            <a:xfrm>
              <a:off x="1723782" y="2096355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/>
                <a:t>.</a:t>
              </a:r>
              <a:endParaRPr kumimoji="1" lang="zh-CN" altLang="en-US" sz="2000" b="1" dirty="0"/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3D8348E2-548B-5D43-A28D-6E3DBA7DFE07}"/>
                </a:ext>
              </a:extLst>
            </p:cNvPr>
            <p:cNvSpPr txBox="1"/>
            <p:nvPr/>
          </p:nvSpPr>
          <p:spPr>
            <a:xfrm>
              <a:off x="1723782" y="2197278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/>
                <a:t>.</a:t>
              </a:r>
              <a:endParaRPr kumimoji="1" lang="zh-CN" altLang="en-US" sz="2000" b="1" dirty="0"/>
            </a:p>
          </p:txBody>
        </p:sp>
      </p:grp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7152E9F8-04D3-4644-9F4B-F09545C1B9D0}"/>
              </a:ext>
            </a:extLst>
          </p:cNvPr>
          <p:cNvCxnSpPr>
            <a:cxnSpLocks/>
          </p:cNvCxnSpPr>
          <p:nvPr/>
        </p:nvCxnSpPr>
        <p:spPr bwMode="auto">
          <a:xfrm>
            <a:off x="1152422" y="2850746"/>
            <a:ext cx="1755146" cy="10702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4370A7D6-8C6C-BB45-B5C9-07CC4731C41B}"/>
              </a:ext>
            </a:extLst>
          </p:cNvPr>
          <p:cNvCxnSpPr>
            <a:cxnSpLocks/>
          </p:cNvCxnSpPr>
          <p:nvPr/>
        </p:nvCxnSpPr>
        <p:spPr bwMode="auto">
          <a:xfrm flipV="1">
            <a:off x="1174068" y="4498125"/>
            <a:ext cx="1720446" cy="573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19729F2B-F027-0C44-A32A-7B4125BCA409}"/>
              </a:ext>
            </a:extLst>
          </p:cNvPr>
          <p:cNvCxnSpPr>
            <a:cxnSpLocks/>
          </p:cNvCxnSpPr>
          <p:nvPr/>
        </p:nvCxnSpPr>
        <p:spPr bwMode="auto">
          <a:xfrm flipV="1">
            <a:off x="1167208" y="4495591"/>
            <a:ext cx="1720761" cy="19570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1EDBE4AC-33D8-1A40-AE87-1F1E478EA181}"/>
              </a:ext>
            </a:extLst>
          </p:cNvPr>
          <p:cNvCxnSpPr>
            <a:cxnSpLocks/>
          </p:cNvCxnSpPr>
          <p:nvPr/>
        </p:nvCxnSpPr>
        <p:spPr bwMode="auto">
          <a:xfrm flipV="1">
            <a:off x="1149415" y="2947117"/>
            <a:ext cx="1738324" cy="179742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3AF7D782-E2B5-9140-BA1E-B5417129AEBB}"/>
                  </a:ext>
                </a:extLst>
              </p:cNvPr>
              <p:cNvSpPr txBox="1"/>
              <p:nvPr/>
            </p:nvSpPr>
            <p:spPr>
              <a:xfrm>
                <a:off x="1489151" y="3446379"/>
                <a:ext cx="3606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3AF7D782-E2B5-9140-BA1E-B5417129A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151" y="3446379"/>
                <a:ext cx="360675" cy="430887"/>
              </a:xfrm>
              <a:prstGeom prst="rect">
                <a:avLst/>
              </a:prstGeom>
              <a:blipFill>
                <a:blip r:embed="rId11"/>
                <a:stretch>
                  <a:fillRect l="-20690" r="-17241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71B60C2D-4A90-5B48-A7FB-6B2EBA55A315}"/>
                  </a:ext>
                </a:extLst>
              </p:cNvPr>
              <p:cNvSpPr txBox="1"/>
              <p:nvPr/>
            </p:nvSpPr>
            <p:spPr>
              <a:xfrm>
                <a:off x="1490232" y="4990718"/>
                <a:ext cx="3606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71B60C2D-4A90-5B48-A7FB-6B2EBA55A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232" y="4990718"/>
                <a:ext cx="360675" cy="430887"/>
              </a:xfrm>
              <a:prstGeom prst="rect">
                <a:avLst/>
              </a:prstGeom>
              <a:blipFill>
                <a:blip r:embed="rId12"/>
                <a:stretch>
                  <a:fillRect l="-17241" r="-17241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315A7B3D-E8D0-C544-BFCA-2F5D8EEB63A5}"/>
              </a:ext>
            </a:extLst>
          </p:cNvPr>
          <p:cNvSpPr txBox="1"/>
          <p:nvPr/>
        </p:nvSpPr>
        <p:spPr>
          <a:xfrm>
            <a:off x="552554" y="4216916"/>
            <a:ext cx="314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.</a:t>
            </a:r>
            <a:endParaRPr kumimoji="1" lang="zh-CN" altLang="en-US" dirty="0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E1E6323C-31FF-EE46-AD3B-43A95E5587E7}"/>
              </a:ext>
            </a:extLst>
          </p:cNvPr>
          <p:cNvSpPr txBox="1"/>
          <p:nvPr/>
        </p:nvSpPr>
        <p:spPr>
          <a:xfrm>
            <a:off x="544915" y="4345517"/>
            <a:ext cx="314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.</a:t>
            </a:r>
            <a:endParaRPr kumimoji="1" lang="zh-CN" altLang="en-US" dirty="0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6974B161-65D1-2D41-AF2E-9945EA15F181}"/>
              </a:ext>
            </a:extLst>
          </p:cNvPr>
          <p:cNvSpPr txBox="1"/>
          <p:nvPr/>
        </p:nvSpPr>
        <p:spPr>
          <a:xfrm>
            <a:off x="544849" y="4478530"/>
            <a:ext cx="314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.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F80FF77-ADC9-F442-95B5-0B19B832AE30}"/>
                  </a:ext>
                </a:extLst>
              </p:cNvPr>
              <p:cNvSpPr txBox="1"/>
              <p:nvPr/>
            </p:nvSpPr>
            <p:spPr>
              <a:xfrm>
                <a:off x="414938" y="1706868"/>
                <a:ext cx="427873" cy="3341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F80FF77-ADC9-F442-95B5-0B19B832A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938" y="1706868"/>
                <a:ext cx="427873" cy="334194"/>
              </a:xfrm>
              <a:prstGeom prst="rect">
                <a:avLst/>
              </a:prstGeom>
              <a:blipFill>
                <a:blip r:embed="rId13"/>
                <a:stretch>
                  <a:fillRect l="-5714"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3289D298-6E45-F340-86D7-129577C71844}"/>
                  </a:ext>
                </a:extLst>
              </p:cNvPr>
              <p:cNvSpPr txBox="1"/>
              <p:nvPr/>
            </p:nvSpPr>
            <p:spPr>
              <a:xfrm>
                <a:off x="452417" y="3664186"/>
                <a:ext cx="427873" cy="3341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3289D298-6E45-F340-86D7-129577C71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17" y="3664186"/>
                <a:ext cx="427873" cy="334194"/>
              </a:xfrm>
              <a:prstGeom prst="rect">
                <a:avLst/>
              </a:prstGeom>
              <a:blipFill>
                <a:blip r:embed="rId14"/>
                <a:stretch>
                  <a:fillRect l="-5714"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DCFD8733-E08C-134A-A70E-DF61A67AB23F}"/>
                  </a:ext>
                </a:extLst>
              </p:cNvPr>
              <p:cNvSpPr txBox="1"/>
              <p:nvPr/>
            </p:nvSpPr>
            <p:spPr>
              <a:xfrm>
                <a:off x="413247" y="5542872"/>
                <a:ext cx="439095" cy="336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DCFD8733-E08C-134A-A70E-DF61A67AB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47" y="5542872"/>
                <a:ext cx="439095" cy="336182"/>
              </a:xfrm>
              <a:prstGeom prst="rect">
                <a:avLst/>
              </a:prstGeom>
              <a:blipFill>
                <a:blip r:embed="rId15"/>
                <a:stretch>
                  <a:fillRect l="-5556"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内容占位符 3">
                <a:extLst>
                  <a:ext uri="{FF2B5EF4-FFF2-40B4-BE49-F238E27FC236}">
                    <a16:creationId xmlns:a16="http://schemas.microsoft.com/office/drawing/2014/main" id="{1CE34D75-708F-F043-9455-9FA840C7F8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18577" y="5527743"/>
                <a:ext cx="4193893" cy="465963"/>
              </a:xfrm>
              <a:solidFill>
                <a:schemeClr val="bg1"/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000" b="0" dirty="0">
                    <a:ea typeface="STKaiti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STKaiti" panose="02010600040101010101" pitchFamily="2" charset="-122"/>
                      </a:rPr>
                      <m:t>𝐡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STKaiti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𝐶</m:t>
                        </m:r>
                      </m:den>
                    </m:f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STKaiti" panose="02010600040101010101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b="1" i="0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0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𝐱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STKaiti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b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+…+</m:t>
                    </m:r>
                  </m:oMath>
                </a14:m>
                <a:r>
                  <a:rPr lang="en-US" altLang="zh-CN" sz="20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b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b="0" dirty="0">
                  <a:ea typeface="STKaiti" panose="02010600040101010101" pitchFamily="2" charset="-122"/>
                </a:endParaRPr>
              </a:p>
              <a:p>
                <a:pPr marL="0" indent="0">
                  <a:buNone/>
                </a:pPr>
                <a:endParaRPr lang="en-US" altLang="zh-CN" sz="2000" b="0" dirty="0">
                  <a:ea typeface="STKaiti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58" name="内容占位符 3">
                <a:extLst>
                  <a:ext uri="{FF2B5EF4-FFF2-40B4-BE49-F238E27FC236}">
                    <a16:creationId xmlns:a16="http://schemas.microsoft.com/office/drawing/2014/main" id="{1CE34D75-708F-F043-9455-9FA840C7F8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18577" y="5527743"/>
                <a:ext cx="4193893" cy="465963"/>
              </a:xfrm>
              <a:blipFill>
                <a:blip r:embed="rId16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内容占位符 3">
                <a:extLst>
                  <a:ext uri="{FF2B5EF4-FFF2-40B4-BE49-F238E27FC236}">
                    <a16:creationId xmlns:a16="http://schemas.microsoft.com/office/drawing/2014/main" id="{3EC16DC6-A296-D446-9E37-FE75437155E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034291" y="6062827"/>
                <a:ext cx="4193893" cy="4659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28" tIns="45714" rIns="91428" bIns="45714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3D72"/>
                  </a:buClr>
                  <a:buSzPct val="120000"/>
                  <a:buFont typeface="System Font Regular"/>
                  <a:buChar char="▸"/>
                  <a:defRPr kumimoji="1" sz="2600" b="1">
                    <a:solidFill>
                      <a:schemeClr val="tx1"/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Gill Sans"/>
                  </a:defRPr>
                </a:lvl1pPr>
                <a:lvl2pPr marL="742950" indent="-28575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3D72"/>
                  </a:buClr>
                  <a:buFont typeface="System Font Regular"/>
                  <a:buChar char="▸"/>
                  <a:defRPr kumimoji="1" sz="2400">
                    <a:solidFill>
                      <a:schemeClr val="tx1"/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Gill Sans"/>
                  </a:defRPr>
                </a:lvl2pPr>
                <a:lvl3pPr marL="1143000" indent="-230188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3D72"/>
                  </a:buClr>
                  <a:buFont typeface="System Font Regular"/>
                  <a:buChar char="▸"/>
                  <a:defRPr kumimoji="1" sz="2000">
                    <a:solidFill>
                      <a:schemeClr val="tx1"/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Gill Sans"/>
                  </a:defRPr>
                </a:lvl3pPr>
                <a:lvl4pPr marL="1600200" indent="-22860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3D72"/>
                  </a:buClr>
                  <a:buFont typeface="System Font Regular"/>
                  <a:buChar char="▸"/>
                  <a:defRPr kumimoji="1">
                    <a:solidFill>
                      <a:schemeClr val="tx1"/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Gill Sans"/>
                  </a:defRPr>
                </a:lvl4pPr>
                <a:lvl5pPr marL="2057400" indent="-22860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>
                    <a:solidFill>
                      <a:srgbClr val="333399"/>
                    </a:solidFill>
                    <a:latin typeface="STKaiti" panose="02010600040101010101" pitchFamily="2" charset="-122"/>
                    <a:ea typeface="STKaiti" panose="02010600040101010101" pitchFamily="2" charset="-122"/>
                  </a:defRPr>
                </a:lvl5pPr>
                <a:lvl6pPr marL="2514600" indent="-22860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>
                    <a:solidFill>
                      <a:srgbClr val="333399"/>
                    </a:solidFill>
                    <a:latin typeface="+mn-lt"/>
                    <a:ea typeface="+mn-ea"/>
                  </a:defRPr>
                </a:lvl6pPr>
                <a:lvl7pPr marL="2971800" indent="-22860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>
                    <a:solidFill>
                      <a:srgbClr val="333399"/>
                    </a:solidFill>
                    <a:latin typeface="+mn-lt"/>
                    <a:ea typeface="+mn-ea"/>
                  </a:defRPr>
                </a:lvl7pPr>
                <a:lvl8pPr marL="3429000" indent="-22860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>
                    <a:solidFill>
                      <a:srgbClr val="333399"/>
                    </a:solidFill>
                    <a:latin typeface="+mn-lt"/>
                    <a:ea typeface="+mn-ea"/>
                  </a:defRPr>
                </a:lvl8pPr>
                <a:lvl9pPr marL="3886200" indent="-228600" algn="l" defTabSz="912813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>
                    <a:solidFill>
                      <a:srgbClr val="333399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 typeface="System Font Regular"/>
                  <a:buNone/>
                </a:pPr>
                <a:r>
                  <a:rPr lang="zh-CN" altLang="en-US" sz="2000" b="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kern="0" smtClean="0">
                        <a:latin typeface="Cambria Math" panose="02040503050406030204" pitchFamily="18" charset="0"/>
                      </a:rPr>
                      <m:t>𝐡</m:t>
                    </m:r>
                    <m:r>
                      <a:rPr lang="en-US" altLang="zh-CN" sz="2000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kern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0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kern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b="0" kern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altLang="zh-CN" sz="2000" b="0" i="1" kern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1" i="0" kern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</m:oMath>
                </a14:m>
                <a:endParaRPr lang="en-US" altLang="zh-CN" sz="2000" b="0" kern="0" dirty="0"/>
              </a:p>
            </p:txBody>
          </p:sp>
        </mc:Choice>
        <mc:Fallback xmlns="">
          <p:sp>
            <p:nvSpPr>
              <p:cNvPr id="159" name="内容占位符 3">
                <a:extLst>
                  <a:ext uri="{FF2B5EF4-FFF2-40B4-BE49-F238E27FC236}">
                    <a16:creationId xmlns:a16="http://schemas.microsoft.com/office/drawing/2014/main" id="{3EC16DC6-A296-D446-9E37-FE7543715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4291" y="6062827"/>
                <a:ext cx="4193893" cy="465963"/>
              </a:xfrm>
              <a:prstGeom prst="rect">
                <a:avLst/>
              </a:prstGeom>
              <a:blipFill>
                <a:blip r:embed="rId17"/>
                <a:stretch>
                  <a:fillRect b="-2632"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652588A0-349E-5141-ABAA-437E06B79A21}"/>
                  </a:ext>
                </a:extLst>
              </p:cNvPr>
              <p:cNvSpPr txBox="1"/>
              <p:nvPr/>
            </p:nvSpPr>
            <p:spPr>
              <a:xfrm>
                <a:off x="5585840" y="2659928"/>
                <a:ext cx="3426131" cy="63722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𝐮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𝒆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652588A0-349E-5141-ABAA-437E06B79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840" y="2659928"/>
                <a:ext cx="3426131" cy="637226"/>
              </a:xfrm>
              <a:prstGeom prst="rect">
                <a:avLst/>
              </a:prstGeom>
              <a:blipFill>
                <a:blip r:embed="rId18"/>
                <a:stretch>
                  <a:fillRect l="-368" b="-5660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D63D67E9-D27A-3B48-93A0-B2D43E5B8257}"/>
                  </a:ext>
                </a:extLst>
              </p:cNvPr>
              <p:cNvSpPr txBox="1"/>
              <p:nvPr/>
            </p:nvSpPr>
            <p:spPr>
              <a:xfrm>
                <a:off x="5450323" y="4109501"/>
                <a:ext cx="3658181" cy="71590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𝐮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𝐕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D63D67E9-D27A-3B48-93A0-B2D43E5B8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0323" y="4109501"/>
                <a:ext cx="3658181" cy="715902"/>
              </a:xfrm>
              <a:prstGeom prst="rect">
                <a:avLst/>
              </a:prstGeom>
              <a:blipFill>
                <a:blip r:embed="rId19"/>
                <a:stretch>
                  <a:fillRect l="-344" b="-5085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2CEE721A-7B6E-AD44-BE2A-D1DE02EEB305}"/>
              </a:ext>
            </a:extLst>
          </p:cNvPr>
          <p:cNvCxnSpPr/>
          <p:nvPr/>
        </p:nvCxnSpPr>
        <p:spPr bwMode="auto">
          <a:xfrm>
            <a:off x="7298905" y="3429000"/>
            <a:ext cx="0" cy="53033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7612417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3120" y="-1272664"/>
            <a:ext cx="7886700" cy="546904"/>
          </a:xfrm>
        </p:spPr>
        <p:txBody>
          <a:bodyPr/>
          <a:lstStyle/>
          <a:p>
            <a:r>
              <a:rPr lang="zh-CN" altLang="en-US" dirty="0"/>
              <a:t>词向量的</a:t>
            </a:r>
            <a:endParaRPr kumimoji="1" lang="zh-CN" altLang="en-US" dirty="0"/>
          </a:p>
        </p:txBody>
      </p:sp>
      <p:sp>
        <p:nvSpPr>
          <p:cNvPr id="11" name="标题 2">
            <a:extLst>
              <a:ext uri="{FF2B5EF4-FFF2-40B4-BE49-F238E27FC236}">
                <a16:creationId xmlns:a16="http://schemas.microsoft.com/office/drawing/2014/main" id="{2FAA91E7-BA25-A246-B011-10EB98B96B36}"/>
              </a:ext>
            </a:extLst>
          </p:cNvPr>
          <p:cNvSpPr txBox="1">
            <a:spLocks/>
          </p:cNvSpPr>
          <p:nvPr/>
        </p:nvSpPr>
        <p:spPr>
          <a:xfrm>
            <a:off x="114300" y="73784"/>
            <a:ext cx="7886700" cy="546904"/>
          </a:xfrm>
          <a:prstGeom prst="rect">
            <a:avLst/>
          </a:prstGeom>
        </p:spPr>
        <p:txBody>
          <a:bodyPr anchor="ctr"/>
          <a:lstStyle>
            <a:lvl1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lang="en-CN" sz="2600" b="1" i="0" kern="0" dirty="0">
                <a:solidFill>
                  <a:srgbClr val="F0BD47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defRPr>
            </a:lvl1pPr>
            <a:lvl2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charset="0"/>
                <a:ea typeface="ＭＳ Ｐゴシック" pitchFamily="50" charset="-128"/>
                <a:cs typeface="ＭＳ Ｐゴシック" charset="-128"/>
              </a:defRPr>
            </a:lvl2pPr>
            <a:lvl3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charset="0"/>
                <a:ea typeface="ＭＳ Ｐゴシック" pitchFamily="50" charset="-128"/>
                <a:cs typeface="ＭＳ Ｐゴシック" charset="-128"/>
              </a:defRPr>
            </a:lvl3pPr>
            <a:lvl4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charset="0"/>
                <a:ea typeface="ＭＳ Ｐゴシック" pitchFamily="50" charset="-128"/>
                <a:cs typeface="ＭＳ Ｐゴシック" charset="-128"/>
              </a:defRPr>
            </a:lvl4pPr>
            <a:lvl5pPr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6600"/>
                </a:solidFill>
                <a:latin typeface="Gill Sans" charset="0"/>
                <a:ea typeface="ＭＳ Ｐゴシック" pitchFamily="50" charset="-128"/>
                <a:cs typeface="ＭＳ Ｐゴシック" charset="-128"/>
              </a:defRPr>
            </a:lvl5pPr>
            <a:lvl6pPr marL="457200"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itchFamily="34" charset="0"/>
                <a:ea typeface="ＭＳ Ｐゴシック" pitchFamily="50" charset="-128"/>
              </a:defRPr>
            </a:lvl6pPr>
            <a:lvl7pPr marL="914400"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itchFamily="34" charset="0"/>
                <a:ea typeface="ＭＳ Ｐゴシック" pitchFamily="50" charset="-128"/>
              </a:defRPr>
            </a:lvl7pPr>
            <a:lvl8pPr marL="1371600"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itchFamily="34" charset="0"/>
                <a:ea typeface="ＭＳ Ｐゴシック" pitchFamily="50" charset="-128"/>
              </a:defRPr>
            </a:lvl8pPr>
            <a:lvl9pPr marL="1828800" algn="l" defTabSz="912813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ahoma" pitchFamily="34" charset="0"/>
                <a:ea typeface="ＭＳ Ｐゴシック" pitchFamily="50" charset="-128"/>
              </a:defRPr>
            </a:lvl9pPr>
          </a:lstStyle>
          <a:p>
            <a:r>
              <a:rPr lang="en-US" altLang="zh-CN" dirty="0"/>
              <a:t>Skip-gram</a:t>
            </a:r>
            <a:r>
              <a:rPr lang="zh-CN" altLang="en-US" dirty="0"/>
              <a:t>模型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DF7AD0-803E-AD47-9AE6-81F488667F53}"/>
              </a:ext>
            </a:extLst>
          </p:cNvPr>
          <p:cNvSpPr txBox="1"/>
          <p:nvPr/>
        </p:nvSpPr>
        <p:spPr>
          <a:xfrm>
            <a:off x="1691680" y="2586851"/>
            <a:ext cx="4352474" cy="400110"/>
          </a:xfrm>
          <a:prstGeom prst="rect">
            <a:avLst/>
          </a:prstGeom>
          <a:noFill/>
          <a:ln w="19050">
            <a:solidFill>
              <a:srgbClr val="002879"/>
            </a:solidFill>
          </a:ln>
        </p:spPr>
        <p:txBody>
          <a:bodyPr wrap="none" rtlCol="0">
            <a:spAutoFit/>
          </a:bodyPr>
          <a:lstStyle/>
          <a:p>
            <a:pPr defTabSz="912813">
              <a:spcBef>
                <a:spcPct val="20000"/>
              </a:spcBef>
              <a:buClr>
                <a:srgbClr val="003D72"/>
              </a:buClr>
              <a:buSzPct val="120000"/>
            </a:pP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我  看见  一只  </a:t>
            </a:r>
            <a:r>
              <a:rPr lang="zh-CN" altLang="en-US" sz="2000" dirty="0">
                <a:highlight>
                  <a:srgbClr val="FF0000"/>
                </a:highlight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    </a:t>
            </a:r>
            <a:r>
              <a:rPr lang="zh-CN" altLang="en-US" sz="200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  </a:t>
            </a: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快速  跑进 了  教室</a:t>
            </a:r>
            <a:endParaRPr lang="en-US" altLang="zh-CN" sz="2000" dirty="0">
              <a:latin typeface="STKaiti" panose="02010600040101010101" pitchFamily="2" charset="-122"/>
              <a:ea typeface="STKaiti" panose="02010600040101010101" pitchFamily="2" charset="-122"/>
              <a:cs typeface="Gill Sans"/>
            </a:endParaRPr>
          </a:p>
        </p:txBody>
      </p:sp>
      <p:sp>
        <p:nvSpPr>
          <p:cNvPr id="7" name="下箭头 6">
            <a:extLst>
              <a:ext uri="{FF2B5EF4-FFF2-40B4-BE49-F238E27FC236}">
                <a16:creationId xmlns:a16="http://schemas.microsoft.com/office/drawing/2014/main" id="{CA9A2A84-3EBA-2F4C-9EF9-76962E444BCD}"/>
              </a:ext>
            </a:extLst>
          </p:cNvPr>
          <p:cNvSpPr/>
          <p:nvPr/>
        </p:nvSpPr>
        <p:spPr bwMode="auto">
          <a:xfrm>
            <a:off x="3763137" y="4293096"/>
            <a:ext cx="232021" cy="576064"/>
          </a:xfrm>
          <a:prstGeom prst="downArrow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4D2072-2CEC-7549-8C30-B4335BFDCAA0}"/>
              </a:ext>
            </a:extLst>
          </p:cNvPr>
          <p:cNvSpPr txBox="1"/>
          <p:nvPr/>
        </p:nvSpPr>
        <p:spPr>
          <a:xfrm>
            <a:off x="3519108" y="119675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小猫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B8E5B7-B489-3F4A-A113-E21DE5D058B7}"/>
              </a:ext>
            </a:extLst>
          </p:cNvPr>
          <p:cNvSpPr txBox="1"/>
          <p:nvPr/>
        </p:nvSpPr>
        <p:spPr>
          <a:xfrm>
            <a:off x="3519104" y="377277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小猫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86C7C2E-95A0-7047-949E-EDFC19D09F16}"/>
              </a:ext>
            </a:extLst>
          </p:cNvPr>
          <p:cNvSpPr txBox="1"/>
          <p:nvPr/>
        </p:nvSpPr>
        <p:spPr>
          <a:xfrm>
            <a:off x="1895271" y="5134189"/>
            <a:ext cx="3967753" cy="400110"/>
          </a:xfrm>
          <a:prstGeom prst="rect">
            <a:avLst/>
          </a:prstGeom>
          <a:noFill/>
          <a:ln w="19050">
            <a:solidFill>
              <a:srgbClr val="002879"/>
            </a:solidFill>
          </a:ln>
        </p:spPr>
        <p:txBody>
          <a:bodyPr wrap="none" rtlCol="0">
            <a:spAutoFit/>
          </a:bodyPr>
          <a:lstStyle/>
          <a:p>
            <a:pPr defTabSz="912813">
              <a:spcBef>
                <a:spcPct val="20000"/>
              </a:spcBef>
              <a:buClr>
                <a:srgbClr val="003D72"/>
              </a:buClr>
              <a:buSzPct val="120000"/>
            </a:pP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我  看见  一只</a:t>
            </a:r>
            <a:r>
              <a:rPr lang="zh-CN" altLang="en-US" sz="200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 </a:t>
            </a: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Gill Sans"/>
              </a:rPr>
              <a:t>快速  跑进 了  教室</a:t>
            </a:r>
            <a:endParaRPr lang="en-US" altLang="zh-CN" sz="2000" dirty="0">
              <a:latin typeface="STKaiti" panose="02010600040101010101" pitchFamily="2" charset="-122"/>
              <a:ea typeface="STKaiti" panose="02010600040101010101" pitchFamily="2" charset="-122"/>
              <a:cs typeface="Gill Sans"/>
            </a:endParaRPr>
          </a:p>
        </p:txBody>
      </p:sp>
      <p:sp>
        <p:nvSpPr>
          <p:cNvPr id="15" name="下箭头 14">
            <a:extLst>
              <a:ext uri="{FF2B5EF4-FFF2-40B4-BE49-F238E27FC236}">
                <a16:creationId xmlns:a16="http://schemas.microsoft.com/office/drawing/2014/main" id="{E0F7421A-BDDB-BF4C-AE06-82FB7A420C55}"/>
              </a:ext>
            </a:extLst>
          </p:cNvPr>
          <p:cNvSpPr/>
          <p:nvPr/>
        </p:nvSpPr>
        <p:spPr bwMode="auto">
          <a:xfrm rot="10800000">
            <a:off x="3751908" y="1806611"/>
            <a:ext cx="232021" cy="576064"/>
          </a:xfrm>
          <a:prstGeom prst="downArrow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216055-4277-5E42-AA2E-29F9C38076C1}"/>
              </a:ext>
            </a:extLst>
          </p:cNvPr>
          <p:cNvSpPr txBox="1"/>
          <p:nvPr/>
        </p:nvSpPr>
        <p:spPr>
          <a:xfrm>
            <a:off x="3970959" y="1904388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用上下文预测当前词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1278F2-FA9E-3C44-A501-13AADF7A373B}"/>
              </a:ext>
            </a:extLst>
          </p:cNvPr>
          <p:cNvSpPr txBox="1"/>
          <p:nvPr/>
        </p:nvSpPr>
        <p:spPr>
          <a:xfrm>
            <a:off x="3961718" y="4335655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用当前词预测上下文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C2F992E-DB88-EA46-92B3-A20494156D03}"/>
              </a:ext>
            </a:extLst>
          </p:cNvPr>
          <p:cNvSpPr txBox="1"/>
          <p:nvPr/>
        </p:nvSpPr>
        <p:spPr>
          <a:xfrm>
            <a:off x="6230819" y="1904388"/>
            <a:ext cx="19688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（</a:t>
            </a:r>
            <a:r>
              <a:rPr kumimoji="1" lang="en-US" altLang="zh-CN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CBOW</a:t>
            </a:r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模型）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A5CEFED-B92F-DE4C-9F85-DC00B5648DAB}"/>
              </a:ext>
            </a:extLst>
          </p:cNvPr>
          <p:cNvSpPr txBox="1"/>
          <p:nvPr/>
        </p:nvSpPr>
        <p:spPr>
          <a:xfrm>
            <a:off x="6179949" y="4335655"/>
            <a:ext cx="2310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（</a:t>
            </a:r>
            <a:r>
              <a:rPr kumimoji="1" lang="en-US" altLang="zh-CN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S</a:t>
            </a:r>
            <a:r>
              <a:rPr lang="en-US" altLang="zh-CN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kip-gram</a:t>
            </a:r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模型）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921D287-C7DC-9540-B449-B0E28FE0F2CD}"/>
              </a:ext>
            </a:extLst>
          </p:cNvPr>
          <p:cNvSpPr/>
          <p:nvPr/>
        </p:nvSpPr>
        <p:spPr bwMode="auto">
          <a:xfrm>
            <a:off x="536476" y="1197153"/>
            <a:ext cx="8071048" cy="2304256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265584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Skip-gram</a:t>
            </a:r>
            <a:r>
              <a:rPr lang="zh-CN" altLang="en-US" dirty="0"/>
              <a:t>模型</a:t>
            </a:r>
            <a:endParaRPr kumimoji="1" lang="zh-CN" altLang="en-US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02F0A75C-E2FD-8A45-B46E-C28C0CEDDA9D}"/>
              </a:ext>
            </a:extLst>
          </p:cNvPr>
          <p:cNvSpPr txBox="1"/>
          <p:nvPr/>
        </p:nvSpPr>
        <p:spPr>
          <a:xfrm>
            <a:off x="-782959" y="2496465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CN" altLang="en-US" sz="20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11347AA-C03A-4545-A61E-4458091FDF3E}"/>
              </a:ext>
            </a:extLst>
          </p:cNvPr>
          <p:cNvGrpSpPr/>
          <p:nvPr/>
        </p:nvGrpSpPr>
        <p:grpSpPr>
          <a:xfrm rot="10800000">
            <a:off x="2316463" y="836712"/>
            <a:ext cx="4127745" cy="5544616"/>
            <a:chOff x="879176" y="908720"/>
            <a:chExt cx="4127745" cy="5544616"/>
          </a:xfrm>
        </p:grpSpPr>
        <p:sp>
          <p:nvSpPr>
            <p:cNvPr id="45" name="梯形 44">
              <a:extLst>
                <a:ext uri="{FF2B5EF4-FFF2-40B4-BE49-F238E27FC236}">
                  <a16:creationId xmlns:a16="http://schemas.microsoft.com/office/drawing/2014/main" id="{B5505625-CA44-2646-BFBD-D656BC52EA8B}"/>
                </a:ext>
              </a:extLst>
            </p:cNvPr>
            <p:cNvSpPr/>
            <p:nvPr/>
          </p:nvSpPr>
          <p:spPr bwMode="auto">
            <a:xfrm rot="16200000">
              <a:off x="2702712" y="2911827"/>
              <a:ext cx="2338998" cy="1656184"/>
            </a:xfrm>
            <a:prstGeom prst="trapezoid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2AEC97DD-A83F-C441-BCCF-21CDF72705AA}"/>
                </a:ext>
              </a:extLst>
            </p:cNvPr>
            <p:cNvGrpSpPr/>
            <p:nvPr/>
          </p:nvGrpSpPr>
          <p:grpSpPr>
            <a:xfrm>
              <a:off x="4694255" y="2560126"/>
              <a:ext cx="312666" cy="2360468"/>
              <a:chOff x="2627784" y="908720"/>
              <a:chExt cx="312666" cy="2360468"/>
            </a:xfrm>
          </p:grpSpPr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F61A3483-5912-F047-9EF1-F6220FBF9D7F}"/>
                  </a:ext>
                </a:extLst>
              </p:cNvPr>
              <p:cNvSpPr/>
              <p:nvPr/>
            </p:nvSpPr>
            <p:spPr bwMode="auto">
              <a:xfrm>
                <a:off x="2627784" y="908720"/>
                <a:ext cx="288032" cy="236046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3319BE84-DE1C-AD42-B2BB-91CF9395A294}"/>
                  </a:ext>
                </a:extLst>
              </p:cNvPr>
              <p:cNvSpPr/>
              <p:nvPr/>
            </p:nvSpPr>
            <p:spPr bwMode="auto">
              <a:xfrm>
                <a:off x="2663787" y="980728"/>
                <a:ext cx="216025" cy="216024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EFBA9F02-9553-D842-8A13-FB2542A857DA}"/>
                  </a:ext>
                </a:extLst>
              </p:cNvPr>
              <p:cNvSpPr/>
              <p:nvPr/>
            </p:nvSpPr>
            <p:spPr bwMode="auto">
              <a:xfrm>
                <a:off x="2673404" y="1285528"/>
                <a:ext cx="216025" cy="216024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C320ECB6-F9FB-E144-BA1E-CE186B1323F9}"/>
                  </a:ext>
                </a:extLst>
              </p:cNvPr>
              <p:cNvSpPr/>
              <p:nvPr/>
            </p:nvSpPr>
            <p:spPr bwMode="auto">
              <a:xfrm>
                <a:off x="2673403" y="1988840"/>
                <a:ext cx="216025" cy="216024"/>
              </a:xfrm>
              <a:prstGeom prst="ellipse">
                <a:avLst/>
              </a:prstGeom>
              <a:solidFill>
                <a:srgbClr val="10B55B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E8F8DF71-CFC9-0046-AE91-C5BFEC740A42}"/>
                  </a:ext>
                </a:extLst>
              </p:cNvPr>
              <p:cNvSpPr/>
              <p:nvPr/>
            </p:nvSpPr>
            <p:spPr bwMode="auto">
              <a:xfrm>
                <a:off x="2663787" y="2708920"/>
                <a:ext cx="216025" cy="216024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18EB4C87-BE30-1345-BCE0-220E4939DEE8}"/>
                  </a:ext>
                </a:extLst>
              </p:cNvPr>
              <p:cNvSpPr/>
              <p:nvPr/>
            </p:nvSpPr>
            <p:spPr bwMode="auto">
              <a:xfrm>
                <a:off x="2663786" y="2982606"/>
                <a:ext cx="216025" cy="216024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  <p:grpSp>
            <p:nvGrpSpPr>
              <p:cNvPr id="68" name="组合 67">
                <a:extLst>
                  <a:ext uri="{FF2B5EF4-FFF2-40B4-BE49-F238E27FC236}">
                    <a16:creationId xmlns:a16="http://schemas.microsoft.com/office/drawing/2014/main" id="{50E1AE9C-BB24-804F-8038-DFD37C704F34}"/>
                  </a:ext>
                </a:extLst>
              </p:cNvPr>
              <p:cNvGrpSpPr/>
              <p:nvPr/>
            </p:nvGrpSpPr>
            <p:grpSpPr>
              <a:xfrm>
                <a:off x="2652418" y="1327135"/>
                <a:ext cx="288032" cy="672173"/>
                <a:chOff x="1691680" y="3573016"/>
                <a:chExt cx="288032" cy="672173"/>
              </a:xfrm>
            </p:grpSpPr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568D9A63-457F-074A-AA50-14FD36B16086}"/>
                    </a:ext>
                  </a:extLst>
                </p:cNvPr>
                <p:cNvSpPr txBox="1"/>
                <p:nvPr/>
              </p:nvSpPr>
              <p:spPr>
                <a:xfrm>
                  <a:off x="1691680" y="3573016"/>
                  <a:ext cx="2880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000" b="1" dirty="0"/>
                    <a:t>.</a:t>
                  </a:r>
                  <a:endParaRPr kumimoji="1" lang="zh-CN" altLang="en-US" sz="2000" b="1" dirty="0"/>
                </a:p>
              </p:txBody>
            </p:sp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FAA7D1C8-36FE-2F42-8E30-18BF29774D5C}"/>
                    </a:ext>
                  </a:extLst>
                </p:cNvPr>
                <p:cNvSpPr txBox="1"/>
                <p:nvPr/>
              </p:nvSpPr>
              <p:spPr>
                <a:xfrm>
                  <a:off x="1691680" y="3717032"/>
                  <a:ext cx="2880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000" b="1" dirty="0"/>
                    <a:t>.</a:t>
                  </a:r>
                  <a:endParaRPr kumimoji="1" lang="zh-CN" altLang="en-US" sz="2000" b="1" dirty="0"/>
                </a:p>
              </p:txBody>
            </p:sp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B328238A-08BC-6945-9359-1283E3309482}"/>
                    </a:ext>
                  </a:extLst>
                </p:cNvPr>
                <p:cNvSpPr txBox="1"/>
                <p:nvPr/>
              </p:nvSpPr>
              <p:spPr>
                <a:xfrm>
                  <a:off x="1691680" y="3845079"/>
                  <a:ext cx="2880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000" b="1" dirty="0"/>
                    <a:t>.</a:t>
                  </a:r>
                  <a:endParaRPr kumimoji="1" lang="zh-CN" altLang="en-US" sz="2000" b="1" dirty="0"/>
                </a:p>
              </p:txBody>
            </p:sp>
          </p:grpSp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C029C03C-FB89-9D4C-9A93-386977890858}"/>
                  </a:ext>
                </a:extLst>
              </p:cNvPr>
              <p:cNvGrpSpPr/>
              <p:nvPr/>
            </p:nvGrpSpPr>
            <p:grpSpPr>
              <a:xfrm>
                <a:off x="2652234" y="2043846"/>
                <a:ext cx="288212" cy="664188"/>
                <a:chOff x="1691680" y="3581001"/>
                <a:chExt cx="288212" cy="664188"/>
              </a:xfrm>
            </p:grpSpPr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A6BAA61F-A004-D847-A838-37296487319D}"/>
                    </a:ext>
                  </a:extLst>
                </p:cNvPr>
                <p:cNvSpPr txBox="1"/>
                <p:nvPr/>
              </p:nvSpPr>
              <p:spPr>
                <a:xfrm>
                  <a:off x="1691860" y="3581001"/>
                  <a:ext cx="2880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000" b="1" dirty="0"/>
                    <a:t>.</a:t>
                  </a:r>
                  <a:endParaRPr kumimoji="1" lang="zh-CN" altLang="en-US" sz="2000" b="1" dirty="0"/>
                </a:p>
              </p:txBody>
            </p:sp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839F2A8B-3FEC-EE4D-97C3-73B0E0F461E6}"/>
                    </a:ext>
                  </a:extLst>
                </p:cNvPr>
                <p:cNvSpPr txBox="1"/>
                <p:nvPr/>
              </p:nvSpPr>
              <p:spPr>
                <a:xfrm>
                  <a:off x="1691680" y="3717032"/>
                  <a:ext cx="2880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000" b="1" dirty="0"/>
                    <a:t>.</a:t>
                  </a:r>
                  <a:endParaRPr kumimoji="1" lang="zh-CN" altLang="en-US" sz="2000" b="1" dirty="0"/>
                </a:p>
              </p:txBody>
            </p:sp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CD6CE221-0D7A-3044-A1AA-86ADD001E589}"/>
                    </a:ext>
                  </a:extLst>
                </p:cNvPr>
                <p:cNvSpPr txBox="1"/>
                <p:nvPr/>
              </p:nvSpPr>
              <p:spPr>
                <a:xfrm>
                  <a:off x="1691680" y="3845079"/>
                  <a:ext cx="2880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000" b="1" dirty="0"/>
                    <a:t>.</a:t>
                  </a:r>
                  <a:endParaRPr kumimoji="1" lang="zh-CN" altLang="en-US" sz="2000" b="1" dirty="0"/>
                </a:p>
              </p:txBody>
            </p:sp>
          </p:grpSp>
        </p:grp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6C655758-87F2-8F45-AA34-421DB44C0A10}"/>
                </a:ext>
              </a:extLst>
            </p:cNvPr>
            <p:cNvSpPr/>
            <p:nvPr/>
          </p:nvSpPr>
          <p:spPr bwMode="auto">
            <a:xfrm>
              <a:off x="2887969" y="2947117"/>
              <a:ext cx="266984" cy="157237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CE355B3A-F31D-B845-A966-F47DC95CCD87}"/>
                </a:ext>
              </a:extLst>
            </p:cNvPr>
            <p:cNvSpPr/>
            <p:nvPr/>
          </p:nvSpPr>
          <p:spPr bwMode="auto">
            <a:xfrm>
              <a:off x="2913600" y="2978541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9C52EFF6-9A55-8247-9815-B27AE5797145}"/>
                </a:ext>
              </a:extLst>
            </p:cNvPr>
            <p:cNvSpPr/>
            <p:nvPr/>
          </p:nvSpPr>
          <p:spPr bwMode="auto">
            <a:xfrm>
              <a:off x="2923976" y="3270639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73A66444-F698-EF4F-BA2A-58FB21F05B3D}"/>
                </a:ext>
              </a:extLst>
            </p:cNvPr>
            <p:cNvSpPr/>
            <p:nvPr/>
          </p:nvSpPr>
          <p:spPr bwMode="auto">
            <a:xfrm>
              <a:off x="2911341" y="3952393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D9B2F4FE-0772-9E45-A720-2B6295A42E97}"/>
                </a:ext>
              </a:extLst>
            </p:cNvPr>
            <p:cNvSpPr/>
            <p:nvPr/>
          </p:nvSpPr>
          <p:spPr bwMode="auto">
            <a:xfrm>
              <a:off x="2912419" y="4251428"/>
              <a:ext cx="216025" cy="21602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2615DAEA-3E7B-1A4E-9B9C-3DA9F20055C1}"/>
                </a:ext>
              </a:extLst>
            </p:cNvPr>
            <p:cNvSpPr txBox="1"/>
            <p:nvPr/>
          </p:nvSpPr>
          <p:spPr>
            <a:xfrm>
              <a:off x="2894514" y="3376531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/>
                <a:t>.</a:t>
              </a:r>
              <a:endParaRPr kumimoji="1" lang="zh-CN" altLang="en-US" sz="2000" b="1" dirty="0"/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02F91BC9-3237-E046-97AC-90D7F17020B5}"/>
                </a:ext>
              </a:extLst>
            </p:cNvPr>
            <p:cNvSpPr txBox="1"/>
            <p:nvPr/>
          </p:nvSpPr>
          <p:spPr>
            <a:xfrm>
              <a:off x="2894284" y="3547901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/>
                <a:t>.</a:t>
              </a:r>
              <a:endParaRPr kumimoji="1" lang="zh-CN" altLang="en-US" sz="2000" b="1" dirty="0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119788A-6C2F-FD48-A978-A9535EF4E921}"/>
                </a:ext>
              </a:extLst>
            </p:cNvPr>
            <p:cNvGrpSpPr/>
            <p:nvPr/>
          </p:nvGrpSpPr>
          <p:grpSpPr>
            <a:xfrm>
              <a:off x="886036" y="908720"/>
              <a:ext cx="312666" cy="1702552"/>
              <a:chOff x="1700262" y="1124744"/>
              <a:chExt cx="312666" cy="1702552"/>
            </a:xfrm>
          </p:grpSpPr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A1F8484F-6D54-8A45-8E26-54A1ADBB23CA}"/>
                  </a:ext>
                </a:extLst>
              </p:cNvPr>
              <p:cNvSpPr/>
              <p:nvPr/>
            </p:nvSpPr>
            <p:spPr bwMode="auto">
              <a:xfrm>
                <a:off x="1700262" y="1124744"/>
                <a:ext cx="288032" cy="1702552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  <p:sp>
            <p:nvSpPr>
              <p:cNvPr id="108" name="椭圆 107">
                <a:extLst>
                  <a:ext uri="{FF2B5EF4-FFF2-40B4-BE49-F238E27FC236}">
                    <a16:creationId xmlns:a16="http://schemas.microsoft.com/office/drawing/2014/main" id="{5B7F21B8-B3D3-9740-8BC9-E303D01EA1D1}"/>
                  </a:ext>
                </a:extLst>
              </p:cNvPr>
              <p:cNvSpPr/>
              <p:nvPr/>
            </p:nvSpPr>
            <p:spPr bwMode="auto">
              <a:xfrm>
                <a:off x="1736265" y="1196752"/>
                <a:ext cx="216025" cy="216024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  <p:sp>
            <p:nvSpPr>
              <p:cNvPr id="109" name="椭圆 108">
                <a:extLst>
                  <a:ext uri="{FF2B5EF4-FFF2-40B4-BE49-F238E27FC236}">
                    <a16:creationId xmlns:a16="http://schemas.microsoft.com/office/drawing/2014/main" id="{4467A775-7EE2-D245-A7D2-0C03B242F47F}"/>
                  </a:ext>
                </a:extLst>
              </p:cNvPr>
              <p:cNvSpPr/>
              <p:nvPr/>
            </p:nvSpPr>
            <p:spPr bwMode="auto">
              <a:xfrm>
                <a:off x="1745882" y="1484784"/>
                <a:ext cx="216025" cy="216024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  <p:sp>
            <p:nvSpPr>
              <p:cNvPr id="110" name="椭圆 109">
                <a:extLst>
                  <a:ext uri="{FF2B5EF4-FFF2-40B4-BE49-F238E27FC236}">
                    <a16:creationId xmlns:a16="http://schemas.microsoft.com/office/drawing/2014/main" id="{27F56D3E-EF70-994F-ACB1-C95AE420C3E2}"/>
                  </a:ext>
                </a:extLst>
              </p:cNvPr>
              <p:cNvSpPr/>
              <p:nvPr/>
            </p:nvSpPr>
            <p:spPr bwMode="auto">
              <a:xfrm>
                <a:off x="1741107" y="2041062"/>
                <a:ext cx="216025" cy="216024"/>
              </a:xfrm>
              <a:prstGeom prst="ellipse">
                <a:avLst/>
              </a:prstGeom>
              <a:solidFill>
                <a:srgbClr val="10B55B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  <p:sp>
            <p:nvSpPr>
              <p:cNvPr id="111" name="椭圆 110">
                <a:extLst>
                  <a:ext uri="{FF2B5EF4-FFF2-40B4-BE49-F238E27FC236}">
                    <a16:creationId xmlns:a16="http://schemas.microsoft.com/office/drawing/2014/main" id="{86A33407-3FB5-BF47-920D-EC3F75D06E3B}"/>
                  </a:ext>
                </a:extLst>
              </p:cNvPr>
              <p:cNvSpPr/>
              <p:nvPr/>
            </p:nvSpPr>
            <p:spPr bwMode="auto">
              <a:xfrm>
                <a:off x="1744699" y="2553181"/>
                <a:ext cx="216025" cy="216024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  <p:grpSp>
            <p:nvGrpSpPr>
              <p:cNvPr id="113" name="组合 112">
                <a:extLst>
                  <a:ext uri="{FF2B5EF4-FFF2-40B4-BE49-F238E27FC236}">
                    <a16:creationId xmlns:a16="http://schemas.microsoft.com/office/drawing/2014/main" id="{F7F811EF-6743-FD41-8AEF-BBDD2BC815E8}"/>
                  </a:ext>
                </a:extLst>
              </p:cNvPr>
              <p:cNvGrpSpPr/>
              <p:nvPr/>
            </p:nvGrpSpPr>
            <p:grpSpPr>
              <a:xfrm>
                <a:off x="1724896" y="1516722"/>
                <a:ext cx="288032" cy="512188"/>
                <a:chOff x="1691680" y="3523381"/>
                <a:chExt cx="288032" cy="512188"/>
              </a:xfrm>
            </p:grpSpPr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176F535B-AED8-424B-AC11-91BC195586CC}"/>
                    </a:ext>
                  </a:extLst>
                </p:cNvPr>
                <p:cNvSpPr txBox="1"/>
                <p:nvPr/>
              </p:nvSpPr>
              <p:spPr>
                <a:xfrm>
                  <a:off x="1691680" y="3635459"/>
                  <a:ext cx="2880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000" b="1" dirty="0"/>
                    <a:t>.</a:t>
                  </a:r>
                  <a:endParaRPr kumimoji="1" lang="zh-CN" altLang="en-US" sz="2000" b="1" dirty="0"/>
                </a:p>
              </p:txBody>
            </p:sp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A327F3DA-FF98-104D-9CC4-B3B52C123851}"/>
                    </a:ext>
                  </a:extLst>
                </p:cNvPr>
                <p:cNvSpPr txBox="1"/>
                <p:nvPr/>
              </p:nvSpPr>
              <p:spPr>
                <a:xfrm>
                  <a:off x="1691680" y="3523381"/>
                  <a:ext cx="2880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000" b="1" dirty="0"/>
                    <a:t>.</a:t>
                  </a:r>
                  <a:endParaRPr kumimoji="1" lang="zh-CN" altLang="en-US" sz="2000" b="1" dirty="0"/>
                </a:p>
              </p:txBody>
            </p:sp>
          </p:grpSp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C8EFA8CF-EEDD-EB45-A687-A948988CBE3D}"/>
                  </a:ext>
                </a:extLst>
              </p:cNvPr>
              <p:cNvSpPr txBox="1"/>
              <p:nvPr/>
            </p:nvSpPr>
            <p:spPr>
              <a:xfrm>
                <a:off x="1723782" y="2096355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3568A109-0D0D-054D-A879-B927E5DFD226}"/>
                  </a:ext>
                </a:extLst>
              </p:cNvPr>
              <p:cNvSpPr txBox="1"/>
              <p:nvPr/>
            </p:nvSpPr>
            <p:spPr>
              <a:xfrm>
                <a:off x="1723782" y="2197278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CF13F23A-FE0D-B243-A6EC-F201FFF3A08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62273" y="918485"/>
              <a:ext cx="1713056" cy="201985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2" name="直线连接符 121">
              <a:extLst>
                <a:ext uri="{FF2B5EF4-FFF2-40B4-BE49-F238E27FC236}">
                  <a16:creationId xmlns:a16="http://schemas.microsoft.com/office/drawing/2014/main" id="{3522A861-55D0-3F42-BE7B-185F888E755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71329" y="2606760"/>
              <a:ext cx="1703399" cy="189807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2B205559-F4D2-B34F-B91F-F36B2FFFB490}"/>
                </a:ext>
              </a:extLst>
            </p:cNvPr>
            <p:cNvGrpSpPr/>
            <p:nvPr/>
          </p:nvGrpSpPr>
          <p:grpSpPr>
            <a:xfrm>
              <a:off x="880290" y="2852936"/>
              <a:ext cx="312666" cy="1702552"/>
              <a:chOff x="1700262" y="1124744"/>
              <a:chExt cx="312666" cy="1702552"/>
            </a:xfrm>
          </p:grpSpPr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4C419869-C6E2-CA45-98E5-25049D63592A}"/>
                  </a:ext>
                </a:extLst>
              </p:cNvPr>
              <p:cNvSpPr/>
              <p:nvPr/>
            </p:nvSpPr>
            <p:spPr bwMode="auto">
              <a:xfrm>
                <a:off x="1700262" y="1124744"/>
                <a:ext cx="288032" cy="1702552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  <p:sp>
            <p:nvSpPr>
              <p:cNvPr id="126" name="椭圆 125">
                <a:extLst>
                  <a:ext uri="{FF2B5EF4-FFF2-40B4-BE49-F238E27FC236}">
                    <a16:creationId xmlns:a16="http://schemas.microsoft.com/office/drawing/2014/main" id="{D3AADC20-72AF-5344-BC81-23356DB87BB3}"/>
                  </a:ext>
                </a:extLst>
              </p:cNvPr>
              <p:cNvSpPr/>
              <p:nvPr/>
            </p:nvSpPr>
            <p:spPr bwMode="auto">
              <a:xfrm>
                <a:off x="1736265" y="1196752"/>
                <a:ext cx="216025" cy="216024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  <p:sp>
            <p:nvSpPr>
              <p:cNvPr id="127" name="椭圆 126">
                <a:extLst>
                  <a:ext uri="{FF2B5EF4-FFF2-40B4-BE49-F238E27FC236}">
                    <a16:creationId xmlns:a16="http://schemas.microsoft.com/office/drawing/2014/main" id="{CFE59EB5-8A28-B14F-A14B-E92326EFE0F9}"/>
                  </a:ext>
                </a:extLst>
              </p:cNvPr>
              <p:cNvSpPr/>
              <p:nvPr/>
            </p:nvSpPr>
            <p:spPr bwMode="auto">
              <a:xfrm>
                <a:off x="1745882" y="1484784"/>
                <a:ext cx="216025" cy="216024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  <p:sp>
            <p:nvSpPr>
              <p:cNvPr id="128" name="椭圆 127">
                <a:extLst>
                  <a:ext uri="{FF2B5EF4-FFF2-40B4-BE49-F238E27FC236}">
                    <a16:creationId xmlns:a16="http://schemas.microsoft.com/office/drawing/2014/main" id="{D1D9EF37-FD00-274C-BEA5-003809434C56}"/>
                  </a:ext>
                </a:extLst>
              </p:cNvPr>
              <p:cNvSpPr/>
              <p:nvPr/>
            </p:nvSpPr>
            <p:spPr bwMode="auto">
              <a:xfrm>
                <a:off x="1741107" y="2041062"/>
                <a:ext cx="216025" cy="216024"/>
              </a:xfrm>
              <a:prstGeom prst="ellipse">
                <a:avLst/>
              </a:prstGeom>
              <a:solidFill>
                <a:srgbClr val="10B55B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  <p:sp>
            <p:nvSpPr>
              <p:cNvPr id="129" name="椭圆 128">
                <a:extLst>
                  <a:ext uri="{FF2B5EF4-FFF2-40B4-BE49-F238E27FC236}">
                    <a16:creationId xmlns:a16="http://schemas.microsoft.com/office/drawing/2014/main" id="{6CE692DC-D0BF-4046-ABD1-F490B223F79C}"/>
                  </a:ext>
                </a:extLst>
              </p:cNvPr>
              <p:cNvSpPr/>
              <p:nvPr/>
            </p:nvSpPr>
            <p:spPr bwMode="auto">
              <a:xfrm>
                <a:off x="1744699" y="2553181"/>
                <a:ext cx="216025" cy="216024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  <p:grpSp>
            <p:nvGrpSpPr>
              <p:cNvPr id="130" name="组合 129">
                <a:extLst>
                  <a:ext uri="{FF2B5EF4-FFF2-40B4-BE49-F238E27FC236}">
                    <a16:creationId xmlns:a16="http://schemas.microsoft.com/office/drawing/2014/main" id="{1D8ED716-B8F8-7F48-8F12-13A2CAFFCDF4}"/>
                  </a:ext>
                </a:extLst>
              </p:cNvPr>
              <p:cNvGrpSpPr/>
              <p:nvPr/>
            </p:nvGrpSpPr>
            <p:grpSpPr>
              <a:xfrm>
                <a:off x="1724896" y="1516722"/>
                <a:ext cx="288032" cy="512188"/>
                <a:chOff x="1691680" y="3523381"/>
                <a:chExt cx="288032" cy="512188"/>
              </a:xfrm>
            </p:grpSpPr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BA04A257-FEB0-0344-A169-A15B7CA69214}"/>
                    </a:ext>
                  </a:extLst>
                </p:cNvPr>
                <p:cNvSpPr txBox="1"/>
                <p:nvPr/>
              </p:nvSpPr>
              <p:spPr>
                <a:xfrm>
                  <a:off x="1691680" y="3635459"/>
                  <a:ext cx="2880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000" b="1" dirty="0"/>
                    <a:t>.</a:t>
                  </a:r>
                  <a:endParaRPr kumimoji="1" lang="zh-CN" altLang="en-US" sz="2000" b="1" dirty="0"/>
                </a:p>
              </p:txBody>
            </p:sp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E9E935DC-1935-B74D-8BD2-81B354D0AEFE}"/>
                    </a:ext>
                  </a:extLst>
                </p:cNvPr>
                <p:cNvSpPr txBox="1"/>
                <p:nvPr/>
              </p:nvSpPr>
              <p:spPr>
                <a:xfrm>
                  <a:off x="1691680" y="3523381"/>
                  <a:ext cx="2880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000" b="1" dirty="0"/>
                    <a:t>.</a:t>
                  </a:r>
                  <a:endParaRPr kumimoji="1" lang="zh-CN" altLang="en-US" sz="2000" b="1" dirty="0"/>
                </a:p>
              </p:txBody>
            </p:sp>
          </p:grpSp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40487E6F-3ED6-764D-9FB4-A70CE575B98D}"/>
                  </a:ext>
                </a:extLst>
              </p:cNvPr>
              <p:cNvSpPr txBox="1"/>
              <p:nvPr/>
            </p:nvSpPr>
            <p:spPr>
              <a:xfrm>
                <a:off x="1723782" y="2096355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02C2D23D-433F-2D40-8639-C7280EEB8A46}"/>
                  </a:ext>
                </a:extLst>
              </p:cNvPr>
              <p:cNvSpPr txBox="1"/>
              <p:nvPr/>
            </p:nvSpPr>
            <p:spPr>
              <a:xfrm>
                <a:off x="1723782" y="2197278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grpSp>
          <p:nvGrpSpPr>
            <p:cNvPr id="135" name="组合 134">
              <a:extLst>
                <a:ext uri="{FF2B5EF4-FFF2-40B4-BE49-F238E27FC236}">
                  <a16:creationId xmlns:a16="http://schemas.microsoft.com/office/drawing/2014/main" id="{B2B74BB8-0284-C747-B073-E25270D4DB26}"/>
                </a:ext>
              </a:extLst>
            </p:cNvPr>
            <p:cNvGrpSpPr/>
            <p:nvPr/>
          </p:nvGrpSpPr>
          <p:grpSpPr>
            <a:xfrm>
              <a:off x="879176" y="4750784"/>
              <a:ext cx="312666" cy="1702552"/>
              <a:chOff x="1700262" y="1124744"/>
              <a:chExt cx="312666" cy="1702552"/>
            </a:xfrm>
          </p:grpSpPr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FEFAE8CC-10E5-C64F-9068-05115A13BF97}"/>
                  </a:ext>
                </a:extLst>
              </p:cNvPr>
              <p:cNvSpPr/>
              <p:nvPr/>
            </p:nvSpPr>
            <p:spPr bwMode="auto">
              <a:xfrm>
                <a:off x="1700262" y="1124744"/>
                <a:ext cx="288032" cy="1702552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  <p:sp>
            <p:nvSpPr>
              <p:cNvPr id="137" name="椭圆 136">
                <a:extLst>
                  <a:ext uri="{FF2B5EF4-FFF2-40B4-BE49-F238E27FC236}">
                    <a16:creationId xmlns:a16="http://schemas.microsoft.com/office/drawing/2014/main" id="{E11DEC8A-7A0E-394C-9C1D-D025F35ADBAD}"/>
                  </a:ext>
                </a:extLst>
              </p:cNvPr>
              <p:cNvSpPr/>
              <p:nvPr/>
            </p:nvSpPr>
            <p:spPr bwMode="auto">
              <a:xfrm>
                <a:off x="1736265" y="1196752"/>
                <a:ext cx="216025" cy="216024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  <p:sp>
            <p:nvSpPr>
              <p:cNvPr id="138" name="椭圆 137">
                <a:extLst>
                  <a:ext uri="{FF2B5EF4-FFF2-40B4-BE49-F238E27FC236}">
                    <a16:creationId xmlns:a16="http://schemas.microsoft.com/office/drawing/2014/main" id="{925ED3AF-41FC-FF4D-A576-D4A35D782E77}"/>
                  </a:ext>
                </a:extLst>
              </p:cNvPr>
              <p:cNvSpPr/>
              <p:nvPr/>
            </p:nvSpPr>
            <p:spPr bwMode="auto">
              <a:xfrm>
                <a:off x="1745882" y="1484784"/>
                <a:ext cx="216025" cy="216024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  <p:sp>
            <p:nvSpPr>
              <p:cNvPr id="139" name="椭圆 138">
                <a:extLst>
                  <a:ext uri="{FF2B5EF4-FFF2-40B4-BE49-F238E27FC236}">
                    <a16:creationId xmlns:a16="http://schemas.microsoft.com/office/drawing/2014/main" id="{15BB36D3-B5BF-8C4B-8C6A-9BE2E22B73A8}"/>
                  </a:ext>
                </a:extLst>
              </p:cNvPr>
              <p:cNvSpPr/>
              <p:nvPr/>
            </p:nvSpPr>
            <p:spPr bwMode="auto">
              <a:xfrm>
                <a:off x="1741107" y="2041062"/>
                <a:ext cx="216025" cy="216024"/>
              </a:xfrm>
              <a:prstGeom prst="ellipse">
                <a:avLst/>
              </a:prstGeom>
              <a:solidFill>
                <a:srgbClr val="10B55B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  <p:sp>
            <p:nvSpPr>
              <p:cNvPr id="140" name="椭圆 139">
                <a:extLst>
                  <a:ext uri="{FF2B5EF4-FFF2-40B4-BE49-F238E27FC236}">
                    <a16:creationId xmlns:a16="http://schemas.microsoft.com/office/drawing/2014/main" id="{D10DEF53-E41F-9647-B72F-5D13AB7A485E}"/>
                  </a:ext>
                </a:extLst>
              </p:cNvPr>
              <p:cNvSpPr/>
              <p:nvPr/>
            </p:nvSpPr>
            <p:spPr bwMode="auto">
              <a:xfrm>
                <a:off x="1744699" y="2553181"/>
                <a:ext cx="216025" cy="216024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  <p:grpSp>
            <p:nvGrpSpPr>
              <p:cNvPr id="141" name="组合 140">
                <a:extLst>
                  <a:ext uri="{FF2B5EF4-FFF2-40B4-BE49-F238E27FC236}">
                    <a16:creationId xmlns:a16="http://schemas.microsoft.com/office/drawing/2014/main" id="{C0407753-9165-8744-B937-2076928B266E}"/>
                  </a:ext>
                </a:extLst>
              </p:cNvPr>
              <p:cNvGrpSpPr/>
              <p:nvPr/>
            </p:nvGrpSpPr>
            <p:grpSpPr>
              <a:xfrm>
                <a:off x="1724896" y="1516722"/>
                <a:ext cx="288032" cy="512188"/>
                <a:chOff x="1691680" y="3523381"/>
                <a:chExt cx="288032" cy="512188"/>
              </a:xfrm>
            </p:grpSpPr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7A115CE5-D128-AD4B-B145-996DCB589ECD}"/>
                    </a:ext>
                  </a:extLst>
                </p:cNvPr>
                <p:cNvSpPr txBox="1"/>
                <p:nvPr/>
              </p:nvSpPr>
              <p:spPr>
                <a:xfrm>
                  <a:off x="1691680" y="3635459"/>
                  <a:ext cx="2880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000" b="1" dirty="0"/>
                    <a:t>.</a:t>
                  </a:r>
                  <a:endParaRPr kumimoji="1" lang="zh-CN" altLang="en-US" sz="2000" b="1" dirty="0"/>
                </a:p>
              </p:txBody>
            </p:sp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62F24C89-DF84-2245-8033-4DD126A028DB}"/>
                    </a:ext>
                  </a:extLst>
                </p:cNvPr>
                <p:cNvSpPr txBox="1"/>
                <p:nvPr/>
              </p:nvSpPr>
              <p:spPr>
                <a:xfrm>
                  <a:off x="1691680" y="3523381"/>
                  <a:ext cx="2880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000" b="1" dirty="0"/>
                    <a:t>.</a:t>
                  </a:r>
                  <a:endParaRPr kumimoji="1" lang="zh-CN" altLang="en-US" sz="2000" b="1" dirty="0"/>
                </a:p>
              </p:txBody>
            </p:sp>
          </p:grpSp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B697D653-D91F-314D-9D2C-885FB2820C7F}"/>
                  </a:ext>
                </a:extLst>
              </p:cNvPr>
              <p:cNvSpPr txBox="1"/>
              <p:nvPr/>
            </p:nvSpPr>
            <p:spPr>
              <a:xfrm>
                <a:off x="1723782" y="2096355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3D8348E2-548B-5D43-A28D-6E3DBA7DFE07}"/>
                  </a:ext>
                </a:extLst>
              </p:cNvPr>
              <p:cNvSpPr txBox="1"/>
              <p:nvPr/>
            </p:nvSpPr>
            <p:spPr>
              <a:xfrm>
                <a:off x="1723782" y="2197278"/>
                <a:ext cx="288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b="1" dirty="0"/>
                  <a:t>.</a:t>
                </a:r>
                <a:endParaRPr kumimoji="1" lang="zh-CN" altLang="en-US" sz="2000" b="1" dirty="0"/>
              </a:p>
            </p:txBody>
          </p:sp>
        </p:grpSp>
        <p:cxnSp>
          <p:nvCxnSpPr>
            <p:cNvPr id="146" name="直线连接符 145">
              <a:extLst>
                <a:ext uri="{FF2B5EF4-FFF2-40B4-BE49-F238E27FC236}">
                  <a16:creationId xmlns:a16="http://schemas.microsoft.com/office/drawing/2014/main" id="{7152E9F8-04D3-4644-9F4B-F09545C1B9D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52422" y="2850746"/>
              <a:ext cx="1755146" cy="10702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直线连接符 146">
              <a:extLst>
                <a:ext uri="{FF2B5EF4-FFF2-40B4-BE49-F238E27FC236}">
                  <a16:creationId xmlns:a16="http://schemas.microsoft.com/office/drawing/2014/main" id="{4370A7D6-8C6C-BB45-B5C9-07CC4731C41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174068" y="4498125"/>
              <a:ext cx="1720446" cy="5736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19729F2B-F027-0C44-A32A-7B4125BCA40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167208" y="4495591"/>
              <a:ext cx="1720761" cy="195701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直线连接符 148">
              <a:extLst>
                <a:ext uri="{FF2B5EF4-FFF2-40B4-BE49-F238E27FC236}">
                  <a16:creationId xmlns:a16="http://schemas.microsoft.com/office/drawing/2014/main" id="{1EDBE4AC-33D8-1A40-AE87-1F1E478EA18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149415" y="2947117"/>
              <a:ext cx="1738324" cy="179742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C9B7B4B2-842A-E24C-9181-786CFE1508F7}"/>
              </a:ext>
            </a:extLst>
          </p:cNvPr>
          <p:cNvGrpSpPr/>
          <p:nvPr/>
        </p:nvGrpSpPr>
        <p:grpSpPr>
          <a:xfrm>
            <a:off x="1735295" y="2293764"/>
            <a:ext cx="545021" cy="2385012"/>
            <a:chOff x="2203064" y="838069"/>
            <a:chExt cx="545021" cy="2385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1EBA330B-E92E-9149-8328-688089234BDB}"/>
                    </a:ext>
                  </a:extLst>
                </p:cNvPr>
                <p:cNvSpPr txBox="1"/>
                <p:nvPr/>
              </p:nvSpPr>
              <p:spPr>
                <a:xfrm>
                  <a:off x="2211615" y="838069"/>
                  <a:ext cx="50263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1EBA330B-E92E-9149-8328-688089234B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615" y="838069"/>
                  <a:ext cx="502637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304C991B-E72B-2F4B-8FF9-A2C146B1DD27}"/>
                    </a:ext>
                  </a:extLst>
                </p:cNvPr>
                <p:cNvSpPr txBox="1"/>
                <p:nvPr/>
              </p:nvSpPr>
              <p:spPr>
                <a:xfrm>
                  <a:off x="2216141" y="1154052"/>
                  <a:ext cx="50860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304C991B-E72B-2F4B-8FF9-A2C146B1D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141" y="1154052"/>
                  <a:ext cx="508601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20B5F48A-DAFB-5C40-9EF0-377532419D22}"/>
                    </a:ext>
                  </a:extLst>
                </p:cNvPr>
                <p:cNvSpPr txBox="1"/>
                <p:nvPr/>
              </p:nvSpPr>
              <p:spPr>
                <a:xfrm>
                  <a:off x="2203987" y="1862057"/>
                  <a:ext cx="5189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20B5F48A-DAFB-5C40-9EF0-377532419D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987" y="1862057"/>
                  <a:ext cx="518925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DFB5CA57-D248-414D-94A3-541E85217CFE}"/>
                    </a:ext>
                  </a:extLst>
                </p:cNvPr>
                <p:cNvSpPr txBox="1"/>
                <p:nvPr/>
              </p:nvSpPr>
              <p:spPr>
                <a:xfrm>
                  <a:off x="2203064" y="2822971"/>
                  <a:ext cx="54502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DFB5CA57-D248-414D-94A3-541E85217C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064" y="2822971"/>
                  <a:ext cx="545021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2" name="文本框 111">
            <a:extLst>
              <a:ext uri="{FF2B5EF4-FFF2-40B4-BE49-F238E27FC236}">
                <a16:creationId xmlns:a16="http://schemas.microsoft.com/office/drawing/2014/main" id="{664CCCFB-EE10-FC49-9B6C-04F8C66A9E74}"/>
              </a:ext>
            </a:extLst>
          </p:cNvPr>
          <p:cNvSpPr txBox="1"/>
          <p:nvPr/>
        </p:nvSpPr>
        <p:spPr>
          <a:xfrm>
            <a:off x="1900046" y="154340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输入层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772B400B-AF5F-2A4C-8E39-18291E81E5CA}"/>
              </a:ext>
            </a:extLst>
          </p:cNvPr>
          <p:cNvSpPr txBox="1"/>
          <p:nvPr/>
        </p:nvSpPr>
        <p:spPr>
          <a:xfrm>
            <a:off x="3911455" y="212191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隐</a:t>
            </a:r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层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0F2DE975-8F08-BF41-BDF2-60476A719CD3}"/>
              </a:ext>
            </a:extLst>
          </p:cNvPr>
          <p:cNvSpPr txBox="1"/>
          <p:nvPr/>
        </p:nvSpPr>
        <p:spPr>
          <a:xfrm>
            <a:off x="5157632" y="69060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输出层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5BE345D1-A5E1-BF43-AB45-4DA1FC29FEFF}"/>
                  </a:ext>
                </a:extLst>
              </p:cNvPr>
              <p:cNvSpPr txBox="1"/>
              <p:nvPr/>
            </p:nvSpPr>
            <p:spPr>
              <a:xfrm>
                <a:off x="6588224" y="1304068"/>
                <a:ext cx="382862" cy="3341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5BE345D1-A5E1-BF43-AB45-4DA1FC29F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1304068"/>
                <a:ext cx="382862" cy="334194"/>
              </a:xfrm>
              <a:prstGeom prst="rect">
                <a:avLst/>
              </a:prstGeom>
              <a:blipFill>
                <a:blip r:embed="rId7"/>
                <a:stretch>
                  <a:fillRect l="-9375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FD8DF455-AA27-4844-A6BB-70AD8422FAAB}"/>
                  </a:ext>
                </a:extLst>
              </p:cNvPr>
              <p:cNvSpPr txBox="1"/>
              <p:nvPr/>
            </p:nvSpPr>
            <p:spPr>
              <a:xfrm>
                <a:off x="6588224" y="3209528"/>
                <a:ext cx="382861" cy="3341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FD8DF455-AA27-4844-A6BB-70AD8422F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3209528"/>
                <a:ext cx="382861" cy="334194"/>
              </a:xfrm>
              <a:prstGeom prst="rect">
                <a:avLst/>
              </a:prstGeom>
              <a:blipFill>
                <a:blip r:embed="rId8"/>
                <a:stretch>
                  <a:fillRect l="-9375" b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3FF321E1-1C3B-4B4E-A33B-B1AD1AA517EB}"/>
                  </a:ext>
                </a:extLst>
              </p:cNvPr>
              <p:cNvSpPr txBox="1"/>
              <p:nvPr/>
            </p:nvSpPr>
            <p:spPr>
              <a:xfrm>
                <a:off x="6565402" y="5134020"/>
                <a:ext cx="401392" cy="336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3FF321E1-1C3B-4B4E-A33B-B1AD1AA51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402" y="5134020"/>
                <a:ext cx="401392" cy="336182"/>
              </a:xfrm>
              <a:prstGeom prst="rect">
                <a:avLst/>
              </a:prstGeom>
              <a:blipFill>
                <a:blip r:embed="rId9"/>
                <a:stretch>
                  <a:fillRect l="-9091" b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200D0875-8215-AA46-8727-37C452A79521}"/>
                  </a:ext>
                </a:extLst>
              </p:cNvPr>
              <p:cNvSpPr txBox="1"/>
              <p:nvPr/>
            </p:nvSpPr>
            <p:spPr>
              <a:xfrm>
                <a:off x="4080631" y="4360634"/>
                <a:ext cx="4571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𝐡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200D0875-8215-AA46-8727-37C452A79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631" y="4360634"/>
                <a:ext cx="457176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CC99BF4F-769A-B541-8542-B4E7A6CA5DD7}"/>
                  </a:ext>
                </a:extLst>
              </p:cNvPr>
              <p:cNvSpPr txBox="1"/>
              <p:nvPr/>
            </p:nvSpPr>
            <p:spPr>
              <a:xfrm>
                <a:off x="3204530" y="3341300"/>
                <a:ext cx="3606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CC99BF4F-769A-B541-8542-B4E7A6CA5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530" y="3341300"/>
                <a:ext cx="360675" cy="430887"/>
              </a:xfrm>
              <a:prstGeom prst="rect">
                <a:avLst/>
              </a:prstGeom>
              <a:blipFill>
                <a:blip r:embed="rId11"/>
                <a:stretch>
                  <a:fillRect l="-17241" r="-20690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F2C3AA91-74B6-D84A-B315-619345B36C88}"/>
                  </a:ext>
                </a:extLst>
              </p:cNvPr>
              <p:cNvSpPr txBox="1"/>
              <p:nvPr/>
            </p:nvSpPr>
            <p:spPr>
              <a:xfrm>
                <a:off x="5468774" y="2074914"/>
                <a:ext cx="33182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𝐕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F2C3AA91-74B6-D84A-B315-619345B36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774" y="2074914"/>
                <a:ext cx="331822" cy="430887"/>
              </a:xfrm>
              <a:prstGeom prst="rect">
                <a:avLst/>
              </a:prstGeom>
              <a:blipFill>
                <a:blip r:embed="rId12"/>
                <a:stretch>
                  <a:fillRect l="-22222" r="-22222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0947A48F-3A50-C64D-B2D9-D17000A490CE}"/>
                  </a:ext>
                </a:extLst>
              </p:cNvPr>
              <p:cNvSpPr txBox="1"/>
              <p:nvPr/>
            </p:nvSpPr>
            <p:spPr>
              <a:xfrm>
                <a:off x="5479845" y="3311261"/>
                <a:ext cx="33182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𝐕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0947A48F-3A50-C64D-B2D9-D17000A49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845" y="3311261"/>
                <a:ext cx="331822" cy="430887"/>
              </a:xfrm>
              <a:prstGeom prst="rect">
                <a:avLst/>
              </a:prstGeom>
              <a:blipFill>
                <a:blip r:embed="rId13"/>
                <a:stretch>
                  <a:fillRect l="-22222" r="-22222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F525DE60-B75B-3E40-9711-A34386D8AEEF}"/>
                  </a:ext>
                </a:extLst>
              </p:cNvPr>
              <p:cNvSpPr txBox="1"/>
              <p:nvPr/>
            </p:nvSpPr>
            <p:spPr>
              <a:xfrm>
                <a:off x="5444351" y="4741152"/>
                <a:ext cx="33182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𝐕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F525DE60-B75B-3E40-9711-A34386D8A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4351" y="4741152"/>
                <a:ext cx="331822" cy="430887"/>
              </a:xfrm>
              <a:prstGeom prst="rect">
                <a:avLst/>
              </a:prstGeom>
              <a:blipFill>
                <a:blip r:embed="rId14"/>
                <a:stretch>
                  <a:fillRect l="-21429" r="-17857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文本框 168">
            <a:extLst>
              <a:ext uri="{FF2B5EF4-FFF2-40B4-BE49-F238E27FC236}">
                <a16:creationId xmlns:a16="http://schemas.microsoft.com/office/drawing/2014/main" id="{ADBC9738-0AE3-7444-9BF7-0FD971A4B0B6}"/>
              </a:ext>
            </a:extLst>
          </p:cNvPr>
          <p:cNvSpPr txBox="1"/>
          <p:nvPr/>
        </p:nvSpPr>
        <p:spPr>
          <a:xfrm>
            <a:off x="6467058" y="4095483"/>
            <a:ext cx="314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.</a:t>
            </a:r>
            <a:endParaRPr kumimoji="1" lang="zh-CN" altLang="en-US" dirty="0"/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46052FEA-91D8-DC46-BDFD-993B6E37A0F9}"/>
              </a:ext>
            </a:extLst>
          </p:cNvPr>
          <p:cNvSpPr txBox="1"/>
          <p:nvPr/>
        </p:nvSpPr>
        <p:spPr>
          <a:xfrm>
            <a:off x="6467057" y="4222038"/>
            <a:ext cx="314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.</a:t>
            </a:r>
            <a:endParaRPr kumimoji="1" lang="zh-CN" altLang="en-US" dirty="0"/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86FE6D1A-DE28-BB4C-ACCB-28F55A72DA6D}"/>
              </a:ext>
            </a:extLst>
          </p:cNvPr>
          <p:cNvSpPr txBox="1"/>
          <p:nvPr/>
        </p:nvSpPr>
        <p:spPr>
          <a:xfrm>
            <a:off x="6467056" y="4348593"/>
            <a:ext cx="314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.</a:t>
            </a:r>
            <a:endParaRPr kumimoji="1" lang="zh-CN" altLang="en-US" dirty="0"/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8C37B3C5-EC12-2546-B833-7E8FAAC2431C}"/>
              </a:ext>
            </a:extLst>
          </p:cNvPr>
          <p:cNvSpPr txBox="1"/>
          <p:nvPr/>
        </p:nvSpPr>
        <p:spPr>
          <a:xfrm>
            <a:off x="1024816" y="331692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小猫</a:t>
            </a:r>
            <a:endParaRPr kumimoji="1" lang="zh-CN" altLang="en-US" sz="2000" b="1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D742A201-07AC-8C40-A5C0-66624C49AD08}"/>
              </a:ext>
            </a:extLst>
          </p:cNvPr>
          <p:cNvSpPr txBox="1"/>
          <p:nvPr/>
        </p:nvSpPr>
        <p:spPr>
          <a:xfrm>
            <a:off x="6745160" y="2496465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CN" altLang="en-US" sz="2000" b="1" dirty="0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BDD84423-F21F-C84E-819B-73AB1A76D04E}"/>
              </a:ext>
            </a:extLst>
          </p:cNvPr>
          <p:cNvSpPr txBox="1"/>
          <p:nvPr/>
        </p:nvSpPr>
        <p:spPr>
          <a:xfrm>
            <a:off x="7020452" y="313066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一只</a:t>
            </a: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533A907A-DA7C-0342-8771-F3655F5E6320}"/>
              </a:ext>
            </a:extLst>
          </p:cNvPr>
          <p:cNvSpPr txBox="1"/>
          <p:nvPr/>
        </p:nvSpPr>
        <p:spPr>
          <a:xfrm>
            <a:off x="7070605" y="1287878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看见</a:t>
            </a:r>
            <a:endParaRPr kumimoji="1" lang="zh-CN" altLang="en-US" sz="2000" b="1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07881603-6A55-6E47-8924-1A6F5C5A0F96}"/>
              </a:ext>
            </a:extLst>
          </p:cNvPr>
          <p:cNvSpPr txBox="1"/>
          <p:nvPr/>
        </p:nvSpPr>
        <p:spPr>
          <a:xfrm>
            <a:off x="7031084" y="512994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跑进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3837E8-60A4-0A4C-AD5D-220CA0B44F88}"/>
              </a:ext>
            </a:extLst>
          </p:cNvPr>
          <p:cNvSpPr txBox="1"/>
          <p:nvPr/>
        </p:nvSpPr>
        <p:spPr>
          <a:xfrm>
            <a:off x="0" y="6320587"/>
            <a:ext cx="30559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i="1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https://</a:t>
            </a:r>
            <a:r>
              <a:rPr kumimoji="1" lang="en-US" altLang="zh-CN" sz="1600" i="1" dirty="0" err="1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arxiv.org</a:t>
            </a:r>
            <a:r>
              <a:rPr kumimoji="1" lang="en-US" altLang="zh-CN" sz="1600" i="1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/pdf/1411.2738.pdf</a:t>
            </a:r>
            <a:endParaRPr kumimoji="1" lang="zh-CN" altLang="en-US" sz="1600" i="1" dirty="0">
              <a:latin typeface="Times New Roman" panose="02020603050405020304" pitchFamily="18" charset="0"/>
              <a:ea typeface="STKaiti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C8D58909-0B04-534B-9D57-4B397308D9F2}"/>
                  </a:ext>
                </a:extLst>
              </p:cNvPr>
              <p:cNvSpPr txBox="1"/>
              <p:nvPr/>
            </p:nvSpPr>
            <p:spPr>
              <a:xfrm>
                <a:off x="1503" y="5157192"/>
                <a:ext cx="3562385" cy="3583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kumimoji="1"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1" lang="zh-CN" altLang="en-US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kumimoji="1" lang="zh-CN" alt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kumimoji="1"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1"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0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C8D58909-0B04-534B-9D57-4B397308D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" y="5157192"/>
                <a:ext cx="3562385" cy="358303"/>
              </a:xfrm>
              <a:prstGeom prst="rect">
                <a:avLst/>
              </a:prstGeom>
              <a:blipFill>
                <a:blip r:embed="rId15"/>
                <a:stretch>
                  <a:fillRect l="-1068" b="-24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18EE62AC-1743-8A49-B507-17C168514193}"/>
                  </a:ext>
                </a:extLst>
              </p:cNvPr>
              <p:cNvSpPr txBox="1"/>
              <p:nvPr/>
            </p:nvSpPr>
            <p:spPr>
              <a:xfrm>
                <a:off x="179512" y="5589240"/>
                <a:ext cx="5624232" cy="631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1" lang="zh-CN" altLang="en-US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kumimoji="1" lang="zh-CN" alt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∏"/>
                          <m:limLoc m:val="subSup"/>
                          <m:ctrlPr>
                            <a:rPr kumimoji="1"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kumimoji="1"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  <m:e>
                          <m:r>
                            <a:rPr kumimoji="1"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=−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kumimoji="1"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kumimoji="1"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0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18EE62AC-1743-8A49-B507-17C168514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5589240"/>
                <a:ext cx="5624232" cy="631711"/>
              </a:xfrm>
              <a:prstGeom prst="rect">
                <a:avLst/>
              </a:prstGeom>
              <a:blipFill>
                <a:blip r:embed="rId16"/>
                <a:stretch>
                  <a:fillRect t="-176000" b="-26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361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9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词向量的提出者</a:t>
            </a:r>
            <a:endParaRPr kumimoji="1" lang="zh-CN" altLang="en-US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02F0A75C-E2FD-8A45-B46E-C28C0CEDDA9D}"/>
              </a:ext>
            </a:extLst>
          </p:cNvPr>
          <p:cNvSpPr txBox="1"/>
          <p:nvPr/>
        </p:nvSpPr>
        <p:spPr>
          <a:xfrm>
            <a:off x="-782959" y="2496465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CN" altLang="en-US" sz="20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12D3E5-1681-1447-8663-C91F35C736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845518"/>
            <a:ext cx="4963809" cy="2794898"/>
          </a:xfrm>
          <a:prstGeom prst="rect">
            <a:avLst/>
          </a:prstGeom>
        </p:spPr>
      </p:pic>
      <p:pic>
        <p:nvPicPr>
          <p:cNvPr id="8194" name="Picture 2" descr="Tomas Mikolov">
            <a:extLst>
              <a:ext uri="{FF2B5EF4-FFF2-40B4-BE49-F238E27FC236}">
                <a16:creationId xmlns:a16="http://schemas.microsoft.com/office/drawing/2014/main" id="{6DEA9258-C448-B644-AC41-6ED28DE56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2162117"/>
            <a:ext cx="16256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文本框 97">
            <a:extLst>
              <a:ext uri="{FF2B5EF4-FFF2-40B4-BE49-F238E27FC236}">
                <a16:creationId xmlns:a16="http://schemas.microsoft.com/office/drawing/2014/main" id="{030BF188-78DA-BA40-B24A-93C5C8E57444}"/>
              </a:ext>
            </a:extLst>
          </p:cNvPr>
          <p:cNvSpPr txBox="1"/>
          <p:nvPr/>
        </p:nvSpPr>
        <p:spPr>
          <a:xfrm>
            <a:off x="6300192" y="4005064"/>
            <a:ext cx="195700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0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Tomas </a:t>
            </a:r>
            <a:r>
              <a:rPr lang="en-US" altLang="zh-CN" sz="2000" b="1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Mikolov</a:t>
            </a:r>
            <a:endParaRPr lang="en-US" altLang="zh-CN" sz="2000" b="1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altLang="zh-CN" dirty="0"/>
            </a:b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AFF76A9-2600-1842-9F13-BE264CF801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3655337"/>
            <a:ext cx="4464496" cy="253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456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06985721-07FA-C84C-8A9D-CFB3E61FA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219200"/>
            <a:ext cx="8001000" cy="4876800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词的表示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单热点词向量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分布式词向量</a:t>
            </a:r>
          </a:p>
          <a:p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两个经典的词向量模型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CBOW</a:t>
            </a:r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模型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Skip-gram</a:t>
            </a:r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模型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词向量的性质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动态词向量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7982E6-072F-F842-ADE6-7AC99A06E7BD}"/>
              </a:ext>
            </a:extLst>
          </p:cNvPr>
          <p:cNvSpPr/>
          <p:nvPr/>
        </p:nvSpPr>
        <p:spPr bwMode="auto">
          <a:xfrm>
            <a:off x="323528" y="1187779"/>
            <a:ext cx="4536504" cy="2817285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A8C05EA-19B3-6843-A342-98792409F5A1}"/>
              </a:ext>
            </a:extLst>
          </p:cNvPr>
          <p:cNvSpPr/>
          <p:nvPr/>
        </p:nvSpPr>
        <p:spPr bwMode="auto">
          <a:xfrm>
            <a:off x="533400" y="4437113"/>
            <a:ext cx="4536504" cy="720080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21722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聚类和平移特性</a:t>
            </a:r>
            <a:endParaRPr kumimoji="1" lang="zh-CN" alt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936A06A-39FF-0F43-B3E6-7F659B709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5" y="1628800"/>
            <a:ext cx="91440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48C8216-F90A-2B44-833D-13FCCD273538}"/>
                  </a:ext>
                </a:extLst>
              </p:cNvPr>
              <p:cNvSpPr txBox="1"/>
              <p:nvPr/>
            </p:nvSpPr>
            <p:spPr>
              <a:xfrm>
                <a:off x="1955931" y="5029145"/>
                <a:ext cx="5873787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𝐮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queen</m:t>
                        </m:r>
                      </m:e>
                    </m:d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kumimoji="1"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woman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𝐮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king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CN" sz="2000" dirty="0"/>
                      <m:t> 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man</m:t>
                        </m:r>
                      </m:e>
                    </m:d>
                  </m:oMath>
                </a14:m>
                <a:endParaRPr kumimoji="1" lang="en-US" altLang="zh-CN" sz="20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𝐮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France</m:t>
                        </m:r>
                      </m:e>
                    </m:d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kumimoji="1"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Paris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𝐮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England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CN" sz="2000" dirty="0"/>
                      <m:t> 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</a:rPr>
                      <m:t>London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sz="2000" dirty="0"/>
              </a:p>
              <a:p>
                <a:pPr algn="ctr"/>
                <a:r>
                  <a:rPr lang="en-US" altLang="zh-CN" sz="2000" dirty="0"/>
                  <a:t>...</a:t>
                </a:r>
                <a:endParaRPr kumimoji="1" lang="en-US" altLang="zh-CN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48C8216-F90A-2B44-833D-13FCCD273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931" y="5029145"/>
                <a:ext cx="5873787" cy="1015663"/>
              </a:xfrm>
              <a:prstGeom prst="rect">
                <a:avLst/>
              </a:prstGeom>
              <a:blipFill>
                <a:blip r:embed="rId3"/>
                <a:stretch>
                  <a:fillRect t="-1235" b="-86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0164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473412-BF3C-E642-9A42-DBE41617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06985721-07FA-C84C-8A9D-CFB3E61FA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219200"/>
            <a:ext cx="8001000" cy="4876800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词的表示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单热点词向量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分布式词向量</a:t>
            </a:r>
          </a:p>
          <a:p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两个经典的词向量模型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CBOW</a:t>
            </a:r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模型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Skip-gram</a:t>
            </a:r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模型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词向量的性质</a:t>
            </a:r>
            <a:endParaRPr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动态词向量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7982E6-072F-F842-ADE6-7AC99A06E7BD}"/>
              </a:ext>
            </a:extLst>
          </p:cNvPr>
          <p:cNvSpPr/>
          <p:nvPr/>
        </p:nvSpPr>
        <p:spPr bwMode="auto">
          <a:xfrm>
            <a:off x="323528" y="1187779"/>
            <a:ext cx="4536504" cy="3249334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40222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2919C30-48C1-BD42-9797-5DA9EC10C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12776"/>
            <a:ext cx="5838800" cy="1057672"/>
          </a:xfrm>
        </p:spPr>
        <p:txBody>
          <a:bodyPr/>
          <a:lstStyle/>
          <a:p>
            <a:r>
              <a:rPr lang="zh-CN" altLang="en-US" sz="2400" b="0" dirty="0"/>
              <a:t>他手里拿了一个</a:t>
            </a:r>
            <a:r>
              <a:rPr lang="zh-CN" altLang="en-US" sz="2400" dirty="0">
                <a:solidFill>
                  <a:srgbClr val="FF0000"/>
                </a:solidFill>
              </a:rPr>
              <a:t>苹果</a:t>
            </a:r>
            <a:r>
              <a:rPr lang="zh-CN" altLang="en-US" sz="2400" b="0" dirty="0"/>
              <a:t>正在吃</a:t>
            </a:r>
            <a:endParaRPr lang="en-US" altLang="zh-CN" sz="2400" b="0" dirty="0"/>
          </a:p>
          <a:p>
            <a:r>
              <a:rPr kumimoji="1" lang="zh-CN" altLang="en-US" sz="2400" b="0" dirty="0"/>
              <a:t>他手里拿了一个</a:t>
            </a:r>
            <a:r>
              <a:rPr kumimoji="1" lang="zh-CN" altLang="en-US" sz="2400" dirty="0">
                <a:solidFill>
                  <a:srgbClr val="FF0000"/>
                </a:solidFill>
              </a:rPr>
              <a:t>苹果</a:t>
            </a:r>
            <a:r>
              <a:rPr kumimoji="1" lang="zh-CN" altLang="en-US" sz="2400" b="0" dirty="0"/>
              <a:t>然后插上了充电器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23CEE62-3EB8-B845-9E4F-268073C30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动态词向量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9308F4C-3E63-F442-8CF9-0AED7DC876EB}"/>
                  </a:ext>
                </a:extLst>
              </p:cNvPr>
              <p:cNvSpPr txBox="1"/>
              <p:nvPr/>
            </p:nvSpPr>
            <p:spPr>
              <a:xfrm>
                <a:off x="2195736" y="2859877"/>
                <a:ext cx="12766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苹果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9308F4C-3E63-F442-8CF9-0AED7DC87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2859877"/>
                <a:ext cx="1276632" cy="369332"/>
              </a:xfrm>
              <a:prstGeom prst="rect">
                <a:avLst/>
              </a:prstGeom>
              <a:blipFill>
                <a:blip r:embed="rId2"/>
                <a:stretch>
                  <a:fillRect l="-1961" t="-10000" r="-6863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2AEACC8-E08A-DA47-B72A-CDC084B96D25}"/>
                  </a:ext>
                </a:extLst>
              </p:cNvPr>
              <p:cNvSpPr txBox="1"/>
              <p:nvPr/>
            </p:nvSpPr>
            <p:spPr>
              <a:xfrm>
                <a:off x="3779910" y="2859877"/>
                <a:ext cx="12871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苹果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2AEACC8-E08A-DA47-B72A-CDC084B96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0" y="2859877"/>
                <a:ext cx="1287147" cy="369332"/>
              </a:xfrm>
              <a:prstGeom prst="rect">
                <a:avLst/>
              </a:prstGeom>
              <a:blipFill>
                <a:blip r:embed="rId3"/>
                <a:stretch>
                  <a:fillRect l="-1961" t="-10000" r="-7843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5A98D08-2ED3-3842-82C3-89F84F66062C}"/>
              </a:ext>
            </a:extLst>
          </p:cNvPr>
          <p:cNvSpPr txBox="1"/>
          <p:nvPr/>
        </p:nvSpPr>
        <p:spPr>
          <a:xfrm>
            <a:off x="5374599" y="2767544"/>
            <a:ext cx="439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...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AB2151-018C-664E-953D-D8A0B188032A}"/>
              </a:ext>
            </a:extLst>
          </p:cNvPr>
          <p:cNvSpPr txBox="1"/>
          <p:nvPr/>
        </p:nvSpPr>
        <p:spPr>
          <a:xfrm>
            <a:off x="1547664" y="2677925"/>
            <a:ext cx="4752528" cy="75107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4AD26A0-8EDF-C74B-92C8-C8F04024D1F6}"/>
              </a:ext>
            </a:extLst>
          </p:cNvPr>
          <p:cNvSpPr txBox="1"/>
          <p:nvPr/>
        </p:nvSpPr>
        <p:spPr>
          <a:xfrm>
            <a:off x="755576" y="3717032"/>
            <a:ext cx="7417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没法提前知道每个词具体不同意思的数量</a:t>
            </a:r>
            <a:endParaRPr kumimoji="1" lang="en-US" altLang="zh-CN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没法提前知道当前句子里的词对应的意思是哪一个</a:t>
            </a:r>
            <a:endParaRPr kumimoji="1" lang="zh-CN" altLang="en-US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CBA4F6C-D1F5-8144-9D30-AE45AD836292}"/>
              </a:ext>
            </a:extLst>
          </p:cNvPr>
          <p:cNvGrpSpPr/>
          <p:nvPr/>
        </p:nvGrpSpPr>
        <p:grpSpPr>
          <a:xfrm>
            <a:off x="3563888" y="5157192"/>
            <a:ext cx="5112568" cy="1132118"/>
            <a:chOff x="4427984" y="5157192"/>
            <a:chExt cx="4175871" cy="1132118"/>
          </a:xfrm>
        </p:grpSpPr>
        <p:sp>
          <p:nvSpPr>
            <p:cNvPr id="9" name="思想气泡: 云 4">
              <a:extLst>
                <a:ext uri="{FF2B5EF4-FFF2-40B4-BE49-F238E27FC236}">
                  <a16:creationId xmlns:a16="http://schemas.microsoft.com/office/drawing/2014/main" id="{1333D2BF-E1D4-8D48-9FF3-A088B0522155}"/>
                </a:ext>
              </a:extLst>
            </p:cNvPr>
            <p:cNvSpPr/>
            <p:nvPr/>
          </p:nvSpPr>
          <p:spPr bwMode="auto">
            <a:xfrm>
              <a:off x="4427984" y="5157192"/>
              <a:ext cx="3711488" cy="1132118"/>
            </a:xfrm>
            <a:prstGeom prst="cloudCallout">
              <a:avLst>
                <a:gd name="adj1" fmla="val -68318"/>
                <a:gd name="adj2" fmla="val -72115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31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C808DD1-9038-DA40-83EA-9E3F7B323AF2}"/>
                </a:ext>
              </a:extLst>
            </p:cNvPr>
            <p:cNvSpPr txBox="1"/>
            <p:nvPr/>
          </p:nvSpPr>
          <p:spPr>
            <a:xfrm>
              <a:off x="4823653" y="5415607"/>
              <a:ext cx="37802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4.1</a:t>
              </a:r>
              <a:r>
                <a:rPr lang="zh-CN" altLang="en-US" b="1" dirty="0">
                  <a:solidFill>
                    <a:srgbClr val="FF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动态词向量</a:t>
              </a:r>
              <a:r>
                <a:rPr lang="en-US" altLang="zh-CN" b="1" dirty="0">
                  <a:solidFill>
                    <a:srgbClr val="FF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/</a:t>
              </a:r>
              <a:r>
                <a:rPr lang="zh-CN" altLang="en-US" b="1" dirty="0">
                  <a:solidFill>
                    <a:srgbClr val="FF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预训练模型</a:t>
              </a:r>
              <a:endParaRPr kumimoji="1" lang="zh-CN" altLang="en-US" b="1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621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/>
    </p:bldLst>
  </p:timing>
</p:sld>
</file>

<file path=ppt/theme/theme1.xml><?xml version="1.0" encoding="utf-8"?>
<a:theme xmlns:a="http://schemas.openxmlformats.org/drawingml/2006/main" name="2_標準デザイン">
  <a:themeElements>
    <a:clrScheme name="2_標準デザイン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標準デザイン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28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28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50" charset="-128"/>
          </a:defRPr>
        </a:defPPr>
      </a:lstStyle>
    </a:lnDef>
  </a:objectDefaults>
  <a:extraClrSchemeLst>
    <a:extraClrScheme>
      <a:clrScheme name="2_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LP-LectureTemplate" id="{4A523FD9-46DE-A34C-83F3-4278118170E0}" vid="{491A69D8-82D5-F24E-A589-D5BAF2EC1AD6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2_標準デザイン</Template>
  <TotalTime>70109</TotalTime>
  <Words>1753</Words>
  <Application>Microsoft Office PowerPoint</Application>
  <PresentationFormat>信纸(8.5x11 英寸)</PresentationFormat>
  <Paragraphs>672</Paragraphs>
  <Slides>29</Slides>
  <Notes>14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0" baseType="lpstr">
      <vt:lpstr>2_標準デザイン</vt:lpstr>
      <vt:lpstr>3.1 词向量</vt:lpstr>
      <vt:lpstr>目录</vt:lpstr>
      <vt:lpstr>目录</vt:lpstr>
      <vt:lpstr>词的不同表示方式</vt:lpstr>
      <vt:lpstr>词的向量表示方式</vt:lpstr>
      <vt:lpstr>词的向量表示方式</vt:lpstr>
      <vt:lpstr>目录</vt:lpstr>
      <vt:lpstr>词向量的</vt:lpstr>
      <vt:lpstr>词向量的</vt:lpstr>
      <vt:lpstr>词向量的</vt:lpstr>
      <vt:lpstr>词向量的</vt:lpstr>
      <vt:lpstr>CBOW模型：考虑只有一个上文词的特殊情况</vt:lpstr>
      <vt:lpstr>CBOW模型：考虑只有一个上文词的特殊情况</vt:lpstr>
      <vt:lpstr>CBOW模型：考虑只有一个上文词的特殊情况</vt:lpstr>
      <vt:lpstr>CBOW模型：考虑只有一个上文词的特殊情况</vt:lpstr>
      <vt:lpstr>CBOW模型：考虑只有一个上文词的特殊情况</vt:lpstr>
      <vt:lpstr>CBOW模型：考虑只有一个上文词的特殊情况</vt:lpstr>
      <vt:lpstr>CBOW模型：考虑只有一个上文词的特殊情况</vt:lpstr>
      <vt:lpstr>CBOW模型：考虑只有一个上文词的特殊情况</vt:lpstr>
      <vt:lpstr>CBOW模型：考虑更多的上下文</vt:lpstr>
      <vt:lpstr>CBOW模型：考虑更多的上下文</vt:lpstr>
      <vt:lpstr>CBOW模型：考虑更多的上下文</vt:lpstr>
      <vt:lpstr>词向量的</vt:lpstr>
      <vt:lpstr>Skip-gram模型</vt:lpstr>
      <vt:lpstr>词向量的提出者</vt:lpstr>
      <vt:lpstr>目录</vt:lpstr>
      <vt:lpstr>聚类和平移特性</vt:lpstr>
      <vt:lpstr>目录</vt:lpstr>
      <vt:lpstr>动态词向量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2.1 语言学基础</dc:title>
  <dc:creator>Wang Rui</dc:creator>
  <cp:lastModifiedBy>韩森宇</cp:lastModifiedBy>
  <cp:revision>478</cp:revision>
  <cp:lastPrinted>2021-11-02T03:48:17Z</cp:lastPrinted>
  <dcterms:created xsi:type="dcterms:W3CDTF">2021-08-20T07:27:12Z</dcterms:created>
  <dcterms:modified xsi:type="dcterms:W3CDTF">2025-10-20T16:16:01Z</dcterms:modified>
</cp:coreProperties>
</file>